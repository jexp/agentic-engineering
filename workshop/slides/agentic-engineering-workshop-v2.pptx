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17" r:id="rId4"/>
  </p:sldMasterIdLst>
  <p:notesMasterIdLst>
    <p:notesMasterId r:id="rId5"/>
  </p:notesMasterIdLst>
  <p:sldIdLst>
    <p:sldId id="290" r:id="rId64"/>
    <p:sldId id="291" r:id="rId65"/>
    <p:sldId id="292" r:id="rId66"/>
    <p:sldId id="293" r:id="rId67"/>
    <p:sldId id="294" r:id="rId68"/>
    <p:sldId id="295" r:id="rId69"/>
    <p:sldId id="296" r:id="rId70"/>
    <p:sldId id="297" r:id="rId71"/>
    <p:sldId id="298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12" r:id="rId86"/>
    <p:sldId id="313" r:id="rId87"/>
    <p:sldId id="314" r:id="rId88"/>
    <p:sldId id="315" r:id="rId89"/>
    <p:sldId id="316" r:id="rId90"/>
    <p:sldId id="317" r:id="rId91"/>
    <p:sldId id="318" r:id="rId92"/>
    <p:sldId id="319" r:id="rId93"/>
    <p:sldId id="320" r:id="rId94"/>
    <p:sldId id="321" r:id="rId95"/>
    <p:sldId id="322" r:id="rId96"/>
    <p:sldId id="323" r:id="rId97"/>
    <p:sldId id="324" r:id="rId98"/>
    <p:sldId id="325" r:id="rId99"/>
    <p:sldId id="326" r:id="rId100"/>
    <p:sldId id="327" r:id="rId101"/>
    <p:sldId id="328" r:id="rId102"/>
    <p:sldId id="329" r:id="rId103"/>
    <p:sldId id="330" r:id="rId104"/>
    <p:sldId id="331" r:id="rId105"/>
    <p:sldId id="332" r:id="rId106"/>
    <p:sldId id="333" r:id="rId107"/>
    <p:sldId id="334" r:id="rId108"/>
    <p:sldId id="335" r:id="rId109"/>
    <p:sldId id="336" r:id="rId110"/>
    <p:sldId id="337" r:id="rId111"/>
    <p:sldId id="338" r:id="rId112"/>
    <p:sldId id="339" r:id="rId113"/>
    <p:sldId id="340" r:id="rId114"/>
    <p:sldId id="341" r:id="rId115"/>
    <p:sldId id="342" r:id="rId116"/>
    <p:sldId id="343" r:id="rId117"/>
    <p:sldId id="344" r:id="rId118"/>
    <p:sldId id="345" r:id="rId119"/>
    <p:sldId id="346" r:id="rId120"/>
    <p:sldId id="347" r:id="rId121"/>
    <p:sldId id="348" r:id="rId122"/>
    <p:sldId id="349" r:id="rId123"/>
    <p:sldId id="350" r:id="rId124"/>
  </p:sldIdLst>
  <p:sldSz cy="5143500" cx="9144000"/>
  <p:notesSz cx="6858000" cy="9144000"/>
  <p:embeddedFontLst>
    <p:embeddedFont>
      <p:font typeface="Public Sans Thin"/>
      <p:regular r:id="rId39"/>
      <p:bold r:id="rId40"/>
      <p:italic r:id="rId41"/>
      <p:boldItalic r:id="rId42"/>
    </p:embeddedFont>
    <p:embeddedFont>
      <p:font typeface="Public Sans Medium"/>
      <p:regular r:id="rId43"/>
      <p:bold r:id="rId44"/>
      <p:italic r:id="rId45"/>
      <p:boldItalic r:id="rId46"/>
    </p:embeddedFont>
    <p:embeddedFont>
      <p:font typeface="Public Sans"/>
      <p:regular r:id="rId47"/>
      <p:bold r:id="rId48"/>
      <p:italic r:id="rId49"/>
      <p:boldItalic r:id="rId50"/>
    </p:embeddedFont>
    <p:embeddedFont>
      <p:font typeface="Syne"/>
      <p:regular r:id="rId51"/>
      <p:bold r:id="rId52"/>
    </p:embeddedFont>
    <p:embeddedFont>
      <p:font typeface="Syne Medium"/>
      <p:regular r:id="rId53"/>
      <p:bold r:id="rId54"/>
    </p:embeddedFont>
    <p:embeddedFont>
      <p:font typeface="Public Sans Light"/>
      <p:regular r:id="rId55"/>
      <p:bold r:id="rId56"/>
      <p:italic r:id="rId57"/>
      <p:boldItalic r:id="rId58"/>
    </p:embeddedFont>
    <p:embeddedFont>
      <p:font typeface="Public Sans SemiBold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506F46-EB4B-47DA-A94A-21153ED68885}">
  <a:tblStyle styleId="{D1506F46-EB4B-47DA-A94A-21153ED688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9" Type="http://schemas.openxmlformats.org/officeDocument/2006/relationships/font" Target="fonts/PublicSansThin-regular.fntdata"/><Relationship Id="rId40" Type="http://schemas.openxmlformats.org/officeDocument/2006/relationships/font" Target="fonts/PublicSansThin-bold.fntdata"/><Relationship Id="rId41" Type="http://schemas.openxmlformats.org/officeDocument/2006/relationships/font" Target="fonts/PublicSansThin-italic.fntdata"/><Relationship Id="rId42" Type="http://schemas.openxmlformats.org/officeDocument/2006/relationships/font" Target="fonts/PublicSansThin-boldItalic.fntdata"/><Relationship Id="rId43" Type="http://schemas.openxmlformats.org/officeDocument/2006/relationships/font" Target="fonts/PublicSansMedium-regular.fntdata"/><Relationship Id="rId44" Type="http://schemas.openxmlformats.org/officeDocument/2006/relationships/font" Target="fonts/PublicSansMedium-bold.fntdata"/><Relationship Id="rId45" Type="http://schemas.openxmlformats.org/officeDocument/2006/relationships/font" Target="fonts/PublicSansMedium-italic.fntdata"/><Relationship Id="rId46" Type="http://schemas.openxmlformats.org/officeDocument/2006/relationships/font" Target="fonts/PublicSansMedium-boldItalic.fntdata"/><Relationship Id="rId47" Type="http://schemas.openxmlformats.org/officeDocument/2006/relationships/font" Target="fonts/PublicSans-regular.fntdata"/><Relationship Id="rId48" Type="http://schemas.openxmlformats.org/officeDocument/2006/relationships/font" Target="fonts/PublicSans-bold.fntdata"/><Relationship Id="rId49" Type="http://schemas.openxmlformats.org/officeDocument/2006/relationships/font" Target="fonts/PublicSans-italic.fntdata"/><Relationship Id="rId50" Type="http://schemas.openxmlformats.org/officeDocument/2006/relationships/font" Target="fonts/PublicSans-boldItalic.fntdata"/><Relationship Id="rId51" Type="http://schemas.openxmlformats.org/officeDocument/2006/relationships/font" Target="fonts/Syne-regular.fntdata"/><Relationship Id="rId52" Type="http://schemas.openxmlformats.org/officeDocument/2006/relationships/font" Target="fonts/Syne-bold.fntdata"/><Relationship Id="rId53" Type="http://schemas.openxmlformats.org/officeDocument/2006/relationships/font" Target="fonts/SyneMedium-regular.fntdata"/><Relationship Id="rId54" Type="http://schemas.openxmlformats.org/officeDocument/2006/relationships/font" Target="fonts/SyneMedium-bold.fntdata"/><Relationship Id="rId55" Type="http://schemas.openxmlformats.org/officeDocument/2006/relationships/font" Target="fonts/PublicSansLight-regular.fntdata"/><Relationship Id="rId56" Type="http://schemas.openxmlformats.org/officeDocument/2006/relationships/font" Target="fonts/PublicSansLight-bold.fntdata"/><Relationship Id="rId57" Type="http://schemas.openxmlformats.org/officeDocument/2006/relationships/font" Target="fonts/PublicSansLight-italic.fntdata"/><Relationship Id="rId58" Type="http://schemas.openxmlformats.org/officeDocument/2006/relationships/font" Target="fonts/PublicSansLight-boldItalic.fntdata"/><Relationship Id="rId59" Type="http://schemas.openxmlformats.org/officeDocument/2006/relationships/font" Target="fonts/PublicSansSemiBold-regular.fntdata"/><Relationship Id="rId60" Type="http://schemas.openxmlformats.org/officeDocument/2006/relationships/font" Target="fonts/PublicSansSemiBold-bold.fntdata"/><Relationship Id="rId61" Type="http://schemas.openxmlformats.org/officeDocument/2006/relationships/font" Target="fonts/PublicSansSemiBold-italic.fntdata"/><Relationship Id="rId62" Type="http://schemas.openxmlformats.org/officeDocument/2006/relationships/font" Target="fonts/PublicSansSemiBold-boldItalic.fntdata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37.xml"/><Relationship Id="rId67" Type="http://schemas.openxmlformats.org/officeDocument/2006/relationships/slide" Target="slides/slide38.xml"/><Relationship Id="rId68" Type="http://schemas.openxmlformats.org/officeDocument/2006/relationships/slide" Target="slides/slide39.xml"/><Relationship Id="rId69" Type="http://schemas.openxmlformats.org/officeDocument/2006/relationships/slide" Target="slides/slide40.xml"/><Relationship Id="rId70" Type="http://schemas.openxmlformats.org/officeDocument/2006/relationships/slide" Target="slides/slide41.xml"/><Relationship Id="rId71" Type="http://schemas.openxmlformats.org/officeDocument/2006/relationships/slide" Target="slides/slide42.xml"/><Relationship Id="rId72" Type="http://schemas.openxmlformats.org/officeDocument/2006/relationships/slide" Target="slides/slide43.xml"/><Relationship Id="rId73" Type="http://schemas.openxmlformats.org/officeDocument/2006/relationships/slide" Target="slides/slide44.xml"/><Relationship Id="rId74" Type="http://schemas.openxmlformats.org/officeDocument/2006/relationships/slide" Target="slides/slide45.xml"/><Relationship Id="rId75" Type="http://schemas.openxmlformats.org/officeDocument/2006/relationships/slide" Target="slides/slide46.xml"/><Relationship Id="rId76" Type="http://schemas.openxmlformats.org/officeDocument/2006/relationships/slide" Target="slides/slide47.xml"/><Relationship Id="rId77" Type="http://schemas.openxmlformats.org/officeDocument/2006/relationships/slide" Target="slides/slide48.xml"/><Relationship Id="rId78" Type="http://schemas.openxmlformats.org/officeDocument/2006/relationships/slide" Target="slides/slide49.xml"/><Relationship Id="rId79" Type="http://schemas.openxmlformats.org/officeDocument/2006/relationships/slide" Target="slides/slide50.xml"/><Relationship Id="rId80" Type="http://schemas.openxmlformats.org/officeDocument/2006/relationships/slide" Target="slides/slide51.xml"/><Relationship Id="rId81" Type="http://schemas.openxmlformats.org/officeDocument/2006/relationships/slide" Target="slides/slide52.xml"/><Relationship Id="rId82" Type="http://schemas.openxmlformats.org/officeDocument/2006/relationships/slide" Target="slides/slide53.xml"/><Relationship Id="rId83" Type="http://schemas.openxmlformats.org/officeDocument/2006/relationships/slide" Target="slides/slide54.xml"/><Relationship Id="rId84" Type="http://schemas.openxmlformats.org/officeDocument/2006/relationships/slide" Target="slides/slide55.xml"/><Relationship Id="rId85" Type="http://schemas.openxmlformats.org/officeDocument/2006/relationships/slide" Target="slides/slide56.xml"/><Relationship Id="rId86" Type="http://schemas.openxmlformats.org/officeDocument/2006/relationships/slide" Target="slides/slide57.xml"/><Relationship Id="rId87" Type="http://schemas.openxmlformats.org/officeDocument/2006/relationships/slide" Target="slides/slide58.xml"/><Relationship Id="rId88" Type="http://schemas.openxmlformats.org/officeDocument/2006/relationships/slide" Target="slides/slide59.xml"/><Relationship Id="rId89" Type="http://schemas.openxmlformats.org/officeDocument/2006/relationships/slide" Target="slides/slide60.xml"/><Relationship Id="rId90" Type="http://schemas.openxmlformats.org/officeDocument/2006/relationships/slide" Target="slides/slide61.xml"/><Relationship Id="rId91" Type="http://schemas.openxmlformats.org/officeDocument/2006/relationships/slide" Target="slides/slide62.xml"/><Relationship Id="rId92" Type="http://schemas.openxmlformats.org/officeDocument/2006/relationships/slide" Target="slides/slide63.xml"/><Relationship Id="rId93" Type="http://schemas.openxmlformats.org/officeDocument/2006/relationships/slide" Target="slides/slide64.xml"/><Relationship Id="rId94" Type="http://schemas.openxmlformats.org/officeDocument/2006/relationships/slide" Target="slides/slide65.xml"/><Relationship Id="rId95" Type="http://schemas.openxmlformats.org/officeDocument/2006/relationships/slide" Target="slides/slide66.xml"/><Relationship Id="rId96" Type="http://schemas.openxmlformats.org/officeDocument/2006/relationships/slide" Target="slides/slide67.xml"/><Relationship Id="rId97" Type="http://schemas.openxmlformats.org/officeDocument/2006/relationships/slide" Target="slides/slide68.xml"/><Relationship Id="rId98" Type="http://schemas.openxmlformats.org/officeDocument/2006/relationships/slide" Target="slides/slide69.xml"/><Relationship Id="rId99" Type="http://schemas.openxmlformats.org/officeDocument/2006/relationships/slide" Target="slides/slide70.xml"/><Relationship Id="rId100" Type="http://schemas.openxmlformats.org/officeDocument/2006/relationships/slide" Target="slides/slide71.xml"/><Relationship Id="rId101" Type="http://schemas.openxmlformats.org/officeDocument/2006/relationships/slide" Target="slides/slide72.xml"/><Relationship Id="rId102" Type="http://schemas.openxmlformats.org/officeDocument/2006/relationships/slide" Target="slides/slide73.xml"/><Relationship Id="rId103" Type="http://schemas.openxmlformats.org/officeDocument/2006/relationships/slide" Target="slides/slide74.xml"/><Relationship Id="rId104" Type="http://schemas.openxmlformats.org/officeDocument/2006/relationships/slide" Target="slides/slide75.xml"/><Relationship Id="rId105" Type="http://schemas.openxmlformats.org/officeDocument/2006/relationships/slide" Target="slides/slide76.xml"/><Relationship Id="rId106" Type="http://schemas.openxmlformats.org/officeDocument/2006/relationships/slide" Target="slides/slide77.xml"/><Relationship Id="rId107" Type="http://schemas.openxmlformats.org/officeDocument/2006/relationships/slide" Target="slides/slide78.xml"/><Relationship Id="rId108" Type="http://schemas.openxmlformats.org/officeDocument/2006/relationships/slide" Target="slides/slide79.xml"/><Relationship Id="rId109" Type="http://schemas.openxmlformats.org/officeDocument/2006/relationships/slide" Target="slides/slide80.xml"/><Relationship Id="rId110" Type="http://schemas.openxmlformats.org/officeDocument/2006/relationships/slide" Target="slides/slide81.xml"/><Relationship Id="rId111" Type="http://schemas.openxmlformats.org/officeDocument/2006/relationships/slide" Target="slides/slide82.xml"/><Relationship Id="rId112" Type="http://schemas.openxmlformats.org/officeDocument/2006/relationships/slide" Target="slides/slide83.xml"/><Relationship Id="rId113" Type="http://schemas.openxmlformats.org/officeDocument/2006/relationships/slide" Target="slides/slide84.xml"/><Relationship Id="rId114" Type="http://schemas.openxmlformats.org/officeDocument/2006/relationships/slide" Target="slides/slide85.xml"/><Relationship Id="rId115" Type="http://schemas.openxmlformats.org/officeDocument/2006/relationships/slide" Target="slides/slide86.xml"/><Relationship Id="rId116" Type="http://schemas.openxmlformats.org/officeDocument/2006/relationships/slide" Target="slides/slide87.xml"/><Relationship Id="rId117" Type="http://schemas.openxmlformats.org/officeDocument/2006/relationships/slide" Target="slides/slide88.xml"/><Relationship Id="rId118" Type="http://schemas.openxmlformats.org/officeDocument/2006/relationships/slide" Target="slides/slide89.xml"/><Relationship Id="rId119" Type="http://schemas.openxmlformats.org/officeDocument/2006/relationships/slide" Target="slides/slide90.xml"/><Relationship Id="rId120" Type="http://schemas.openxmlformats.org/officeDocument/2006/relationships/slide" Target="slides/slide91.xml"/><Relationship Id="rId121" Type="http://schemas.openxmlformats.org/officeDocument/2006/relationships/slide" Target="slides/slide92.xml"/><Relationship Id="rId122" Type="http://schemas.openxmlformats.org/officeDocument/2006/relationships/slide" Target="slides/slide93.xml"/><Relationship Id="rId123" Type="http://schemas.openxmlformats.org/officeDocument/2006/relationships/slide" Target="slides/slide94.xml"/><Relationship Id="rId124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— set the room.</a:t>
            </a:r>
          </a:p>
          <a:p/>
          <a:p>
            <a:r>
              <a:t>"Welcome. The goal today isn't to convince you AI will write all your code.</a:t>
            </a:r>
          </a:p>
          <a:p>
            <a:r>
              <a:t>It's to give you the same operating mental model and muscle memory I use,</a:t>
            </a:r>
          </a:p>
          <a:p>
            <a:r>
              <a:t>so you can decide for yourselves what's real and what's hype."</a:t>
            </a:r>
          </a:p>
          <a:p/>
          <a:p>
            <a:r>
              <a:t>Pause. Eye contact with two or three people. Some came in skeptical, some</a:t>
            </a:r>
          </a:p>
          <a:p>
            <a:r>
              <a:t>excited, some both. Hold space for that.</a:t>
            </a:r>
          </a:p>
          <a:p/>
          <a:p>
            <a:r>
              <a:t>Frame the day in one sentence: hands-on, then craft, then more hands-on,</a:t>
            </a:r>
          </a:p>
          <a:p>
            <a:r>
              <a:t>then the harder questions, then Q&amp;A. Interrupt me anytime.</a:t>
            </a:r>
          </a:p>
          <a:p/>
          <a:p>
            <a:r>
              <a:t>Transition: "Before any of that — let me read the room."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seconds total. Don't lecture; just see hands. Read each one out loud.</a:t>
            </a:r>
          </a:p>
          <a:p/>
          <a:p>
            <a:r>
              <a:t>Question 4 is the most important. Don't rush past it. If hands go up,</a:t>
            </a:r>
          </a:p>
          <a:p>
            <a:r>
              <a:t>mentally note one or two faces — name those experiences explicitly later.</a:t>
            </a:r>
          </a:p>
          <a:p/>
          <a:p>
            <a:r>
              <a:t>Skeptics in the room are the workshop's best signal.</a:t>
            </a:r>
          </a:p>
          <a:p/>
          <a:p>
            <a:r>
              <a:t>Transition: "Now — let me show you what we're actually talking about."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COLD-OPEN MOMENT — earn trust before any abstract argument.</a:t>
            </a:r>
          </a:p>
          <a:p/>
          <a:p>
            <a:r>
              <a:t>THE PROMPT (paste verbatim into the agent):</a:t>
            </a:r>
          </a:p>
          <a:p/>
          <a:p>
            <a:r>
              <a:t>Create a simple simple html tool "WikiLinks" (no react, ts, just base JS)</a:t>
            </a:r>
          </a:p>
          <a:p>
            <a:r>
              <a:t>for a wikipedia to graph viz conversion. Single input field for the</a:t>
            </a:r>
          </a:p>
          <a:p>
            <a:r>
              <a:t>wikipedia page URL (check valid wikipedia page link), just use d3.</a:t>
            </a:r>
          </a:p>
          <a:p>
            <a:r>
              <a:t>Pull the first 5 links of a wikipedia page to other wikipedia pages,</a:t>
            </a:r>
          </a:p>
          <a:p>
            <a:r>
              <a:t>follow them, render them as nodes, and pull the next first 5 links</a:t>
            </a:r>
          </a:p>
          <a:p>
            <a:r>
              <a:t>from those as well, to render as connections and target nodes (so at</a:t>
            </a:r>
          </a:p>
          <a:p>
            <a:r>
              <a:t>most 25 nodes in total visible). Clicking on a node sets this new</a:t>
            </a:r>
          </a:p>
          <a:p>
            <a:r>
              <a:t>page as center, and re-runs the fetch/render action for this page</a:t>
            </a:r>
          </a:p>
          <a:p>
            <a:r>
              <a:t>now, and fetches non-fetched pages. Just store the pages and target</a:t>
            </a:r>
          </a:p>
          <a:p>
            <a:r>
              <a:t>links in memory. Render page title on node, and keep page link to</a:t>
            </a:r>
          </a:p>
          <a:p>
            <a:r>
              <a:t>be used in the action. Light mode only.</a:t>
            </a:r>
          </a:p>
          <a:p/>
          <a:p>
            <a:r>
              <a:t>WHAT TO NARRATE WHILE IT BUILDS:</a:t>
            </a:r>
          </a:p>
          <a:p/>
          <a:p>
            <a:r>
              <a:t>- Specificity over cleverness. Six things this prompt nails:</a:t>
            </a:r>
          </a:p>
          <a:p>
            <a:r>
              <a:t>  tech stack (no React, no TS, base JS, d3), named tool, algorithm</a:t>
            </a:r>
          </a:p>
          <a:p>
            <a:r>
              <a:t>  bounds (5+5, max 25), edge case (URL validation), interaction model</a:t>
            </a:r>
          </a:p>
          <a:p>
            <a:r>
              <a:t>  (click recenters, lazy fetch), UX bounds (light mode only — no</a:t>
            </a:r>
          </a:p>
          <a:p>
            <a:r>
              <a:t>  "should I add dark mode" question).</a:t>
            </a:r>
          </a:p>
          <a:p/>
          <a:p>
            <a:r>
              <a:t>- Model-progression line they need to FEEL:</a:t>
            </a:r>
          </a:p>
          <a:p>
            <a:r>
              <a:t>  "Three years ago this prompt would have failed. 18 months ago partial.</a:t>
            </a:r>
          </a:p>
          <a:p>
            <a:r>
              <a:t>   Today it's first-try, ~90 seconds, no follow-ups."</a:t>
            </a:r>
          </a:p>
          <a:p/>
          <a:p>
            <a:r>
              <a:t>- If a snag hits (CORS, d3 version), narrate the fix as a small follow-up</a:t>
            </a:r>
          </a:p>
          <a:p>
            <a:r>
              <a:t>  — not a re-prompt. "This is what one fix looks like."</a:t>
            </a:r>
          </a:p>
          <a:p/>
          <a:p>
            <a:r>
              <a:t>- When it works, CLICK AROUND. Let the room watch the graph reshape.</a:t>
            </a:r>
          </a:p>
          <a:p/>
          <a:p>
            <a:r>
              <a:t>BRIDGE INTO NEXT SLIDE:</a:t>
            </a:r>
          </a:p>
          <a:p>
            <a:r>
              <a:t>"That's where we are in 2026. One prompt, ninety seconds, working tool.</a:t>
            </a:r>
          </a:p>
          <a:p>
            <a:r>
              <a:t> And that's the EASY half of this story. The hard half is what happens</a:t>
            </a:r>
          </a:p>
          <a:p>
            <a:r>
              <a:t> when you try to do that on production work — which is what the rest</a:t>
            </a:r>
          </a:p>
          <a:p>
            <a:r>
              <a:t> of the day is about."</a:t>
            </a:r>
          </a:p>
          <a:p/>
          <a:p>
            <a:r>
              <a:t>PRE-FLIGHT (do tonight): Run the prompt twice on a fresh CC session.</a:t>
            </a:r>
          </a:p>
          <a:p>
            <a:r>
              <a:t>Backup screenshots in case it fails on stage. Pre-position browser windows.</a:t>
            </a:r>
          </a:p>
          <a:p>
            <a:r>
              <a:t>Fallback: at 90s if going sideways, switch to backup and narrate.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stakes. ~2-3 minutes here.</a:t>
            </a:r>
          </a:p>
          <a:p/>
          <a:p>
            <a:r>
              <a:t>Walk the lineage on the left. Each tool required a mindset shift, and</a:t>
            </a:r>
          </a:p>
          <a:p>
            <a:r>
              <a:t>each one paid off massively for engineers who adopted it early.</a:t>
            </a:r>
          </a:p>
          <a:p>
            <a:r>
              <a:t>SWE agents are the same shape — just bigger.</a:t>
            </a:r>
          </a:p>
          <a:p/>
          <a:p>
            <a:r>
              <a:t>Three things genuinely new on the right are what makes this not just</a:t>
            </a:r>
          </a:p>
          <a:p>
            <a:r>
              <a:t>another IDE upgrade.</a:t>
            </a:r>
          </a:p>
          <a:p/>
          <a:p>
            <a:r>
              <a:t>WHY THIS ROOM SHOULD CARE: "the engineers who treat this seriously now</a:t>
            </a:r>
          </a:p>
          <a:p>
            <a:r>
              <a:t>will be the ones writing the playbooks the rest of the industry uses</a:t>
            </a:r>
          </a:p>
          <a:p>
            <a:r>
              <a:t>next year. Not FOMO — nobody else has the experience yet to do it well."</a:t>
            </a:r>
          </a:p>
          <a:p/>
          <a:p>
            <a:r>
              <a:t>Transition: "Cleanest articulation of the shift — from someone you</a:t>
            </a:r>
          </a:p>
          <a:p>
            <a:r>
              <a:t>probably already follow."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Simon Willison, "Here's how I use LLMs to help me write code", Mar 11 2025.</a:t>
            </a:r>
          </a:p>
          <a:p/>
          <a:p>
            <a:r>
              <a:t>Why this quote: it names the REAL shift. Not "10× more lines per hour"</a:t>
            </a:r>
          </a:p>
          <a:p>
            <a:r>
              <a:t>— the collapse of the cost-of-trying threshold. Projects that weren't</a:t>
            </a:r>
          </a:p>
          <a:p>
            <a:r>
              <a:t>worth starting are now worth starting.</a:t>
            </a:r>
          </a:p>
          <a:p/>
          <a:p>
            <a:r>
              <a:t>Two-year arc: Dec 2022 (Rust + ChatGPT), Mar 2023 (AI-enhanced ambitious),</a:t>
            </a:r>
          </a:p>
          <a:p>
            <a:r>
              <a:t>Mar 2025 (this quote). Not a hot take.</a:t>
            </a:r>
          </a:p>
          <a:p/>
          <a:p>
            <a:r>
              <a:t>Personal anecdote slot: pick one project of yours that fits — something</a:t>
            </a:r>
          </a:p>
          <a:p>
            <a:r>
              <a:t>you wouldn't have started 18 months ago. They just felt this in the</a:t>
            </a:r>
          </a:p>
          <a:p>
            <a:r>
              <a:t>WikiLinks demo.</a:t>
            </a:r>
          </a:p>
          <a:p/>
          <a:p>
            <a:r>
              <a:t>Transition: "But the SCALE of this shift is genuinely surprising. Numbers."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Don't read every number — pick three and let the rest speak.</a:t>
            </a:r>
          </a:p>
          <a:p/>
          <a:p>
            <a:r>
              <a:t>Headline: GitHub itself reports the platform is "starting to crack"</a:t>
            </a:r>
          </a:p>
          <a:p>
            <a:r>
              <a:t>under agent traffic. Servers built for human-scale can't handle</a:t>
            </a:r>
          </a:p>
          <a:p>
            <a:r>
              <a:t>agent-scale. April 2026 disclosures.</a:t>
            </a:r>
          </a:p>
          <a:p/>
          <a:p>
            <a:r>
              <a:t>The three to hit verbally:</a:t>
            </a:r>
          </a:p>
          <a:p>
            <a:r>
              <a:t>- "275 million commits per week — pace for 14 billion this year, up</a:t>
            </a:r>
          </a:p>
          <a:p>
            <a:r>
              <a:t>   from 1 billion in all of 2025. Fourteen times in one year."</a:t>
            </a:r>
          </a:p>
          <a:p>
            <a:r>
              <a:t>- "17 million-plus AI-agent PRs in a single month, up from 4M in</a:t>
            </a:r>
          </a:p>
          <a:p>
            <a:r>
              <a:t>   September 2025. Four-fold in six months."</a:t>
            </a:r>
          </a:p>
          <a:p>
            <a:r>
              <a:t>- "80% of new Neon databases — created by agents, often one per task,</a:t>
            </a:r>
          </a:p>
          <a:p>
            <a:r>
              <a:t>   per branch, per session."</a:t>
            </a:r>
          </a:p>
          <a:p/>
          <a:p>
            <a:r>
              <a:t>TypeScript line worth mentioning separately: August 2025, TS overtook</a:t>
            </a:r>
          </a:p>
          <a:p>
            <a:r>
              <a:t>Python AND JavaScript as #1 on GitHub. Biggest ranking shift in over</a:t>
            </a:r>
          </a:p>
          <a:p>
            <a:r>
              <a:t>a decade. Attributed to AI-assisted full-stack work.</a:t>
            </a:r>
          </a:p>
          <a:p/>
          <a:p>
            <a:r>
              <a:t>Takeaway: this is no longer a tooling wave — it's an INFRASTRUCTURE</a:t>
            </a:r>
          </a:p>
          <a:p>
            <a:r>
              <a:t>WAVE that tooling triggered.</a:t>
            </a:r>
          </a:p>
          <a:p/>
          <a:p>
            <a:r>
              <a:t>Transition: "How did we get from Copilot autocomplete to this in three</a:t>
            </a:r>
          </a:p>
          <a:p>
            <a:r>
              <a:t>years? Four phases."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Storytelling register — the spine of the talk.</a:t>
            </a:r>
          </a:p>
          <a:p>
            <a:r>
              <a:t>Four slides, one per phase, ~30s each. Stories around them fill the time.</a:t>
            </a:r>
          </a:p>
          <a:p/>
          <a:p>
            <a:r>
              <a:t>Time budget: ~6-8 minutes total across the four phases + the two</a:t>
            </a:r>
          </a:p>
          <a:p>
            <a:r>
              <a:t>Karpathy quotes that bracket 2025.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Copilot technical preview June 2021, GA June 2022.</a:t>
            </a:r>
          </a:p>
          <a:p/>
          <a:p>
            <a:r>
              <a:t>Mindset: smarter IntelliSense — engineer at every line, AI behind the wheel.</a:t>
            </a:r>
          </a:p>
          <a:p/>
          <a:p>
            <a:r>
              <a:t>What broke beyond the slide: copyright noise, subtle bugs the type</a:t>
            </a:r>
          </a:p>
          <a:p>
            <a:r>
              <a:t>checker didn't catch, the meme that "Copilot is the most useful tool</a:t>
            </a:r>
          </a:p>
          <a:p>
            <a:r>
              <a:t>I've adopted in a decade and the most likely to lie to me."</a:t>
            </a:r>
          </a:p>
          <a:p/>
          <a:p>
            <a:r>
              <a:t>Transition: "Then in February 2025, the vocabulary changed."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Trigger: Sonnet 3.5/3.7 strong enough to one-shot small apps. Cursor</a:t>
            </a:r>
          </a:p>
          <a:p>
            <a:r>
              <a:t>and Copilot Chat in the IDE. ChatGPT desktop with code execution.</a:t>
            </a:r>
          </a:p>
          <a:p/>
          <a:p>
            <a:r>
              <a:t>What broke: production. Anything needing maintenance, security, multi-user</a:t>
            </a:r>
          </a:p>
          <a:p>
            <a:r>
              <a:t>concurrency, compliance, integration with existing systems.</a:t>
            </a:r>
          </a:p>
          <a:p/>
          <a:p>
            <a:r>
              <a:t>Important nuance for THIS room: vibe coding is genuinely valuable — for</a:t>
            </a:r>
          </a:p>
          <a:p>
            <a:r>
              <a:t>prototypes, learning a new framework, the first 80% of a tool you'll</a:t>
            </a:r>
          </a:p>
          <a:p>
            <a:r>
              <a:t>throw away in a week. The mistake is treating it as an SDLC.</a:t>
            </a:r>
          </a:p>
          <a:p/>
          <a:p>
            <a:r>
              <a:t>Personal calibration: "I still vibe-code small things. I do not vibe-code</a:t>
            </a:r>
          </a:p>
          <a:p>
            <a:r>
              <a:t>production systems. The skill is knowing which is which."</a:t>
            </a:r>
          </a:p>
          <a:p/>
          <a:p>
            <a:r>
              <a:t>Transition: "And the moment that named the phase."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tweet. Within a week, "vibe coding" was on every dev podcast.</a:t>
            </a:r>
          </a:p>
          <a:p>
            <a:r>
              <a:t>Six months later it was on conference t-shirts.</a:t>
            </a:r>
          </a:p>
          <a:p/>
          <a:p>
            <a:r>
              <a:t>Two things to add:</a:t>
            </a:r>
          </a:p>
          <a:p>
            <a:r>
              <a:t>- Karpathy himself retired the term for serious work in early 2026.</a:t>
            </a:r>
          </a:p>
          <a:p>
            <a:r>
              <a:t>  When the inventor walks back the vocabulary, that tells you something.</a:t>
            </a:r>
          </a:p>
          <a:p>
            <a:r>
              <a:t>- Vibe coding is GENUINELY VALUABLE. Don't dismiss it. Just don't ship it.</a:t>
            </a:r>
          </a:p>
          <a:p/>
          <a:p>
            <a:r>
              <a:t>Transition: "Then six months after this tweet — the model gets a shell."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Trigger: models cross the threshold where multi-step tool use becomes</a:t>
            </a:r>
          </a:p>
          <a:p>
            <a:r>
              <a:t>reliable.</a:t>
            </a:r>
          </a:p>
          <a:p/>
          <a:p>
            <a:r>
              <a:t>The wave: Claude Code (Feb 2025 preview), OpenAI Codex (relaunch May 2025),</a:t>
            </a:r>
          </a:p>
          <a:p>
            <a:r>
              <a:t>Cursor agent mode, opencode, Aider, Cline, Roo.</a:t>
            </a:r>
          </a:p>
          <a:p/>
          <a:p>
            <a:r>
              <a:t>What changed: the model now has a filesystem, a shell, and a loop. It can</a:t>
            </a:r>
          </a:p>
          <a:p>
            <a:r>
              <a:t>read, edit, run, test, iterate without a human between every step.</a:t>
            </a:r>
          </a:p>
          <a:p/>
          <a:p>
            <a:r>
              <a:t>Mindset shift: from "AI helps me write code" to "AI does the work, I</a:t>
            </a:r>
          </a:p>
          <a:p>
            <a:r>
              <a:t>review and steer."</a:t>
            </a:r>
          </a:p>
          <a:p/>
          <a:p>
            <a:r>
              <a:t>What broke: context windows blew up; agents went off the rails on long</a:t>
            </a:r>
          </a:p>
          <a:p>
            <a:r>
              <a:t>tasks; silent test deletion; "ralphing" (re-running with reset) became</a:t>
            </a:r>
          </a:p>
          <a:p>
            <a:r>
              <a:t>standard practice. New craft was needed.</a:t>
            </a:r>
          </a:p>
          <a:p/>
          <a:p>
            <a:r>
              <a:t>Transition: "And in June 2025, Karpathy posted the bracketing tweet."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months after "vibe coding," Karpathy posted this — and it landed</a:t>
            </a:r>
          </a:p>
          <a:p>
            <a:r>
              <a:t>almost as widely.</a:t>
            </a:r>
          </a:p>
          <a:p/>
          <a:p>
            <a:r>
              <a:t>Two sides of the year, same person:</a:t>
            </a:r>
          </a:p>
          <a:p>
            <a:r>
              <a:t>- February: "forget the code."</a:t>
            </a:r>
          </a:p>
          <a:p>
            <a:r>
              <a:t>- June: "obsess over what's AROUND the code."</a:t>
            </a:r>
          </a:p>
          <a:p/>
          <a:p>
            <a:r>
              <a:t>Vibe coding is fine when you don't care what the model knows. Context</a:t>
            </a:r>
          </a:p>
          <a:p>
            <a:r>
              <a:t>engineering is what you need when you do.</a:t>
            </a:r>
          </a:p>
          <a:p/>
          <a:p>
            <a:r>
              <a:t>This is the bridge into Phase 4 — and into the rest of the workshop.</a:t>
            </a:r>
          </a:p>
          <a:p>
            <a:r>
              <a:t>AGENTS.md, plan mode, hooks, the per-task loop, the cost-of-tokens</a:t>
            </a:r>
          </a:p>
          <a:p>
            <a:r>
              <a:t>economics — all of it is *context engineering* applied to coding.</a:t>
            </a:r>
          </a:p>
          <a:p/>
          <a:p>
            <a:r>
              <a:t>Transition: "Which gets us to where we are right now — late 2025 into 2026."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Trigger: Sonnet 4.5 / Opus 4.5 (late 2025), Opus 4.6/4.7 (early 2026)</a:t>
            </a:r>
          </a:p>
          <a:p>
            <a:r>
              <a:t>— reasoning models that plan, self-correct, hold long arcs.</a:t>
            </a:r>
          </a:p>
          <a:p/>
          <a:p>
            <a:r>
              <a:t>What changed: agents are reliable enough that the practices around them</a:t>
            </a:r>
          </a:p>
          <a:p>
            <a:r>
              <a:t>start to matter again. Spec-driven, TDD, code review, AGENTS.md, hooks.</a:t>
            </a:r>
          </a:p>
          <a:p>
            <a:r>
              <a:t>The old practices weren't wrong — they were unreachable when each line</a:t>
            </a:r>
          </a:p>
          <a:p>
            <a:r>
              <a:t>cost you keystrokes. Now they're reachable AND necessary.</a:t>
            </a:r>
          </a:p>
          <a:p/>
          <a:p>
            <a:r>
              <a:t>The realization: good design was never for the machine. It was always</a:t>
            </a:r>
          </a:p>
          <a:p>
            <a:r>
              <a:t>for humans who had to read, maintain, extend. Now those humans include</a:t>
            </a:r>
          </a:p>
          <a:p>
            <a:r>
              <a:t>AI teammates that learned the craft from human-written code. Same</a:t>
            </a:r>
          </a:p>
          <a:p>
            <a:r>
              <a:t>practices serve both audiences.</a:t>
            </a:r>
          </a:p>
          <a:p/>
          <a:p>
            <a:r>
              <a:t>This is what the rest of the workshop is about. The deep dive is the</a:t>
            </a:r>
          </a:p>
          <a:p>
            <a:r>
              <a:t>toolkit. Exercise 2 is where you apply it on real work.</a:t>
            </a:r>
          </a:p>
          <a:p/>
          <a:p>
            <a:r>
              <a:t>Transition: "Quick aside — WHY is this happening to coding faster than</a:t>
            </a:r>
          </a:p>
          <a:p>
            <a:r>
              <a:t>to any other knowledge domain?"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minutes here.</a:t>
            </a:r>
          </a:p>
          <a:p/>
          <a:p>
            <a:r>
              <a:t>Two more reasons not on the slide if asked: clear goals (tests pass)</a:t>
            </a:r>
          </a:p>
          <a:p>
            <a:r>
              <a:t>most domains don't have; training data IS the artifact (code on GitHub</a:t>
            </a:r>
          </a:p>
          <a:p>
            <a:r>
              <a:t>is what the model produces).</a:t>
            </a:r>
          </a:p>
          <a:p/>
          <a:p>
            <a:r>
              <a:t>Bonus framing: TEST TIME &gt; TRAIN TIME. Task-time reasoning matters more</a:t>
            </a:r>
          </a:p>
          <a:p>
            <a:r>
              <a:t>than baked-in knowledge. That's why context engineering pays off.</a:t>
            </a:r>
          </a:p>
          <a:p/>
          <a:p>
            <a:r>
              <a:t>Transition: "If all of this is real, where does it leave us right now?"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PARAPHRASE — read it as Simon's framing rather than verbatim Simon.</a:t>
            </a:r>
          </a:p>
          <a:p>
            <a:r>
              <a:t>The slide uses "— after Simon Willison" to signal paraphrase.</a:t>
            </a:r>
          </a:p>
          <a:p/>
          <a:p>
            <a:r>
              <a:t>Verbatim substitute (same idea, primary-sourced):</a:t>
            </a:r>
          </a:p>
          <a:p>
            <a:r>
              <a:t>"Never assume that code generated by an LLM works until that code</a:t>
            </a:r>
          </a:p>
          <a:p>
            <a:r>
              <a:t> has been executed." — Agentic Manual Testing guide, Mar 2026.</a:t>
            </a:r>
          </a:p>
          <a:p/>
          <a:p>
            <a:r>
              <a:t>This is the BRIDGE sentence. Slow down here.</a:t>
            </a:r>
          </a:p>
          <a:p/>
          <a:p>
            <a:r>
              <a:t>If building is cheap, then VERIFICATION is the engineering.</a:t>
            </a:r>
          </a:p>
          <a:p>
            <a:r>
              <a:t>Everything we'll teach is verification infrastructure:</a:t>
            </a:r>
          </a:p>
          <a:p>
            <a:r>
              <a:t>- AGENTS.md = "what does correct mean here?"</a:t>
            </a:r>
          </a:p>
          <a:p>
            <a:r>
              <a:t>- The per-task loop = "verify after every step"</a:t>
            </a:r>
          </a:p>
          <a:p>
            <a:r>
              <a:t>- Hooks = "verify deterministically — don't trust prompts"</a:t>
            </a:r>
          </a:p>
          <a:p>
            <a:r>
              <a:t>- Tests = "verify when the agent says it's done"</a:t>
            </a:r>
          </a:p>
          <a:p>
            <a:r>
              <a:t>- Reviews = "verify before it ships"</a:t>
            </a:r>
          </a:p>
          <a:p/>
          <a:p>
            <a:r>
              <a:t>Transition: "Enough talking. Your turn."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agenda quickly:</a:t>
            </a:r>
          </a:p>
          <a:p>
            <a:r>
              <a:t>- Now: 30-min hands-on. Same shape as WikiLinks but YOUR idea.</a:t>
            </a:r>
          </a:p>
          <a:p>
            <a:r>
              <a:t>  Vibe coding done well — one strong prompt + small fixes.</a:t>
            </a:r>
          </a:p>
          <a:p>
            <a:r>
              <a:t>- Break.</a:t>
            </a:r>
          </a:p>
          <a:p>
            <a:r>
              <a:t>- 90 minutes of craft: harnesses, tools, cost, benchmarks, practices, my demos.</a:t>
            </a:r>
          </a:p>
          <a:p>
            <a:r>
              <a:t>- Break.</a:t>
            </a:r>
          </a:p>
          <a:p>
            <a:r>
              <a:t>- 60-min hands-on on YOUR work. Plan mode, AGENTS.md, the per-task loop.</a:t>
            </a:r>
          </a:p>
          <a:p>
            <a:r>
              <a:t>- The harder conversation: review fatigue, role changes, careers.</a:t>
            </a:r>
          </a:p>
          <a:p>
            <a:r>
              <a:t>- Q&amp;A and resources.</a:t>
            </a:r>
          </a:p>
          <a:p/>
          <a:p>
            <a:r>
              <a:t>"Take the breaks. Flag me down during exercises."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Reset the energy. The room just saw the WikiLinks demo, so they have</a:t>
            </a:r>
          </a:p>
          <a:p>
            <a:r>
              <a:t>the model in their head. Now they do the same on their own idea.</a:t>
            </a:r>
          </a:p>
          <a:p/>
          <a:p>
            <a:r>
              <a:t>"Laptops out. The next 30 minutes are yours. I'll walk the room."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Plus two more constraints worth saying:</a:t>
            </a:r>
          </a:p>
          <a:p>
            <a:r>
              <a:t>- GREENFIELD — fresh folder, not your work repo, no AGENTS.md collisions</a:t>
            </a:r>
          </a:p>
          <a:p>
            <a:r>
              <a:t>- BOUNDED SCOPE — if your prompt makes the agent want 3 clarifying questions,</a:t>
            </a:r>
          </a:p>
          <a:p>
            <a:r>
              <a:t>  your scope is too vague. Tighten it.</a:t>
            </a:r>
          </a:p>
          <a:p/>
          <a:p>
            <a:r>
              <a:t>Transition: "Don't agonize on the idea. Six categories on the next slide."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categories shown on the slide; three more I'll mention verbally:</a:t>
            </a:r>
          </a:p>
          <a:p/>
          <a:p>
            <a:r>
              <a:t>- CONTENT GENERATOR — name generator, password generator, ASCII art,</a:t>
            </a:r>
          </a:p>
          <a:p>
            <a:r>
              <a:t>  diagram scaffolder. "Give me ten of X."</a:t>
            </a:r>
          </a:p>
          <a:p>
            <a:r>
              <a:t>- RESEARCH / LOOKUP — fetch + format from an API you actually use.</a:t>
            </a:r>
          </a:p>
          <a:p>
            <a:r>
              <a:t>  OpenAlex, GitHub, Wikipedia, your company's internal API.</a:t>
            </a:r>
          </a:p>
          <a:p>
            <a:r>
              <a:t>- A SKILL — captures something you know that the agent doesn't do well.</a:t>
            </a:r>
          </a:p>
          <a:p>
            <a:r>
              <a:t>  "Review my Cypher for performance", "draft a release note",</a:t>
            </a:r>
          </a:p>
          <a:p>
            <a:r>
              <a:t>  "audit this AGENTS.md".</a:t>
            </a:r>
          </a:p>
          <a:p/>
          <a:p>
            <a:r>
              <a:t>If room freezes, three I personally know are achievable in 25 min:</a:t>
            </a:r>
          </a:p>
          <a:p>
            <a:r>
              <a:t>- Regex tester with explanations</a:t>
            </a:r>
          </a:p>
          <a:p>
            <a:r>
              <a:t>- JSON-to-Cypher converter</a:t>
            </a:r>
          </a:p>
          <a:p>
            <a:r>
              <a:t>- Markdown TOC generator</a:t>
            </a:r>
          </a:p>
          <a:p/>
          <a:p>
            <a:r>
              <a:t>Transition: "Now — the prompt itself. Five things every strong one-shot prompt names."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on layout. Two more verbally:</a:t>
            </a:r>
          </a:p>
          <a:p/>
          <a:p>
            <a:r>
              <a:t>4. STORAGE — "in memory only" or "localStorage" or "none."</a:t>
            </a:r>
          </a:p>
          <a:p/>
          <a:p>
            <a:r>
              <a:t>5. WHAT NOT TO ADD — "no settings page, no dark mode, no auth."</a:t>
            </a:r>
          </a:p>
          <a:p>
            <a:r>
              <a:t>   Most under-used. The agent fills in blanks. Fill them yourself.</a:t>
            </a:r>
          </a:p>
          <a:p/>
          <a:p>
            <a:r>
              <a:t>Reference back: WikiLinks nailed all five.</a:t>
            </a:r>
          </a:p>
          <a:p>
            <a:r>
              <a:t>- Tech: "no react, ts, just base JS, d3"</a:t>
            </a:r>
          </a:p>
          <a:p>
            <a:r>
              <a:t>- I/O: "single input field for the wikipedia page URL"</a:t>
            </a:r>
          </a:p>
          <a:p>
            <a:r>
              <a:t>- Algorithm: "first 5 links, then first 5 of those, max 25 nodes"</a:t>
            </a:r>
          </a:p>
          <a:p>
            <a:r>
              <a:t>- Storage: "in memory"</a:t>
            </a:r>
          </a:p>
          <a:p>
            <a:r>
              <a:t>- Don't add: "light mode only" (no dark mode), no settings, no save</a:t>
            </a:r>
          </a:p>
          <a:p/>
          <a:p>
            <a:r>
              <a:t>If your prompt hits all five, the model has nothing to ask back.</a:t>
            </a:r>
          </a:p>
          <a:p>
            <a:r>
              <a:t>That's the threshold for one-shot success.</a:t>
            </a:r>
          </a:p>
          <a:p/>
          <a:p>
            <a:r>
              <a:t>Transition: "Twenty-two minutes. Here's the rhythm."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Methodology slide. Walk it crisply:</a:t>
            </a:r>
          </a:p>
          <a:p/>
          <a:p>
            <a:r>
              <a:t>0:00–0:05  Decide. Write the prompt. Be specific (the five things).</a:t>
            </a:r>
          </a:p>
          <a:p>
            <a:r>
              <a:t>0:05–0:20  Run. If broken: ONE targeted follow-up. At most TWO before</a:t>
            </a:r>
          </a:p>
          <a:p>
            <a:r>
              <a:t>           you stop and re-think. Follow-up #3 = open new chat.</a:t>
            </a:r>
          </a:p>
          <a:p>
            <a:r>
              <a:t>0:20–0:25  USE IT for real. Catch one bug or missing feature.</a:t>
            </a:r>
          </a:p>
          <a:p>
            <a:r>
              <a:t>0:25–0:30  Save it. Be ready to show.</a:t>
            </a:r>
          </a:p>
          <a:p/>
          <a:p>
            <a:r>
              <a:t>Rule: TARGETED FOLLOW-UP BEATS RE-PROMPT. Two-fix limit beats infinite</a:t>
            </a:r>
          </a:p>
          <a:p>
            <a:r>
              <a:t>tweaking. Don't expand scope mid-fix.</a:t>
            </a:r>
          </a:p>
          <a:p/>
          <a:p>
            <a:r>
              <a:t>Discipline DELIBERATELY excluded: no plan mode, no task breakdown, no</a:t>
            </a:r>
          </a:p>
          <a:p>
            <a:r>
              <a:t>AGENTS.md. All of that comes in Exercise 2.</a:t>
            </a:r>
          </a:p>
          <a:p/>
          <a:p>
            <a:r>
              <a:t>Transition: "I'll walk the room. Flag me down. Go."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3 minutes of the exercise.</a:t>
            </a:r>
          </a:p>
          <a:p/>
          <a:p>
            <a:r>
              <a:t>Round-robin if engaged; 3 volunteers if shy. Three questions, 30 sec each:</a:t>
            </a:r>
          </a:p>
          <a:p>
            <a:r>
              <a:t>1. What did you build?</a:t>
            </a:r>
          </a:p>
          <a:p>
            <a:r>
              <a:t>2. Did one prompt do it, or did you need fixes?</a:t>
            </a:r>
          </a:p>
          <a:p>
            <a:r>
              <a:t>3. One thing the agent did better — or worse — than you expected.</a:t>
            </a:r>
          </a:p>
          <a:p/>
          <a:p>
            <a:r>
              <a:t>Listen for the model-progression moment. Someone WILL say "that surprised</a:t>
            </a:r>
          </a:p>
          <a:p>
            <a:r>
              <a:t>me; I didn't expect it to work first try." Name it: "Hold onto that.</a:t>
            </a:r>
          </a:p>
          <a:p>
            <a:r>
              <a:t>Now we look at what production work needs ON TOP of that capability."</a:t>
            </a:r>
          </a:p>
          <a:p/>
          <a:p>
            <a:r>
              <a:t>Bridge into the break:</a:t>
            </a:r>
          </a:p>
          <a:p>
            <a:r>
              <a:t>"Take 10 minutes. When we come back: how the harness ACTUALLY works,</a:t>
            </a:r>
          </a:p>
          <a:p>
            <a:r>
              <a:t>and where the cost-of-trying gain comes from."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for the visible "back at" time.</a:t>
            </a:r>
          </a:p>
          <a:p>
            <a:r>
              <a:t>Update the time on the slide before the workshop starts.</a:t>
            </a:r>
          </a:p>
          <a:p/>
          <a:p>
            <a:r>
              <a:t>When the room comes back: deep dive. Different energy — analytical,</a:t>
            </a:r>
          </a:p>
          <a:p>
            <a:r>
              <a:t>toolkit-focused. Slow down a notch from the exercise's hands-on energy.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4 of the day. ~20 minutes.</a:t>
            </a:r>
          </a:p>
          <a:p/>
          <a:p>
            <a:r>
              <a:t>Goal: vendor-neutral mental model of harnesses; the 6-rung tool-use ladder;</a:t>
            </a:r>
          </a:p>
          <a:p>
            <a:r>
              <a:t>calibrate the room on what each rung costs.</a:t>
            </a:r>
          </a:p>
          <a:p/>
          <a:p>
            <a:r>
              <a:t>Frame: "The model is the brain. The harness is the body. Most of the</a:t>
            </a:r>
          </a:p>
          <a:p>
            <a:r>
              <a:t>productivity difference between engineers using these tools comes from</a:t>
            </a:r>
          </a:p>
          <a:p>
            <a:r>
              <a:t>how well they understand the body, not how clever the brain is."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boxes. Strip away the branding and they all share this anatomy:</a:t>
            </a:r>
          </a:p>
          <a:p/>
          <a:p>
            <a:r>
              <a:t>1. SYSTEM PROMPT — behavior, safety, tool-use protocol, persona</a:t>
            </a:r>
          </a:p>
          <a:p>
            <a:r>
              <a:t>2. THE LOOP — read user → call model → parse tool calls → execute → repeat</a:t>
            </a:r>
          </a:p>
          <a:p>
            <a:r>
              <a:t>3. TOOLS — Bash, file ops, grep, web fetch, LSP, MCP, planning, …</a:t>
            </a:r>
          </a:p>
          <a:p>
            <a:r>
              <a:t>4. CONTEXT MANAGEMENT — caching, compaction, deferred tool loading</a:t>
            </a:r>
          </a:p>
          <a:p>
            <a:r>
              <a:t>5. PERMISSIONS — modes, risk classifier, protected paths, hooks</a:t>
            </a:r>
          </a:p>
          <a:p>
            <a:r>
              <a:t>6. STATE / MEMORY — session, transcript, AGENTS.md, persistent memory</a:t>
            </a:r>
          </a:p>
          <a:p/>
          <a:p>
            <a:r>
              <a:t>Why it matters: every "tip" or "best practice" you read about CC,</a:t>
            </a:r>
          </a:p>
          <a:p>
            <a:r>
              <a:t>Cursor, Codex, Aider — it's a tweak to ONE of these six boxes. With</a:t>
            </a:r>
          </a:p>
          <a:p>
            <a:r>
              <a:t>this anatomy, you can read any new tool's docs in 10 minutes.</a:t>
            </a:r>
          </a:p>
          <a:p/>
          <a:p>
            <a:r>
              <a:t>Transition: "Two main families — CLI and IDE. Different ergonomics, same anatomy."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orientation across the field.</a:t>
            </a:r>
          </a:p>
          <a:p/>
          <a:p>
            <a:r>
              <a:t>CLI wins for: long autonomous runs, background/cron, sub-agents,</a:t>
            </a:r>
          </a:p>
          <a:p>
            <a:r>
              <a:t>scripting, CI integration, parallel worktrees.</a:t>
            </a:r>
          </a:p>
          <a:p/>
          <a:p>
            <a:r>
              <a:t>IDE wins for: live code review, inline diffs, parallel agent tabs,</a:t>
            </a:r>
          </a:p>
          <a:p>
            <a:r>
              <a:t>onboarding for engineers who haven't lived in a terminal.</a:t>
            </a:r>
          </a:p>
          <a:p/>
          <a:p>
            <a:r>
              <a:t>Take for the room: pick ONE CLI harness and ONE IDE harness, learn both</a:t>
            </a:r>
          </a:p>
          <a:p>
            <a:r>
              <a:t>deeply. The mental model transfers.</a:t>
            </a:r>
          </a:p>
          <a:p/>
          <a:p>
            <a:r>
              <a:t>Feb 2026 multi-agent convergence: every major tool shipped parallel</a:t>
            </a:r>
          </a:p>
          <a:p>
            <a:r>
              <a:t>sessions in the same two-week window. Grok Build (8), Windsurf (5),</a:t>
            </a:r>
          </a:p>
          <a:p>
            <a:r>
              <a:t>CC Agent Teams, Codex Agents SDK, Devin parallel. The race is over</a:t>
            </a:r>
          </a:p>
          <a:p>
            <a:r>
              <a:t>the orchestration layer now, not the model.</a:t>
            </a:r>
          </a:p>
          <a:p/>
          <a:p>
            <a:r>
              <a:t>Transition: "Three architectural choices recur across all of them.</a:t>
            </a:r>
          </a:p>
          <a:p>
            <a:r>
              <a:t>Worth naming because each is a deliberate bet."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different bets on how to give the model what it needs.</a:t>
            </a:r>
          </a:p>
          <a:p/>
          <a:p>
            <a:r>
              <a:t>Many teams use more than one. None is universally right.</a:t>
            </a:r>
          </a:p>
          <a:p/>
          <a:p>
            <a:r>
              <a:t>Three more architectural patterns worth naming if time:</a:t>
            </a:r>
          </a:p>
          <a:p>
            <a:r>
              <a:t>- EDIT FORMAT: Codex apply_patch DSL (RL-trained custom diff format)</a:t>
            </a:r>
          </a:p>
          <a:p>
            <a:r>
              <a:t>  vs CC structured edits vs Cline whole-file rewrites (Roo's apply_diff</a:t>
            </a:r>
          </a:p>
          <a:p>
            <a:r>
              <a:t>  fork ships ~30% cheaper edits).</a:t>
            </a:r>
          </a:p>
          <a:p>
            <a:r>
              <a:t>- TOOL ARCHITECTURE: MCP-everything (Goose — every capability is an MCP</a:t>
            </a:r>
          </a:p>
          <a:p>
            <a:r>
              <a:t>  subprocess) vs built-in + MCP (most others) vs Cline can GENERATE</a:t>
            </a:r>
          </a:p>
          <a:p>
            <a:r>
              <a:t>  MCP servers on demand.</a:t>
            </a:r>
          </a:p>
          <a:p>
            <a:r>
              <a:t>- CODE INTELLIGENCE: LSP-first (Crush, Junie spawn language servers</a:t>
            </a:r>
          </a:p>
          <a:p>
            <a:r>
              <a:t>  per project for type-aware navigation) vs grep heuristics (most others).</a:t>
            </a:r>
          </a:p>
          <a:p/>
          <a:p>
            <a:r>
              <a:t>Transition: "Now — every harness has a sliding scale of HOW it lets</a:t>
            </a:r>
          </a:p>
          <a:p>
            <a:r>
              <a:t>the model use tools. Six rungs."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on screen. Three more verbally:</a:t>
            </a:r>
          </a:p>
          <a:p/>
          <a:p>
            <a:r>
              <a:t>4. REST APIs — curl + jq + auth. Anything HTTP-shaped. Watch the</a:t>
            </a:r>
          </a:p>
          <a:p>
            <a:r>
              <a:t>   token-fat JSON responses; pipe through jq before the prompt sees it.</a:t>
            </a:r>
          </a:p>
          <a:p/>
          <a:p>
            <a:r>
              <a:t>5. SKILLS — captured procedures, slash-commands + prompt bundles.</a:t>
            </a:r>
          </a:p>
          <a:p>
            <a:r>
              <a:t>   "Skill the third repetition." First time: just do it. Second: note it.</a:t>
            </a:r>
          </a:p>
          <a:p>
            <a:r>
              <a:t>   Third: skill it.</a:t>
            </a:r>
          </a:p>
          <a:p/>
          <a:p>
            <a:r>
              <a:t>6. MCP servers — full external platforms (Snowflake, GitHub, Sentry,</a:t>
            </a:r>
          </a:p>
          <a:p>
            <a:r>
              <a:t>   Linear, Atlassian, Neo4j, browsers). Biggest capability AND biggest</a:t>
            </a:r>
          </a:p>
          <a:p>
            <a:r>
              <a:t>   cost / fragility jump.</a:t>
            </a:r>
          </a:p>
          <a:p/>
          <a:p>
            <a:r>
              <a:t>RULES OF THUMB:</a:t>
            </a:r>
          </a:p>
          <a:p>
            <a:r>
              <a:t>- Bash is the universal escape hatch. Every other tool is a wrapper.</a:t>
            </a:r>
          </a:p>
          <a:p>
            <a:r>
              <a:t>- jq + ripgrep are force multipliers. Install everywhere your agents run.</a:t>
            </a:r>
          </a:p>
          <a:p>
            <a:r>
              <a:t>- Don't reach for MCP when curl would do. Curl|jq ships in 2 minutes;</a:t>
            </a:r>
          </a:p>
          <a:p>
            <a:r>
              <a:t>  equivalent MCP server takes a day.</a:t>
            </a:r>
          </a:p>
          <a:p>
            <a:r>
              <a:t>- MCP for PLATFORMS, skills for PROCEDURES. Complementary, not alternatives.</a:t>
            </a:r>
          </a:p>
          <a:p/>
          <a:p>
            <a:r>
              <a:t>Transition: "Same anatomy, same ladder — but where productivity comes</a:t>
            </a:r>
          </a:p>
          <a:p>
            <a:r>
              <a:t>from is HOW you steer it. Five craft levers."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levers grouped into three columns.</a:t>
            </a:r>
          </a:p>
          <a:p/>
          <a:p>
            <a:r>
              <a:t>PLAN MODE is the lever I most want them to internalize. CC's creator</a:t>
            </a:r>
          </a:p>
          <a:p>
            <a:r>
              <a:t>reportedly uses it for ~80% of tasks. Pattern: plan mode → review →</a:t>
            </a:r>
          </a:p>
          <a:p>
            <a:r>
              <a:t>flip to auto-accept for execution → flip back. PLAN MODE IS A GATE,</a:t>
            </a:r>
          </a:p>
          <a:p>
            <a:r>
              <a:t>NOT MAGIC.</a:t>
            </a:r>
          </a:p>
          <a:p/>
          <a:p>
            <a:r>
              <a:t>HOOKS are the production differentiator: deterministic shell commands</a:t>
            </a:r>
          </a:p>
          <a:p>
            <a:r>
              <a:t>that ALWAYS run on lifecycle events (PreToolUse, PostToolUse, Stop,</a:t>
            </a:r>
          </a:p>
          <a:p>
            <a:r>
              <a:t>SessionStart). The right place for things that MUST happen every time</a:t>
            </a:r>
          </a:p>
          <a:p>
            <a:r>
              <a:t>— formatting, linting, security checks. Block at submit, not at write.</a:t>
            </a:r>
          </a:p>
          <a:p/>
          <a:p>
            <a:r>
              <a:t>PUSH (RAG) vs PULL (tool calling): two ways context arrives. Push is</a:t>
            </a:r>
          </a:p>
          <a:p>
            <a:r>
              <a:t>cheaper but speculative. Pull is precise but slower. API design</a:t>
            </a:r>
          </a:p>
          <a:p>
            <a:r>
              <a:t>principles apply to tool design — clear names, stable signatures,</a:t>
            </a:r>
          </a:p>
          <a:p>
            <a:r>
              <a:t>terse responses.</a:t>
            </a:r>
          </a:p>
          <a:p/>
          <a:p>
            <a:r>
              <a:t>Transition: "Every lever I just listed maps to a token cost decision.</a:t>
            </a:r>
          </a:p>
          <a:p>
            <a:r>
              <a:t>Where the tokens actually go — next."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5. ~10 minutes.</a:t>
            </a:r>
          </a:p>
          <a:p/>
          <a:p>
            <a:r>
              <a:t>Goal: cost-literate. Every craft lever from the last section costs</a:t>
            </a:r>
          </a:p>
          <a:p>
            <a:r>
              <a:t>(or saves) tokens. The discipline shows up in ccusage.</a:t>
            </a:r>
          </a:p>
          <a:p/>
          <a:p>
            <a:r>
              <a:t>Frame: "In 2026 the new top skill is token economy. Same model, same task,</a:t>
            </a:r>
          </a:p>
          <a:p>
            <a:r>
              <a:t>same outcome — 10× cost difference between someone who knows the levers</a:t>
            </a:r>
          </a:p>
          <a:p>
            <a:r>
              <a:t>and someone who doesn't."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conceptual heart of the section. Anchor it.</a:t>
            </a:r>
          </a:p>
          <a:p/>
          <a:p>
            <a:r>
              <a:t>Source: @mnilax 90-day instrumented Claude Code audit, April 2026.</a:t>
            </a:r>
          </a:p>
          <a:p>
            <a:r>
              <a:t>430 hours, 6M input tokens, $1,340 spend. Categorized every token.</a:t>
            </a:r>
          </a:p>
          <a:p>
            <a:r>
              <a:t>Productive: 27%. Overhead: 73%.</a:t>
            </a:r>
          </a:p>
          <a:p/>
          <a:p>
            <a:r>
              <a:t>Critically: cheaper-model-on-bloated-context still costs MORE than</a:t>
            </a:r>
          </a:p>
          <a:p>
            <a:r>
              <a:t>expensive-model-on-lean-context. The bloat is in the context, not the model.</a:t>
            </a:r>
          </a:p>
          <a:p/>
          <a:p>
            <a:r>
              <a:t>CONTEXT PYRAMID (Lance Martin's framing):</a:t>
            </a:r>
          </a:p>
          <a:p>
            <a:r>
              <a:t>- PERSISTENT BASE (cached): system prompt, role, AGENTS.md, core facts</a:t>
            </a:r>
          </a:p>
          <a:p>
            <a:r>
              <a:t>- DYNAMIC MIDDLE (partially cached): examples, memory, tool list</a:t>
            </a:r>
          </a:p>
          <a:p>
            <a:r>
              <a:t>- EPHEMERAL TOP (never cached): tool outputs, current reasoning, user message</a:t>
            </a:r>
          </a:p>
          <a:p/>
          <a:p>
            <a:r>
              <a:t>Caching applies most strongly at the BASE. Stable layers compound discounts;</a:t>
            </a:r>
          </a:p>
          <a:p>
            <a:r>
              <a:t>churn at the bottom invalidates everything above.</a:t>
            </a:r>
          </a:p>
          <a:p/>
          <a:p>
            <a:r>
              <a:t>Transition: "Here's where the 73% actually goes — nine invisible patterns."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on screen. Three more not shown:</a:t>
            </a:r>
          </a:p>
          <a:p>
            <a:r>
              <a:t>- 5% extended thinking on simple questions</a:t>
            </a:r>
          </a:p>
          <a:p>
            <a:r>
              <a:t>- 4% wrong-direction generation (model goes off track, you let it finish)</a:t>
            </a:r>
          </a:p>
          <a:p>
            <a:r>
              <a:t>- 3% plugin / SessionStart noise</a:t>
            </a:r>
          </a:p>
          <a:p/>
          <a:p>
            <a:r>
              <a:t>Source: @mnilax 90-day Claude Code audit, April 2026.</a:t>
            </a:r>
          </a:p>
          <a:p/>
          <a:p>
            <a:r>
              <a:t>Headline result of fixing all 9: avg input tokens / prompt 18,400 → 6,100</a:t>
            </a:r>
          </a:p>
          <a:p>
            <a:r>
              <a:t>(-67%); productive token share 27% → ~65%; days until weekly limit</a:t>
            </a:r>
          </a:p>
          <a:p>
            <a:r>
              <a:t>4.2 → 7+; ~$130/month saved on the same workload.</a:t>
            </a:r>
          </a:p>
          <a:p/>
          <a:p>
            <a:r>
              <a:t>Counter-intuitive finding: switching to Haiku for "simple" tasks saved</a:t>
            </a:r>
          </a:p>
          <a:p>
            <a:r>
              <a:t>only 3%. Aggressive /clear lost context that cost more in re-prompting.</a:t>
            </a:r>
          </a:p>
          <a:p>
            <a:r>
              <a:t>The bloat is in the patterns above, not in model choice.</a:t>
            </a:r>
          </a:p>
          <a:p/>
          <a:p>
            <a:r>
              <a:t>30-second audit (Monday morning):</a:t>
            </a:r>
          </a:p>
          <a:p>
            <a:r>
              <a:t>- wc -w ~/.claude/CLAUDE.md (target &lt; 1500 tokens)</a:t>
            </a:r>
          </a:p>
          <a:p>
            <a:r>
              <a:t>- cat .claude/settings.json | jq '.hooks.UserPromptSubmit'</a:t>
            </a:r>
          </a:p>
          <a:p>
            <a:r>
              <a:t>- jq '.mcpServers // {} | keys' (target ~3 always-on)</a:t>
            </a:r>
          </a:p>
          <a:p/>
          <a:p>
            <a:r>
              <a:t>Transition: "Three moves you can make. Frame from context engineering."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saving lever is one of three moves.</a:t>
            </a:r>
          </a:p>
          <a:p/>
          <a:p>
            <a:r>
              <a:t>PROMPT CACHING is the single biggest lever — 10× discount on cached input</a:t>
            </a:r>
          </a:p>
          <a:p>
            <a:r>
              <a:t>across all major vendors. Cache reads at $0.30/Mtok vs $3 input on Sonnet.</a:t>
            </a:r>
          </a:p>
          <a:p/>
          <a:p>
            <a:r>
              <a:t>Three rules of thumb:</a:t>
            </a:r>
          </a:p>
          <a:p>
            <a:r>
              <a:t>1. Cache hit rate IS the metric. If you don't know yours, find out tomorrow.</a:t>
            </a:r>
          </a:p>
          <a:p>
            <a:r>
              <a:t>2. Don't churn the system prompt. Every AGENTS.md edit invalidates the cache.</a:t>
            </a:r>
          </a:p>
          <a:p>
            <a:r>
              <a:t>3. Use the cheapest model that works. 80% of tasks don't need Opus.</a:t>
            </a:r>
          </a:p>
          <a:p/>
          <a:p>
            <a:r>
              <a:t>Transition: "Five tools that make this practical."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MEASUREMENT first — you can't fix what you can't see.</a:t>
            </a:r>
          </a:p>
          <a:p>
            <a:r>
              <a:t>- ccusage: github.com/ryoppippi/ccusage. `npx ccusage` reads local JSONL,</a:t>
            </a:r>
          </a:p>
          <a:p>
            <a:r>
              <a:t>  produces reports. Install tomorrow if you don't have it.</a:t>
            </a:r>
          </a:p>
          <a:p>
            <a:r>
              <a:t>- Most modern harnesses now show running token cost in the TUI.</a:t>
            </a:r>
          </a:p>
          <a:p/>
          <a:p>
            <a:r>
              <a:t>ACTIVE REDUCTION on the input side:</a:t>
            </a:r>
          </a:p>
          <a:p>
            <a:r>
              <a:t>- RTK (Rust Token Killer): Rust CLI proxy, intercepts git/ls/grep/etc,</a:t>
            </a:r>
          </a:p>
          <a:p>
            <a:r>
              <a:t>  rewrites to token-efficient equivalents. 60-90% on dev operations.</a:t>
            </a:r>
          </a:p>
          <a:p>
            <a:r>
              <a:t>- headroom (chopratejas): context-compression interceptor (library, proxy,</a:t>
            </a:r>
          </a:p>
          <a:p>
            <a:r>
              <a:t>  middleware, or MCP). SmartCrusher strips redundant tool outputs / logs /</a:t>
            </a:r>
          </a:p>
          <a:p>
            <a:r>
              <a:t>  files, reversible retrieval if model needs the original. ~50% savings.</a:t>
            </a:r>
          </a:p>
          <a:p/>
          <a:p>
            <a:r>
              <a:t>ACTIVE REDUCTION on the output side:</a:t>
            </a:r>
          </a:p>
          <a:p>
            <a:r>
              <a:t>- caveman: Claude Code skill that rewrites the agent's output style for</a:t>
            </a:r>
          </a:p>
          <a:p>
            <a:r>
              <a:t>  65-75% output-token savings. Bundled caveman-shrink MCP also compresses</a:t>
            </a:r>
          </a:p>
          <a:p>
            <a:r>
              <a:t>  input ~46%.</a:t>
            </a:r>
          </a:p>
          <a:p/>
          <a:p>
            <a:r>
              <a:t>Built-in protocol-level: prompt caching (Anthropic, OpenAI, Google all</a:t>
            </a:r>
          </a:p>
          <a:p>
            <a:r>
              <a:t>support); token-efficient-tools default in Claude 4.x; Aider's architect</a:t>
            </a:r>
          </a:p>
          <a:p>
            <a:r>
              <a:t>mode (cheap editor, expensive reasoner).</a:t>
            </a:r>
          </a:p>
          <a:p/>
          <a:p>
            <a:r>
              <a:t>Transition: "What does this cost in actual dollars in 2026?"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May 2026. Pricing moves monthly — re-verify before slides go up.</a:t>
            </a:r>
          </a:p>
          <a:p/>
          <a:p>
            <a:r>
              <a:t>Output prices (each ~5× input):</a:t>
            </a:r>
          </a:p>
          <a:p>
            <a:r>
              <a:t>- Haiku 4.5: $5 out</a:t>
            </a:r>
          </a:p>
          <a:p>
            <a:r>
              <a:t>- Sonnet 4.x: $15 out</a:t>
            </a:r>
          </a:p>
          <a:p>
            <a:r>
              <a:t>- Opus 4.5: $25 out (Fast tier: $30 / $150 — 6× standard)</a:t>
            </a:r>
          </a:p>
          <a:p>
            <a:r>
              <a:t>- GPT-5: $10 out</a:t>
            </a:r>
          </a:p>
          <a:p>
            <a:r>
              <a:t>- GPT-5.5: $30 out (verified — was $25 in stale draft)</a:t>
            </a:r>
          </a:p>
          <a:p>
            <a:r>
              <a:t>- Gemini 3 Pro: $12 out (≤200K), $18 above</a:t>
            </a:r>
          </a:p>
          <a:p/>
          <a:p>
            <a:r>
              <a:t>Cache reads are ~10× cheaper than fresh input across all vendors.</a:t>
            </a:r>
          </a:p>
          <a:p>
            <a:r>
              <a:t>This is why caching matters: 90% discount on 90% of your bytes.</a:t>
            </a:r>
          </a:p>
          <a:p/>
          <a:p>
            <a:r>
              <a:t>Real-task cost snapshots (rough, my own runs):</a:t>
            </a:r>
          </a:p>
          <a:p>
            <a:r>
              <a:t>- Small bug fix (~10 turns): $0.05 disciplined / $0.50 sloppy</a:t>
            </a:r>
          </a:p>
          <a:p>
            <a:r>
              <a:t>- Medium feature (~50 turns): $0.50 / $5</a:t>
            </a:r>
          </a:p>
          <a:p>
            <a:r>
              <a:t>- Big refactor (~200 turns): $3-5 / $30-60</a:t>
            </a:r>
          </a:p>
          <a:p>
            <a:r>
              <a:t>Same model, same outcome. The 10× gap is entirely discipline.</a:t>
            </a:r>
          </a:p>
          <a:p/>
          <a:p>
            <a:r>
              <a:t>Transition: "OK — but how do we KNOW any tool is good? Benchmarks."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6. Compress to ~5 minutes. Skeptics will raise this if I don't.</a:t>
            </a:r>
          </a:p>
          <a:p/>
          <a:p>
            <a:r>
              <a:t>Frame: "Benchmarks tell you the DIRECTION the field is moving. They</a:t>
            </a:r>
          </a:p>
          <a:p>
            <a:r>
              <a:t>don't tell you which tool is best for your codebase. Use them like a</a:t>
            </a:r>
          </a:p>
          <a:p>
            <a:r>
              <a:t>weather report — informative, directional, not a substitute for</a:t>
            </a:r>
          </a:p>
          <a:p>
            <a:r>
              <a:t>going outside."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on screen. Two more in the middle:</a:t>
            </a:r>
          </a:p>
          <a:p/>
          <a:p>
            <a:r>
              <a:t>- CONTEST-STYLE — LiveCodeBench (continuously updated, contamination-resistant)</a:t>
            </a:r>
          </a:p>
          <a:p>
            <a:r>
              <a:t>- TERMINAL / AGENTIC — Terminal-Bench, Cybench. Multi-step, real loop.</a:t>
            </a:r>
          </a:p>
          <a:p/>
          <a:p>
            <a:r>
              <a:t>CRITICAL caveat: scores are produced by (model × harness × scaffolding).</a:t>
            </a:r>
          </a:p>
          <a:p>
            <a:r>
              <a:t>The 92.1% is a Claude Code number, not a Claude number. Apples-to-apples</a:t>
            </a:r>
          </a:p>
          <a:p>
            <a:r>
              <a:t>comparisons are hard.</a:t>
            </a:r>
          </a:p>
          <a:p/>
          <a:p>
            <a:r>
              <a:t>METR REAL-WORK NUMBER deserves emphasis: 2025 RCT measured +19% SLOWDOWN</a:t>
            </a:r>
          </a:p>
          <a:p>
            <a:r>
              <a:t>(not uplift) with AI tools. The procurement-relevant signal — and it</a:t>
            </a:r>
          </a:p>
          <a:p>
            <a:r>
              <a:t>has FLIPPED SIGN since the study landed. The 2026 follow-up shows the</a:t>
            </a:r>
          </a:p>
          <a:p>
            <a:r>
              <a:t>gap narrowing.</a:t>
            </a:r>
          </a:p>
          <a:p/>
          <a:p>
            <a:r>
              <a:t>Transition: "How to read benchmarks like a senior engineer."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9-point rubric for reading benchmarks (use as needed):</a:t>
            </a:r>
          </a:p>
          <a:p/>
          <a:p>
            <a:r>
              <a:t>1. DATE-CHECK IT. &gt;90 days = stale.</a:t>
            </a:r>
          </a:p>
          <a:p>
            <a:r>
              <a:t>2. TOOL AND MODEL. "GPT-5.5 hits X" is meaningless without "in WHICH harness."</a:t>
            </a:r>
          </a:p>
          <a:p>
            <a:r>
              <a:t>3. pass@1 or pass@N? If unstated, assume the most flattering reading.</a:t>
            </a:r>
          </a:p>
          <a:p>
            <a:r>
              <a:t>4. PUBLIC vs PRIVATE eval? Hidden eval sets resist contamination better.</a:t>
            </a:r>
          </a:p>
          <a:p>
            <a:r>
              <a:t>5. COST and LATENCY footnote? No? Treat as upper-bound theoretical.</a:t>
            </a:r>
          </a:p>
          <a:p>
            <a:r>
              <a:t>6. DIRECTION not absolute. "Is it getting better?" beats "is X &gt; Y."</a:t>
            </a:r>
          </a:p>
          <a:p>
            <a:r>
              <a:t>7. REAL-WORK PROXY? METR, SWE-Lancer, Aider polyglot, your own eval.</a:t>
            </a:r>
          </a:p>
          <a:p>
            <a:r>
              <a:t>8. TRIANGULATE three benchmarks. Different biases.</a:t>
            </a:r>
          </a:p>
          <a:p>
            <a:r>
              <a:t>9. RUN YOUR OWN. The only number that matters for procurement.</a:t>
            </a:r>
          </a:p>
          <a:p/>
          <a:p>
            <a:r>
              <a:t>Closing line: "The acceleration is real. The numbers are directionally</a:t>
            </a:r>
          </a:p>
          <a:p>
            <a:r>
              <a:t>trustworthy. But the absolute leaderboard position of harness X over</a:t>
            </a:r>
          </a:p>
          <a:p>
            <a:r>
              <a:t>harness Y is a worse signal than running both on three of your own</a:t>
            </a:r>
          </a:p>
          <a:p>
            <a:r>
              <a:t>tickets for an afternoon. Ten engineers' worth of internal eval beats</a:t>
            </a:r>
          </a:p>
          <a:p>
            <a:r>
              <a:t>all the public benchmarks combined."</a:t>
            </a:r>
          </a:p>
          <a:p/>
          <a:p>
            <a:r>
              <a:t>Transition: "OK — anatomy, ladder, cost, benchmarks. Now the practices</a:t>
            </a:r>
          </a:p>
          <a:p>
            <a:r>
              <a:t>that turn this into a working method."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7 — the conceptual heart of the day. ~20 minutes.</a:t>
            </a:r>
          </a:p>
          <a:p/>
          <a:p>
            <a:r>
              <a:t>Goal: turn anatomy + cost knowledge into a working method.</a:t>
            </a:r>
          </a:p>
          <a:p/>
          <a:p>
            <a:r>
              <a:t>Frame: "Treat the agent like the most patient, deepest-diving junior</a:t>
            </a:r>
          </a:p>
          <a:p>
            <a:r>
              <a:t>engineer you've ever worked with — who has read every line of public</a:t>
            </a:r>
          </a:p>
          <a:p>
            <a:r>
              <a:t>code, knows nothing about YOUR code, and has no ego, no fatigue, no</a:t>
            </a:r>
          </a:p>
          <a:p>
            <a:r>
              <a:t>fear of being wrong. Everything that follows is good onboarding for</a:t>
            </a:r>
          </a:p>
          <a:p>
            <a:r>
              <a:t>that teammate."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things you'd do for a sharp new hire — good README, clear style</a:t>
            </a:r>
          </a:p>
          <a:p>
            <a:r>
              <a:t>guide, paired-up planning, code review, written-down conventions, a</a:t>
            </a:r>
          </a:p>
          <a:p>
            <a:r>
              <a:t>test suite that catches obvious mistakes — are EXACTLY what turns an</a:t>
            </a:r>
          </a:p>
          <a:p>
            <a:r>
              <a:t>agent from a liability into a teammate.</a:t>
            </a:r>
          </a:p>
          <a:p/>
          <a:p>
            <a:r>
              <a:t>The leverage of doing them well is much higher with an agent than with</a:t>
            </a:r>
          </a:p>
          <a:p>
            <a:r>
              <a:t>a human, because the agent ingests them perfectly and applies them tirelessly.</a:t>
            </a:r>
          </a:p>
          <a:p/>
          <a:p>
            <a:r>
              <a:t>KEY REFRAME: "Good software design was never for the machine. It was</a:t>
            </a:r>
          </a:p>
          <a:p>
            <a:r>
              <a:t>always for the humans who had to read, maintain, and extend it. Now</a:t>
            </a:r>
          </a:p>
          <a:p>
            <a:r>
              <a:t>those humans include AI teammates that learned the craft from</a:t>
            </a:r>
          </a:p>
          <a:p>
            <a:r>
              <a:t>human-written code."</a:t>
            </a:r>
          </a:p>
          <a:p/>
          <a:p>
            <a:r>
              <a:t>Transition: "Lance Martin says it cleanest."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quote for the design-as-communication thread.</a:t>
            </a:r>
          </a:p>
          <a:p/>
          <a:p>
            <a:r>
              <a:t>Frame the implication: most agent failures are communication failures.</a:t>
            </a:r>
          </a:p>
          <a:p>
            <a:r>
              <a:t>The model is rarely the bottleneck — the prompt, the AGENTS.md, the</a:t>
            </a:r>
          </a:p>
          <a:p>
            <a:r>
              <a:t>spec is.</a:t>
            </a:r>
          </a:p>
          <a:p/>
          <a:p>
            <a:r>
              <a:t>Add Claire Vo's manager-skill take if there's room: "I know how to make</a:t>
            </a:r>
          </a:p>
          <a:p>
            <a:r>
              <a:t>an employee successful. That is what you need to make these agents work.</a:t>
            </a:r>
          </a:p>
          <a:p>
            <a:r>
              <a:t>You don't need the technical skills. You need role scoping, design,</a:t>
            </a:r>
          </a:p>
          <a:p>
            <a:r>
              <a:t>voice. The rest of it we can give to ClaudeCode to figure out."</a:t>
            </a:r>
          </a:p>
          <a:p>
            <a:r>
              <a:t>— Claire Vo, Lenny's Newsletter, 2026.</a:t>
            </a:r>
          </a:p>
          <a:p/>
          <a:p>
            <a:r>
              <a:t>This is a manager's skill, not just an IC's. Many seasoned engineers</a:t>
            </a:r>
          </a:p>
          <a:p>
            <a:r>
              <a:t>have the muscle from leading teams; just need to point it at a new target.</a:t>
            </a:r>
          </a:p>
          <a:p/>
          <a:p>
            <a:r>
              <a:t>Transition: "The agent will fail in five named ways. Drew Breunig</a:t>
            </a:r>
          </a:p>
          <a:p>
            <a:r>
              <a:t>catalogued them in June 2025."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Drew Breunig, "How Long Contexts Fail and How to Fix Them",</a:t>
            </a:r>
          </a:p>
          <a:p>
            <a:r>
              <a:t>dbreunig.com, June 22 2025.</a:t>
            </a:r>
          </a:p>
          <a:p/>
          <a:p>
            <a:r>
              <a:t>Naming these gives engineers vocabulary for failure modes they've</a:t>
            </a:r>
          </a:p>
          <a:p>
            <a:r>
              <a:t>experienced but couldn't articulate.</a:t>
            </a:r>
          </a:p>
          <a:p/>
          <a:p>
            <a:r>
              <a:t>Two more failure modes worth mentioning:</a:t>
            </a:r>
          </a:p>
          <a:p>
            <a:r>
              <a:t>- PLAUSIBLY WRONG: confidently wrong code that compiles, lints,</a:t>
            </a:r>
          </a:p>
          <a:p>
            <a:r>
              <a:t>  eyeballs fine — and breaks production.</a:t>
            </a:r>
          </a:p>
          <a:p>
            <a:r>
              <a:t>- COGNITIVE LOAD: reviewing 500 lines of plausible code is harder</a:t>
            </a:r>
          </a:p>
          <a:p>
            <a:r>
              <a:t>  than writing 200. Jevons paradox: efficiency gains absorbed by</a:t>
            </a:r>
          </a:p>
          <a:p>
            <a:r>
              <a:t>  demand for human judgment. Real and unsolved.</a:t>
            </a:r>
          </a:p>
          <a:p/>
          <a:p>
            <a:r>
              <a:t>Transition: "Why does writing things down help? Because it COLLAPSES</a:t>
            </a:r>
          </a:p>
          <a:p>
            <a:r>
              <a:t>the distribution of possible answers."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big idea slide. Slow down here. ~3 minutes.</a:t>
            </a:r>
          </a:p>
          <a:p/>
          <a:p>
            <a:r>
              <a:t>A model holds an enormous distribution over possible continuations.</a:t>
            </a:r>
          </a:p>
          <a:p>
            <a:r>
              <a:t>"Write a function that fetches a user" has millions of plausible answers.</a:t>
            </a:r>
          </a:p>
          <a:p>
            <a:r>
              <a:t>Every constraint conditions the output distribution toward what you want.</a:t>
            </a:r>
          </a:p>
          <a:p/>
          <a:p>
            <a:r>
              <a:t>This isn't a metaphor — it's how the model actually works.</a:t>
            </a:r>
          </a:p>
          <a:p/>
          <a:p>
            <a:r>
              <a:t>WHY TDD IS SUDDENLY THE KILLER TECHNIQUE:</a:t>
            </a:r>
          </a:p>
          <a:p>
            <a:r>
              <a:t>- Tests are VERIFIABLE REWARDS. Model was post-trained on this signal.</a:t>
            </a:r>
          </a:p>
          <a:p>
            <a:r>
              <a:t>- A failing test is a precise, machine-readable specification.</a:t>
            </a:r>
          </a:p>
          <a:p>
            <a:r>
              <a:t>- "All tests green" is an unambiguous stopping condition.</a:t>
            </a:r>
          </a:p>
          <a:p/>
          <a:p>
            <a:r>
              <a:t>WHY SPEC-DRIVEN IS WORTH THE CEREMONY:</a:t>
            </a:r>
          </a:p>
          <a:p>
            <a:r>
              <a:t>- Spec collapses the latent space BEFORE the agent starts hallucinating.</a:t>
            </a:r>
          </a:p>
          <a:p>
            <a:r>
              <a:t>- Moves human-judgment work upstream, where it's cheap.</a:t>
            </a:r>
          </a:p>
          <a:p>
            <a:r>
              <a:t>- Makes review a check-against-spec, not a check-against-vibes.</a:t>
            </a:r>
          </a:p>
          <a:p/>
          <a:p>
            <a:r>
              <a:t>Dan North's Replaceable Component Architecture suddenly very practical:</a:t>
            </a:r>
          </a:p>
          <a:p>
            <a:r>
              <a:t>"Code is throwaway. Specs and tests are the durable artifacts."</a:t>
            </a:r>
          </a:p>
          <a:p/>
          <a:p>
            <a:r>
              <a:t>Transition: "AGENTS.md is the project's MVC — Minimum Viable Context."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AGENTS.md is the project's MINIMUM VIABLE CONTEXT — smallest set of</a:t>
            </a:r>
          </a:p>
          <a:p>
            <a:r>
              <a:t>facts and rules that lets the agent do good work without overwhelming</a:t>
            </a:r>
          </a:p>
          <a:p>
            <a:r>
              <a:t>the prompt. High signal-to-noise.</a:t>
            </a:r>
          </a:p>
          <a:p/>
          <a:p>
            <a:r>
              <a:t>STRUCTURE RULES (often missed):</a:t>
            </a:r>
          </a:p>
          <a:p>
            <a:r>
              <a:t>- Group related info; label with headers + XML tags</a:t>
            </a:r>
          </a:p>
          <a:p>
            <a:r>
              <a:t>- Build hierarchy: short summary at top, detail below</a:t>
            </a:r>
          </a:p>
          <a:p>
            <a:r>
              <a:t>- REITERATE THE ESSENCE AT THE END — attention weights are higher at</a:t>
            </a:r>
          </a:p>
          <a:p>
            <a:r>
              <a:t>  the end of the prompt. Close AGENTS.md with one line restating the</a:t>
            </a:r>
          </a:p>
          <a:p>
            <a:r>
              <a:t>  most important rule.</a:t>
            </a:r>
          </a:p>
          <a:p/>
          <a:p>
            <a:r>
              <a:t>LAYERING:</a:t>
            </a:r>
          </a:p>
          <a:p>
            <a:r>
              <a:t>- ~/.claude/CLAUDE.md — personal global</a:t>
            </a:r>
          </a:p>
          <a:p>
            <a:r>
              <a:t>- &lt;project&gt;/AGENTS.md — project root, team-shared, in git</a:t>
            </a:r>
          </a:p>
          <a:p>
            <a:r>
              <a:t>- &lt;project&gt;/&lt;area&gt;/AGENTS.md — optional per-area overrides</a:t>
            </a:r>
          </a:p>
          <a:p>
            <a:r>
              <a:t>- .claude/skills/ — slash-commands and skill definitions</a:t>
            </a:r>
          </a:p>
          <a:p/>
          <a:p>
            <a:r>
              <a:t>OPERATING:</a:t>
            </a:r>
          </a:p>
          <a:p>
            <a:r>
              <a:t>- Keep it 50-100 lines at root. Long files = cache-bloat + signal dilution.</a:t>
            </a:r>
          </a:p>
          <a:p>
            <a:r>
              <a:t>- Don't churn mid-session. Every edit invalidates prompt cache.</a:t>
            </a:r>
          </a:p>
          <a:p>
            <a:r>
              <a:t>- Treat it like a PR-reviewed artifact. Bad rules propagate silently.</a:t>
            </a:r>
          </a:p>
          <a:p/>
          <a:p>
            <a:r>
              <a:t>Transition: "And when the session is going sideways — ralph."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Named after Geoff "Ralph" Huntley's 2025 pattern. Now standard practice</a:t>
            </a:r>
          </a:p>
          <a:p>
            <a:r>
              <a:t>across CC, Cursor, opencode, Pi (Pi has it as a UI primitive — branchable</a:t>
            </a:r>
          </a:p>
          <a:p>
            <a:r>
              <a:t>session tree).</a:t>
            </a:r>
          </a:p>
          <a:p/>
          <a:p>
            <a:r>
              <a:t>WHEN TO RALPH:</a:t>
            </a:r>
          </a:p>
          <a:p>
            <a:r>
              <a:t>- You've corrected twice on the same point</a:t>
            </a:r>
          </a:p>
          <a:p>
            <a:r>
              <a:t>- Agent is "fixing" things you didn't ask it to touch</a:t>
            </a:r>
          </a:p>
          <a:p>
            <a:r>
              <a:t>- Long plan-mode investigation has bloated context past 60-70%</a:t>
            </a:r>
          </a:p>
          <a:p>
            <a:r>
              <a:t>- You feel the urge to write a long corrective prompt — that's the signal</a:t>
            </a:r>
          </a:p>
          <a:p/>
          <a:p>
            <a:r>
              <a:t>HOW (the loop):</a:t>
            </a:r>
          </a:p>
          <a:p>
            <a:r>
              <a:t>1. Capture state — git status, screenshot the plan, note goal in 3 lines</a:t>
            </a:r>
          </a:p>
          <a:p>
            <a:r>
              <a:t>2. /clear — drop the session</a:t>
            </a:r>
          </a:p>
          <a:p>
            <a:r>
              <a:t>3. Re-seed — fresh prompt with goal, current state, ONLY the files that</a:t>
            </a:r>
          </a:p>
          <a:p>
            <a:r>
              <a:t>   matter, the constraints from earlier</a:t>
            </a:r>
          </a:p>
          <a:p>
            <a:r>
              <a:t>4. Restart in plan mode — let it re-orient cleanly</a:t>
            </a:r>
          </a:p>
          <a:p/>
          <a:p>
            <a:r>
              <a:t>COUSIN TECHNIQUES:</a:t>
            </a:r>
          </a:p>
          <a:p>
            <a:r>
              <a:t>- /compact at ~70% — softer reset, summarizes session into smaller replacement</a:t>
            </a:r>
          </a:p>
          <a:p>
            <a:r>
              <a:t>- Plan-mode reset — exit plan, /clear, re-enter with plan as the seed</a:t>
            </a:r>
          </a:p>
          <a:p>
            <a:r>
              <a:t>- Worktree split — for parallel tracks, give each its own worktree</a:t>
            </a:r>
          </a:p>
          <a:p>
            <a:r>
              <a:t>- Sub-agent fork — for research detour, spawn a sub-agent so main context stays clean</a:t>
            </a:r>
          </a:p>
          <a:p/>
          <a:p>
            <a:r>
              <a:t>Quote to land: "If you find yourself writing a long corrective prompt,</a:t>
            </a:r>
          </a:p>
          <a:p>
            <a:r>
              <a:t>that's the signal to ralph instead."</a:t>
            </a:r>
          </a:p>
          <a:p/>
          <a:p>
            <a:r>
              <a:t>Transition: "Ralphing handles broken sessions. The bigger question is</a:t>
            </a:r>
          </a:p>
          <a:p>
            <a:r>
              <a:t>how to NOT have broken sessions — spec-driven development."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Decisions are cheap when made before code is written. Plan mode and</a:t>
            </a:r>
          </a:p>
          <a:p>
            <a:r>
              <a:t>specs are how you front-load the judgment.</a:t>
            </a:r>
          </a:p>
          <a:p/>
          <a:p>
            <a:r>
              <a:t>THE 6-STEP SPEC FLOW (for large tasks):</a:t>
            </a:r>
          </a:p>
          <a:p>
            <a:r>
              <a:t>1. Scope &amp; orient — what problem, whose, boundaries</a:t>
            </a:r>
          </a:p>
          <a:p>
            <a:r>
              <a:t>2. Gather context — read code, ADRs, similar past work (plan mode)</a:t>
            </a:r>
          </a:p>
          <a:p>
            <a:r>
              <a:t>3. Surface questions — agent asks, human decides; resolve before code</a:t>
            </a:r>
          </a:p>
          <a:p>
            <a:r>
              <a:t>4. Write the spec — goals, non-goals, API shape, data shape, invariants</a:t>
            </a:r>
          </a:p>
          <a:p>
            <a:r>
              <a:t>5. Break into tasks — each scope, acceptance criteria, dependencies</a:t>
            </a:r>
          </a:p>
          <a:p>
            <a:r>
              <a:t>6. Per-task loop (next slide)</a:t>
            </a:r>
          </a:p>
          <a:p/>
          <a:p>
            <a:r>
              <a:t>WHY PLAN MODE WORKS FOR REASONING MODELS:</a:t>
            </a:r>
          </a:p>
          <a:p>
            <a:r>
              <a:t>- Produces structured intermediate state the model was trained to consume</a:t>
            </a:r>
          </a:p>
          <a:p>
            <a:r>
              <a:t>- Per-task scoping matches the agentic loop the model was RL-trained on</a:t>
            </a:r>
          </a:p>
          <a:p>
            <a:r>
              <a:t>- Clean per-task context = fresh prompt-cache prefix → fast AND accurate</a:t>
            </a:r>
          </a:p>
          <a:p/>
          <a:p>
            <a:r>
              <a:t>PLAN MODE TACTICS:</a:t>
            </a:r>
          </a:p>
          <a:p>
            <a:r>
              <a:t>- Always plan-mode first for medium+ tasks. ~80% per CC creator.</a:t>
            </a:r>
          </a:p>
          <a:p>
            <a:r>
              <a:t>- Read the plan critically. "I'll figure out X during implementation"</a:t>
            </a:r>
          </a:p>
          <a:p>
            <a:r>
              <a:t>  will rabbit-hole. Push back; resolve X now.</a:t>
            </a:r>
          </a:p>
          <a:p>
            <a:r>
              <a:t>- Distill before exiting. 40-step plan = too big, split.</a:t>
            </a:r>
          </a:p>
          <a:p/>
          <a:p>
            <a:r>
              <a:t>Transition: "And the loop you run for each task."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11-STEP LOOP, mapped to 3 phases.</a:t>
            </a:r>
          </a:p>
          <a:p/>
          <a:p>
            <a:r>
              <a:t>REASON / PLAN (1-5): What to do?</a:t>
            </a:r>
          </a:p>
          <a:p>
            <a:r>
              <a:t>Goals, role, task breakdown, memory, metadata, tool selection.</a:t>
            </a:r>
          </a:p>
          <a:p/>
          <a:p>
            <a:r>
              <a:t>ACT / EXECUTE (6-7): How?</a:t>
            </a:r>
          </a:p>
          <a:p>
            <a:r>
              <a:t>Parameter conversion, multi-tool execution, error handling.</a:t>
            </a:r>
          </a:p>
          <a:p/>
          <a:p>
            <a:r>
              <a:t>VERIFY / OBSERVE (8-11): Integrate results.</a:t>
            </a:r>
          </a:p>
          <a:p>
            <a:r>
              <a:t>Extract &amp; integrate, judging/eval, compress, update memory, decide next loop.</a:t>
            </a:r>
          </a:p>
          <a:p/>
          <a:p>
            <a:r>
              <a:t>WHAT THE LOOP BUYS YOU:</a:t>
            </a:r>
          </a:p>
          <a:p>
            <a:r>
              <a:t>- DETERMINISM in an indeterministic system. Model is probabilistic; loop isn't.</a:t>
            </a:r>
          </a:p>
          <a:p>
            <a:r>
              <a:t>- RECOVERABILITY at any step.</a:t>
            </a:r>
          </a:p>
          <a:p>
            <a:r>
              <a:t>- REVIEWABLE UNITS — one task = one diff = one reasoning trail.</a:t>
            </a:r>
          </a:p>
          <a:p>
            <a:r>
              <a:t>- CACHE-FRIENDLY — each task = clean prefix → high cache hit rate.</a:t>
            </a:r>
          </a:p>
          <a:p>
            <a:r>
              <a:t>- TRAINS YOU — after 30 of these, you know which tasks the agent eats</a:t>
            </a:r>
          </a:p>
          <a:p>
            <a:r>
              <a:t>  whole and which need spec work.</a:t>
            </a:r>
          </a:p>
          <a:p/>
          <a:p>
            <a:r>
              <a:t>Transition: "OK — that's the toolkit. Let me show you what it actually</a:t>
            </a:r>
          </a:p>
          <a:p>
            <a:r>
              <a:t>looks like in my daily work. Six modes."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8. ~10 min. ALL LIVE DEMOS — minimal slides.</a:t>
            </a:r>
          </a:p>
          <a:p/>
          <a:p>
            <a:r>
              <a:t>Six modes I'll demo briefly:</a:t>
            </a:r>
          </a:p>
          <a:p>
            <a:r>
              <a:t>1. Research / generating learning content (Sather-K, vibe-haskell)</a:t>
            </a:r>
          </a:p>
          <a:p>
            <a:r>
              <a:t>2. Content generation (neo4j-skills, agent-integrations)</a:t>
            </a:r>
          </a:p>
          <a:p>
            <a:r>
              <a:t>3. Codebase research (claude-code analysis, cocoindex)</a:t>
            </a:r>
          </a:p>
          <a:p>
            <a:r>
              <a:t>4. Simple greenfield (openalex-neo4j, clauditopia)</a:t>
            </a:r>
          </a:p>
          <a:p>
            <a:r>
              <a:t>5. OSS contributions (inferrs, aura-cli)</a:t>
            </a:r>
          </a:p>
          <a:p>
            <a:r>
              <a:t>6. Larger greenfield (agent-intelligence, neo4j-skills cypher,</a:t>
            </a:r>
          </a:p>
          <a:p>
            <a:r>
              <a:t>   create-context-graph.dev)</a:t>
            </a:r>
          </a:p>
          <a:p/>
          <a:p>
            <a:r>
              <a:t>90 seconds each + intro/outro = ~10 minutes. Cut to 4 if running tight</a:t>
            </a:r>
          </a:p>
          <a:p>
            <a:r>
              <a:t>(drop 2 + 5).</a:t>
            </a:r>
          </a:p>
          <a:p/>
          <a:p>
            <a:r>
              <a:t>Pre-flight: terminals pre-opened, AGENTS.md visible per demo, fresh</a:t>
            </a:r>
          </a:p>
          <a:p>
            <a:r>
              <a:t>sessions. One failure ready per category — credibility comes from</a:t>
            </a:r>
          </a:p>
          <a:p>
            <a:r>
              <a:t>showing warts.</a:t>
            </a:r>
          </a:p>
          <a:p/>
          <a:p>
            <a:r>
              <a:t>Transition (after the demos):</a:t>
            </a:r>
          </a:p>
          <a:p>
            <a:r>
              <a:t>"Six modes, same toolbox. The mistakes are real and yours to make.</a:t>
            </a:r>
          </a:p>
          <a:p>
            <a:r>
              <a:t> Now you're going to make some — that's Exercise 2."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the time on the slide before the workshop.</a:t>
            </a:r>
          </a:p>
          <a:p/>
          <a:p>
            <a:r>
              <a:t>When the room comes back: Exercise 2. Different energy from Ex1 —</a:t>
            </a:r>
          </a:p>
          <a:p>
            <a:r>
              <a:t>this one is harder, longer, on real work, with the full discipline.</a:t>
            </a:r>
          </a:p>
          <a:p/>
          <a:p>
            <a:r>
              <a:t>While the room is on break, walk-the-room checklist visible:</a:t>
            </a:r>
          </a:p>
          <a:p>
            <a:r>
              <a:t>catch attendees skipping plan mode at minute 8, not minute 30.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10. The main event of the workshop.</a:t>
            </a:r>
          </a:p>
          <a:p/>
          <a:p>
            <a:r>
              <a:t>Frame: "Pick something non-trivial from your own world. Real ticket-shape</a:t>
            </a:r>
          </a:p>
          <a:p>
            <a:r>
              <a:t>work, multi-step, you can verify it worked. The agent will go off the</a:t>
            </a:r>
          </a:p>
          <a:p>
            <a:r>
              <a:t>rails on this one — that's not a bug, that's the lesson. We're going</a:t>
            </a:r>
          </a:p>
          <a:p>
            <a:r>
              <a:t>to use the discipline (spec → plan → subtasks → loop) to keep it on track."</a:t>
            </a:r>
          </a:p>
          <a:p/>
          <a:p>
            <a:r>
              <a:t>Hand out the printed 2-page handout (exercise-2-handout.md).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shapes. Pick whichever fits something you've actually got.</a:t>
            </a:r>
          </a:p>
          <a:p/>
          <a:p>
            <a:r>
              <a:t>Don't agonize for more than 2 minutes. The discipline matters more than</a:t>
            </a:r>
          </a:p>
          <a:p>
            <a:r>
              <a:t>the topic.</a:t>
            </a:r>
          </a:p>
          <a:p/>
          <a:p>
            <a:r>
              <a:t>Examples per shape:</a:t>
            </a:r>
          </a:p>
          <a:p>
            <a:r>
              <a:t>- BUG: race condition, memory leak, edge case the tests miss, regression</a:t>
            </a:r>
          </a:p>
          <a:p>
            <a:r>
              <a:t>- FEATURE: CSV export, new query parameter, admin toggle, rate limit</a:t>
            </a:r>
          </a:p>
          <a:p>
            <a:r>
              <a:t>- MCP: list_pipelines/get_status/restart for orchestration; run_query/</a:t>
            </a:r>
          </a:p>
          <a:p>
            <a:r>
              <a:t>  list_databases/get_schema for a DB; list_users/get_audit for admin</a:t>
            </a:r>
          </a:p>
          <a:p>
            <a:r>
              <a:t>- PORT: Go CLI wrapping an HTTP endpoint; Rust port of a hot Python</a:t>
            </a:r>
          </a:p>
          <a:p>
            <a:r>
              <a:t>  utility; TypeScript MCP server when you usually write Java</a:t>
            </a:r>
          </a:p>
          <a:p/>
          <a:p>
            <a:r>
              <a:t>Transition: "Sixty minutes. Here's the rhythm — and yes the setup</a:t>
            </a:r>
          </a:p>
          <a:p>
            <a:r>
              <a:t>feels long. That's the lesson."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 math: 25 min setup discipline + ~5 min × 5 subtasks (25 min) +</a:t>
            </a:r>
          </a:p>
          <a:p>
            <a:r>
              <a:t>5 min review + slack = 60 min.</a:t>
            </a:r>
          </a:p>
          <a:p/>
          <a:p>
            <a:r>
              <a:t>THE BREAKDOWN (visible in their handout the whole hour):</a:t>
            </a:r>
          </a:p>
          <a:p/>
          <a:p>
            <a:r>
              <a:t>0:00–0:05  Pick task. Open fresh repo / branch.</a:t>
            </a:r>
          </a:p>
          <a:p>
            <a:r>
              <a:t>0:05–0:15  SETUP — AGENTS.md, tools, environment</a:t>
            </a:r>
          </a:p>
          <a:p>
            <a:r>
              <a:t>0:15–0:25  PLAN MODE on the chosen task</a:t>
            </a:r>
          </a:p>
          <a:p>
            <a:r>
              <a:t>0:25–0:35  TASK BREAKDOWN (agent does, you verify)</a:t>
            </a:r>
          </a:p>
          <a:p>
            <a:r>
              <a:t>           ≤5 subtasks for 60 min total; aim for 5-7</a:t>
            </a:r>
          </a:p>
          <a:p>
            <a:r>
              <a:t>0:35–0:55  EXECUTION LOOP (~5 min × ≤5 subtasks)</a:t>
            </a:r>
          </a:p>
          <a:p>
            <a:r>
              <a:t>           For each: plan → confirm → implement → tests → diff → commit</a:t>
            </a:r>
          </a:p>
          <a:p>
            <a:r>
              <a:t>           Ralph if stuck twice. Don't reason your way out.</a:t>
            </a:r>
          </a:p>
          <a:p>
            <a:r>
              <a:t>0:55–1:00  REVIEW</a:t>
            </a:r>
          </a:p>
          <a:p/>
          <a:p>
            <a:r>
              <a:t>Time announcements: 0:15, 0:25, 0:35, 0:55. Walk the room during setup</a:t>
            </a:r>
          </a:p>
          <a:p>
            <a:r>
              <a:t>— most attendees skip AGENTS.md or stuff it with too much. Catch it</a:t>
            </a:r>
          </a:p>
          <a:p>
            <a:r>
              <a:t>early.</a:t>
            </a:r>
          </a:p>
          <a:p/>
          <a:p>
            <a:r>
              <a:t>Transition: "Five rules. Read these out loud once before they start."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on screen. Other two:</a:t>
            </a:r>
          </a:p>
          <a:p/>
          <a:p>
            <a:r>
              <a:t>4. RALPH AFTER TWO CORRECTIONS. /clear, restate goal cleanly, restart.</a:t>
            </a:r>
          </a:p>
          <a:p>
            <a:r>
              <a:t>   Third correction is rarely the charm. The signal: you're typing a</a:t>
            </a:r>
          </a:p>
          <a:p>
            <a:r>
              <a:t>   long corrective prompt — stop, ralph instead.</a:t>
            </a:r>
          </a:p>
          <a:p/>
          <a:p>
            <a:r>
              <a:t>5. TIME-BOX EACH SUBTASK AT 5 MIN. If a subtask is taking 10, either</a:t>
            </a:r>
          </a:p>
          <a:p>
            <a:r>
              <a:t>   it was actually 2 subtasks, or the scope was wrong. Stop, revise</a:t>
            </a:r>
          </a:p>
          <a:p>
            <a:r>
              <a:t>   the breakdown, restart.</a:t>
            </a:r>
          </a:p>
          <a:p/>
          <a:p>
            <a:r>
              <a:t>Quote to land: "If you find yourself writing a long corrective prompt,</a:t>
            </a:r>
          </a:p>
          <a:p>
            <a:r>
              <a:t>that's the signal to ralph instead."</a:t>
            </a:r>
          </a:p>
          <a:p/>
          <a:p>
            <a:r>
              <a:t>Transition: "Sixty minutes. I'll walk the room. Go."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5 minutes of Exercise 2.</a:t>
            </a:r>
          </a:p>
          <a:p/>
          <a:p>
            <a:r>
              <a:t>3 questions, 30 seconds each:</a:t>
            </a:r>
          </a:p>
          <a:p>
            <a:r>
              <a:t>1. What was your task?</a:t>
            </a:r>
          </a:p>
          <a:p>
            <a:r>
              <a:t>2. How many subtasks landed?</a:t>
            </a:r>
          </a:p>
          <a:p>
            <a:r>
              <a:t>3. Where did the discipline break down — or save you?</a:t>
            </a:r>
          </a:p>
          <a:p/>
          <a:p>
            <a:r>
              <a:t>Three volunteers if shy — quality over completeness.</a:t>
            </a:r>
          </a:p>
          <a:p/>
          <a:p>
            <a:r>
              <a:t>Anti-patterns to surface in wrap-up if they appear:</a:t>
            </a:r>
          </a:p>
          <a:p>
            <a:r>
              <a:t>- "I just told it what to do" — no plan, no breakdown, lots of code</a:t>
            </a:r>
          </a:p>
          <a:p>
            <a:r>
              <a:t>- "It kept fighting me on X" — didn't ralph</a:t>
            </a:r>
          </a:p>
          <a:p>
            <a:r>
              <a:t>- "My AGENTS.md was 200 lines" — over-engineered upfront</a:t>
            </a:r>
          </a:p>
          <a:p>
            <a:r>
              <a:t>- "I let it run and it did way more than I asked" — no scope discipline</a:t>
            </a:r>
          </a:p>
          <a:p>
            <a:r>
              <a:t>- "I didn't commit and now I can't roll back" — broke one-task-one-commit</a:t>
            </a:r>
          </a:p>
          <a:p/>
          <a:p>
            <a:r>
              <a:t>Bridge into mental-safety:</a:t>
            </a:r>
          </a:p>
          <a:p>
            <a:r>
              <a:t>"We've talked the whole time about technique. Before we open Q&amp;A, I</a:t>
            </a:r>
          </a:p>
          <a:p>
            <a:r>
              <a:t>want to put three things on the table that are probably already in</a:t>
            </a:r>
          </a:p>
          <a:p>
            <a:r>
              <a:t>the room — the COST of all this on us as humans."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11a. ~5-7 minutes before opening the floor.</a:t>
            </a:r>
          </a:p>
          <a:p/>
          <a:p>
            <a:r>
              <a:t>Frame: "These are questions I'm putting on the table, not answering.</a:t>
            </a:r>
          </a:p>
          <a:p>
            <a:r>
              <a:t>None of this has clean answers. The conversation matters more than</a:t>
            </a:r>
          </a:p>
          <a:p>
            <a:r>
              <a:t>the optimization."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unspoken half of the productivity story.</a:t>
            </a:r>
          </a:p>
          <a:p/>
          <a:p>
            <a:r>
              <a:t>THE SKEPTIC IS RIGHT ABOUT SOMETHING. Cognitive exhaustion from</a:t>
            </a:r>
          </a:p>
          <a:p>
            <a:r>
              <a:t>always-on AI work is real, documented (BCG, Yegge, Sau Sheong),</a:t>
            </a:r>
          </a:p>
          <a:p>
            <a:r>
              <a:t>and not solved by a better tool.</a:t>
            </a:r>
          </a:p>
          <a:p/>
          <a:p>
            <a:r>
              <a:t>Sau Sheong (Singapore GovTech): "Humanity is not ready for this much</a:t>
            </a:r>
          </a:p>
          <a:p>
            <a:r>
              <a:t>software." The HUMANS aren't ready, regardless of tooling.</a:t>
            </a:r>
          </a:p>
          <a:p/>
          <a:p>
            <a:r>
              <a:t>WHAT HELPS:</a:t>
            </a:r>
          </a:p>
          <a:p>
            <a:r>
              <a:t>- AI-free hours / days. Treat them like exercise.</a:t>
            </a:r>
          </a:p>
          <a:p>
            <a:r>
              <a:t>- Pair with humans on hard work. Don't let the agent be your only collaborator.</a:t>
            </a:r>
          </a:p>
          <a:p>
            <a:r>
              <a:t>- Pace across weeks, not turns. The agent doesn't care how fast you go.</a:t>
            </a:r>
          </a:p>
          <a:p/>
          <a:p>
            <a:r>
              <a:t>Transition: "Different career stages face very different situations.</a:t>
            </a:r>
          </a:p>
          <a:p>
            <a:r>
              <a:t>Simon's framing is the cleanest."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SENIOR — your judgment is more valuable than ever, but you're now</a:t>
            </a:r>
          </a:p>
          <a:p>
            <a:r>
              <a:t>reviewer-first. Reviewing well is a different skill than writing well;</a:t>
            </a:r>
          </a:p>
          <a:p>
            <a:r>
              <a:t>most of us are out of practice.</a:t>
            </a:r>
          </a:p>
          <a:p/>
          <a:p>
            <a:r>
              <a:t>MID-CAREER — fastest-evolving role. TRAP: skipping the "do it the hard</a:t>
            </a:r>
          </a:p>
          <a:p>
            <a:r>
              <a:t>way once" step. Senior engineers can verify because they've done it.</a:t>
            </a:r>
          </a:p>
          <a:p/>
          <a:p>
            <a:r>
              <a:t>JUNIOR — Simon's point: the agent can do what a junior can do. Real</a:t>
            </a:r>
          </a:p>
          <a:p>
            <a:r>
              <a:t>career problem, don't pretend it isn't. The traditional "learn by</a:t>
            </a:r>
          </a:p>
          <a:p>
            <a:r>
              <a:t>doing the boring tasks" path is broken.</a:t>
            </a:r>
          </a:p>
          <a:p>
            <a:r>
              <a:t>TRAP: "You can't tell the agent did it wrong if you couldn't have done it right."</a:t>
            </a:r>
          </a:p>
          <a:p/>
          <a:p>
            <a:r>
              <a:t>CLAIRE VO ON LENNY: "I know how to make an employee successful. That</a:t>
            </a:r>
          </a:p>
          <a:p>
            <a:r>
              <a:t>is what you need to make these agents work. You don't need the</a:t>
            </a:r>
          </a:p>
          <a:p>
            <a:r>
              <a:t>technical skills. You need role scoping, design, voice. The rest of</a:t>
            </a:r>
          </a:p>
          <a:p>
            <a:r>
              <a:t>it we can give to ClaudeCode to figure out."</a:t>
            </a:r>
          </a:p>
          <a:p/>
          <a:p>
            <a:r>
              <a:t>Manager skill is the missing frame. Many seasoned engineers have the</a:t>
            </a:r>
          </a:p>
          <a:p>
            <a:r>
              <a:t>muscle from leading teams; just need to point it at a new target.</a:t>
            </a:r>
          </a:p>
          <a:p/>
          <a:p>
            <a:r>
              <a:t>Transition: "How to stay sharp — three things you can do this week."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 maintenance:</a:t>
            </a:r>
          </a:p>
          <a:p>
            <a:r>
              <a:t>- Read more code than you generate. Agents shift the ratio.</a:t>
            </a:r>
          </a:p>
          <a:p>
            <a:r>
              <a:t>- Code reviews matter more, not less. Slow them down on purpose.</a:t>
            </a:r>
          </a:p>
          <a:p>
            <a:r>
              <a:t>- Measure what's YOURS — what did you understand, choose, stand behind?</a:t>
            </a:r>
          </a:p>
          <a:p/>
          <a:p>
            <a:r>
              <a:t>Career questions worth being honest about:</a:t>
            </a:r>
          </a:p>
          <a:p>
            <a:r>
              <a:t>- Will this replace engineers? Probably not in aggregate (Jevons).</a:t>
            </a:r>
          </a:p>
          <a:p>
            <a:r>
              <a:t>  Specific roles will compress. Judgment-heavy roles benefit.</a:t>
            </a:r>
          </a:p>
          <a:p>
            <a:r>
              <a:t>- The next generation? We don't have a clean answer yet. WE — the</a:t>
            </a:r>
          </a:p>
          <a:p>
            <a:r>
              <a:t>  senior practitioners in this room — are the ones who get to figure</a:t>
            </a:r>
          </a:p>
          <a:p>
            <a:r>
              <a:t>  it out. Not the platform vendors. Not the model labs. Us.</a:t>
            </a:r>
          </a:p>
          <a:p/>
          <a:p>
            <a:r>
              <a:t>Transition: "These three slides aren't questions I'm answering — they're</a:t>
            </a:r>
          </a:p>
          <a:p>
            <a:r>
              <a:t>questions I'm putting on the table. So — what would you do Monday morning?"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floor. ~18-20 minutes.</a:t>
            </a:r>
          </a:p>
          <a:p/>
          <a:p>
            <a:r>
              <a:t>My OPENING question (always ask, even if hands are up):</a:t>
            </a:r>
          </a:p>
          <a:p>
            <a:r>
              <a:t>"Before I take questions — let me ask one back. What's the thing you</a:t>
            </a:r>
          </a:p>
          <a:p>
            <a:r>
              <a:t>saw or did today that you want to try Monday morning? Just shout it out."</a:t>
            </a:r>
          </a:p>
          <a:p/>
          <a:p>
            <a:r>
              <a:t>This buys 30 seconds of genuine engagement, surfaces what landed,</a:t>
            </a:r>
          </a:p>
          <a:p>
            <a:r>
              <a:t>signals conversation not lecture. Tells me what to emphasize in closing.</a:t>
            </a:r>
          </a:p>
          <a:p/>
          <a:p>
            <a:r>
              <a:t>HAND-RAISER QUESTIONS if room stalls (use sparingly):</a:t>
            </a:r>
          </a:p>
          <a:p/>
          <a:p>
            <a:r>
              <a:t>Easy on-ramps:</a:t>
            </a:r>
          </a:p>
          <a:p>
            <a:r>
              <a:t>- "Who's about to switch their primary harness based on something today? To what?"</a:t>
            </a:r>
          </a:p>
          <a:p>
            <a:r>
              <a:t>- "What's something the agent has done well that genuinely surprised you?"</a:t>
            </a:r>
          </a:p>
          <a:p>
            <a:r>
              <a:t>- "What's the failure mode that bites you most? What did you change?"</a:t>
            </a:r>
          </a:p>
          <a:p/>
          <a:p>
            <a:r>
              <a:t>Mid-depth:</a:t>
            </a:r>
          </a:p>
          <a:p>
            <a:r>
              <a:t>- "Where in your stack do you NOT use AI today? Why?"</a:t>
            </a:r>
          </a:p>
          <a:p>
            <a:r>
              <a:t>- "Skeptics — what would convince you to try this on production work?"</a:t>
            </a:r>
          </a:p>
          <a:p>
            <a:r>
              <a:t>- "Team leads: how would you onboard a new team member to agentic workflows?"</a:t>
            </a:r>
          </a:p>
          <a:p>
            <a:r>
              <a:t>- "How are you handling reviewing agent-authored PRs at scale?"</a:t>
            </a:r>
          </a:p>
          <a:p>
            <a:r>
              <a:t>- "What do you actually MEASURE to know your AI tooling is helping?"</a:t>
            </a:r>
          </a:p>
          <a:p/>
          <a:p>
            <a:r>
              <a:t>Deeper:</a:t>
            </a:r>
          </a:p>
          <a:p>
            <a:r>
              <a:t>- "Has the agent ever proposed an architecture that was technically right</a:t>
            </a:r>
          </a:p>
          <a:p>
            <a:r>
              <a:t>  but wrong for your team / product? How did you handle it?"</a:t>
            </a:r>
          </a:p>
          <a:p>
            <a:r>
              <a:t>- "What capability do you most want from these tools in the next 12 months</a:t>
            </a:r>
          </a:p>
          <a:p>
            <a:r>
              <a:t>  that doesn't exist yet?"</a:t>
            </a:r>
          </a:p>
          <a:p>
            <a:r>
              <a:t>- "How is YOUR JOB different than a year ago? Better, worse, both?"</a:t>
            </a:r>
          </a:p>
          <a:p/>
          <a:p>
            <a:r>
              <a:t>Closing redirect: "If you take exactly ONE thing from today and apply it</a:t>
            </a:r>
          </a:p>
          <a:p>
            <a:r>
              <a:t>next week, what is it?"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Pivot when Q&amp;A winds down (signal: third silence &gt; 5 sec).</a:t>
            </a:r>
          </a:p>
          <a:p/>
          <a:p>
            <a:r>
              <a:t>Walk the three:</a:t>
            </a:r>
          </a:p>
          <a:p/>
          <a:p>
            <a:r>
              <a:t>ONE — the practices that work with agents are the practices that always</a:t>
            </a:r>
          </a:p>
          <a:p>
            <a:r>
              <a:t>worked with humans. Spec, test, review, commit small. We just couldn't</a:t>
            </a:r>
          </a:p>
          <a:p>
            <a:r>
              <a:t>afford the ceremony before.</a:t>
            </a:r>
          </a:p>
          <a:p/>
          <a:p>
            <a:r>
              <a:t>TWO — the system you build around the model is the moat. The model gets</a:t>
            </a:r>
          </a:p>
          <a:p>
            <a:r>
              <a:t>better every six months. The system is yours.</a:t>
            </a:r>
          </a:p>
          <a:p/>
          <a:p>
            <a:r>
              <a:t>THREE — the failure modes are real, the discipline is real, and the</a:t>
            </a:r>
          </a:p>
          <a:p>
            <a:r>
              <a:t>leverage is real. Don't dismiss any of the three.</a:t>
            </a:r>
          </a:p>
          <a:p/>
          <a:p>
            <a:r>
              <a:t>Transition: "Resources are in the QR — take a picture before you stand</a:t>
            </a:r>
          </a:p>
          <a:p>
            <a:r>
              <a:t>up. Thank you."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slide. Hold for ~30 seconds while people scan the QR / picture</a:t>
            </a:r>
          </a:p>
          <a:p>
            <a:r>
              <a:t>the slide. Don't rush it.</a:t>
            </a:r>
          </a:p>
          <a:p/>
          <a:p>
            <a:r>
              <a:t>The QR code (assets/qrcode-github-jexp-agentic-engineering.png) points</a:t>
            </a:r>
          </a:p>
          <a:p>
            <a:r>
              <a:t>to the public repo with all materials. Add it to this slide in the</a:t>
            </a:r>
          </a:p>
          <a:p>
            <a:r>
              <a:t>PowerPoint editor (the closing template has a space for it).</a:t>
            </a:r>
          </a:p>
          <a:p/>
          <a:p>
            <a:r>
              <a:t>The repo includes:</a:t>
            </a:r>
          </a:p>
          <a:p>
            <a:r>
              <a:t>- workshop-resources.md (full reading list, MCP server starters,</a:t>
            </a:r>
          </a:p>
          <a:p>
            <a:r>
              <a:t>  practitioners and craftspeople to follow)</a:t>
            </a:r>
          </a:p>
          <a:p>
            <a:r>
              <a:t>- All section docs</a:t>
            </a:r>
          </a:p>
          <a:p>
            <a:r>
              <a:t>- Coding-agents/ — 16 per-tool deep dives</a:t>
            </a:r>
          </a:p>
          <a:p>
            <a:r>
              <a:t>- Mining docs from the CE deck and Simon's blog</a:t>
            </a:r>
          </a:p>
          <a:p/>
          <a:p>
            <a:r>
              <a:t>After the workshop is over: stick around for hallway conversations.</a:t>
            </a:r>
          </a:p>
          <a:p>
            <a:r>
              <a:t>The questions people bring up after the talk are usually the most</a:t>
            </a:r>
          </a:p>
          <a:p>
            <a:r>
              <a:t>interesting ones.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Opening Slide 1">
  <p:cSld name="CUSTOM_1_1">
    <p:bg>
      <p:bgPr>
        <a:solidFill>
          <a:schemeClr val="accen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12" name="Google Shape;12;p2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Opening Slide 2">
  <p:cSld name="CUSTOM_1_1_2">
    <p:bg>
      <p:bgPr>
        <a:solidFill>
          <a:srgbClr val="21493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9" name="Google Shape;19;p3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20" name="Google Shape;20;p3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Opening Slide 3">
  <p:cSld name="CUSTOM_1_1_2_1">
    <p:bg>
      <p:bgPr>
        <a:solidFill>
          <a:schemeClr val="accen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7" name="Google Shape;27;p4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28" name="Google Shape;28;p4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30" name="Google Shape;30;p4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Agenda Blank">
  <p:cSld name="CUSTOM_4_3">
    <p:bg>
      <p:bgPr>
        <a:solidFill>
          <a:schemeClr val="accen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078992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6" name="Google Shape;36;p5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grpSp>
        <p:nvGrpSpPr>
          <p:cNvPr id="38" name="Google Shape;38;p5"/>
          <p:cNvGrpSpPr/>
          <p:nvPr/>
        </p:nvGrpSpPr>
        <p:grpSpPr>
          <a:xfrm>
            <a:off x="-700549" y="-429547"/>
            <a:ext cx="1783349" cy="5717641"/>
            <a:chOff x="-700549" y="-429547"/>
            <a:chExt cx="1783349" cy="5717641"/>
          </a:xfrm>
        </p:grpSpPr>
        <p:sp>
          <p:nvSpPr>
            <p:cNvPr id="39" name="Google Shape;39;p5"/>
            <p:cNvSpPr/>
            <p:nvPr/>
          </p:nvSpPr>
          <p:spPr>
            <a:xfrm rot="5400000">
              <a:off x="-230247" y="2817535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5400000">
              <a:off x="203576" y="2068362"/>
              <a:ext cx="576782" cy="642785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 flipH="1" rot="5400000">
              <a:off x="-472882" y="2401322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"/>
            <p:cNvSpPr/>
            <p:nvPr/>
          </p:nvSpPr>
          <p:spPr>
            <a:xfrm rot="-5400000">
              <a:off x="392790" y="-237107"/>
              <a:ext cx="438449" cy="400109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 rot="-1799936">
              <a:off x="-32482" y="-346736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 rot="1799936">
              <a:off x="-152576" y="74570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 rot="8999897">
              <a:off x="-41417" y="734235"/>
              <a:ext cx="575711" cy="40013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-9000064">
              <a:off x="324154" y="1218816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 rot="-1799936">
              <a:off x="204132" y="1707618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1799936">
              <a:off x="-160512" y="1212567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8999897">
              <a:off x="-101650" y="1622636"/>
              <a:ext cx="576784" cy="642788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rot="-9000064">
              <a:off x="383978" y="2664955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rot="-5400000">
              <a:off x="203601" y="3324189"/>
              <a:ext cx="576749" cy="642749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rot="-1799936">
              <a:off x="262507" y="3911506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1799936">
              <a:off x="262492" y="4544192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 rot="8999897">
              <a:off x="-170840" y="4103279"/>
              <a:ext cx="715137" cy="400134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rot="-1800033">
              <a:off x="-538781" y="375854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rot="1800033">
              <a:off x="-648425" y="319295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8999897">
              <a:off x="-518949" y="453536"/>
              <a:ext cx="576292" cy="400134"/>
            </a:xfrm>
            <a:custGeom>
              <a:rect b="b" l="l" r="r" t="t"/>
              <a:pathLst>
                <a:path extrusionOk="0" h="8954" w="12896">
                  <a:moveTo>
                    <a:pt x="8002" y="1"/>
                  </a:moveTo>
                  <a:cubicBezTo>
                    <a:pt x="7680" y="1"/>
                    <a:pt x="7383" y="72"/>
                    <a:pt x="7109" y="239"/>
                  </a:cubicBezTo>
                  <a:cubicBezTo>
                    <a:pt x="6942" y="322"/>
                    <a:pt x="6776" y="465"/>
                    <a:pt x="6656" y="608"/>
                  </a:cubicBezTo>
                  <a:cubicBezTo>
                    <a:pt x="6113" y="1228"/>
                    <a:pt x="5505" y="1538"/>
                    <a:pt x="4896" y="1538"/>
                  </a:cubicBezTo>
                  <a:cubicBezTo>
                    <a:pt x="4290" y="1538"/>
                    <a:pt x="3685" y="1231"/>
                    <a:pt x="3144" y="620"/>
                  </a:cubicBezTo>
                  <a:cubicBezTo>
                    <a:pt x="3013" y="477"/>
                    <a:pt x="2858" y="346"/>
                    <a:pt x="2680" y="251"/>
                  </a:cubicBezTo>
                  <a:cubicBezTo>
                    <a:pt x="2418" y="108"/>
                    <a:pt x="2120" y="12"/>
                    <a:pt x="1787" y="12"/>
                  </a:cubicBezTo>
                  <a:cubicBezTo>
                    <a:pt x="1477" y="12"/>
                    <a:pt x="1180" y="84"/>
                    <a:pt x="894" y="251"/>
                  </a:cubicBezTo>
                  <a:cubicBezTo>
                    <a:pt x="632" y="405"/>
                    <a:pt x="406" y="620"/>
                    <a:pt x="239" y="905"/>
                  </a:cubicBezTo>
                  <a:cubicBezTo>
                    <a:pt x="96" y="1167"/>
                    <a:pt x="1" y="1465"/>
                    <a:pt x="1" y="1798"/>
                  </a:cubicBezTo>
                  <a:cubicBezTo>
                    <a:pt x="1" y="2108"/>
                    <a:pt x="84" y="2406"/>
                    <a:pt x="239" y="2691"/>
                  </a:cubicBezTo>
                  <a:cubicBezTo>
                    <a:pt x="394" y="2953"/>
                    <a:pt x="620" y="3179"/>
                    <a:pt x="894" y="3346"/>
                  </a:cubicBezTo>
                  <a:cubicBezTo>
                    <a:pt x="1168" y="3489"/>
                    <a:pt x="1465" y="3584"/>
                    <a:pt x="1787" y="3584"/>
                  </a:cubicBezTo>
                  <a:cubicBezTo>
                    <a:pt x="2108" y="3584"/>
                    <a:pt x="2406" y="3513"/>
                    <a:pt x="2680" y="3346"/>
                  </a:cubicBezTo>
                  <a:cubicBezTo>
                    <a:pt x="2846" y="3239"/>
                    <a:pt x="3013" y="3120"/>
                    <a:pt x="3144" y="2977"/>
                  </a:cubicBezTo>
                  <a:cubicBezTo>
                    <a:pt x="3687" y="2363"/>
                    <a:pt x="4304" y="2048"/>
                    <a:pt x="4914" y="2048"/>
                  </a:cubicBezTo>
                  <a:cubicBezTo>
                    <a:pt x="5120" y="2048"/>
                    <a:pt x="5324" y="2084"/>
                    <a:pt x="5525" y="2156"/>
                  </a:cubicBezTo>
                  <a:cubicBezTo>
                    <a:pt x="6192" y="2394"/>
                    <a:pt x="6597" y="3060"/>
                    <a:pt x="6466" y="3763"/>
                  </a:cubicBezTo>
                  <a:cubicBezTo>
                    <a:pt x="6299" y="4596"/>
                    <a:pt x="5644" y="5192"/>
                    <a:pt x="4561" y="5418"/>
                  </a:cubicBezTo>
                  <a:cubicBezTo>
                    <a:pt x="4370" y="5454"/>
                    <a:pt x="4192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4" y="6549"/>
                    <a:pt x="3108" y="6847"/>
                    <a:pt x="3108" y="7168"/>
                  </a:cubicBezTo>
                  <a:cubicBezTo>
                    <a:pt x="3108" y="7478"/>
                    <a:pt x="3192" y="7775"/>
                    <a:pt x="3358" y="8061"/>
                  </a:cubicBezTo>
                  <a:cubicBezTo>
                    <a:pt x="3501" y="8335"/>
                    <a:pt x="3728" y="8549"/>
                    <a:pt x="4001" y="8716"/>
                  </a:cubicBezTo>
                  <a:cubicBezTo>
                    <a:pt x="4275" y="8871"/>
                    <a:pt x="4573" y="8954"/>
                    <a:pt x="4894" y="8954"/>
                  </a:cubicBezTo>
                  <a:cubicBezTo>
                    <a:pt x="5216" y="8954"/>
                    <a:pt x="5513" y="8883"/>
                    <a:pt x="5787" y="8716"/>
                  </a:cubicBezTo>
                  <a:cubicBezTo>
                    <a:pt x="5954" y="8633"/>
                    <a:pt x="6121" y="8490"/>
                    <a:pt x="6240" y="8347"/>
                  </a:cubicBezTo>
                  <a:cubicBezTo>
                    <a:pt x="6783" y="7726"/>
                    <a:pt x="7392" y="7417"/>
                    <a:pt x="8000" y="7417"/>
                  </a:cubicBezTo>
                  <a:cubicBezTo>
                    <a:pt x="8606" y="7417"/>
                    <a:pt x="9212" y="7723"/>
                    <a:pt x="9752" y="8335"/>
                  </a:cubicBezTo>
                  <a:cubicBezTo>
                    <a:pt x="9883" y="8478"/>
                    <a:pt x="10038" y="8609"/>
                    <a:pt x="10216" y="8704"/>
                  </a:cubicBezTo>
                  <a:cubicBezTo>
                    <a:pt x="10478" y="8847"/>
                    <a:pt x="10776" y="8942"/>
                    <a:pt x="11109" y="8942"/>
                  </a:cubicBezTo>
                  <a:cubicBezTo>
                    <a:pt x="11419" y="8942"/>
                    <a:pt x="11717" y="8871"/>
                    <a:pt x="12002" y="8704"/>
                  </a:cubicBezTo>
                  <a:cubicBezTo>
                    <a:pt x="12264" y="8549"/>
                    <a:pt x="12491" y="8335"/>
                    <a:pt x="12657" y="8049"/>
                  </a:cubicBezTo>
                  <a:cubicBezTo>
                    <a:pt x="12800" y="7775"/>
                    <a:pt x="12895" y="7478"/>
                    <a:pt x="12895" y="7156"/>
                  </a:cubicBezTo>
                  <a:cubicBezTo>
                    <a:pt x="12895" y="6847"/>
                    <a:pt x="12824" y="6549"/>
                    <a:pt x="12657" y="6263"/>
                  </a:cubicBezTo>
                  <a:cubicBezTo>
                    <a:pt x="12502" y="5989"/>
                    <a:pt x="12288" y="5775"/>
                    <a:pt x="12002" y="5608"/>
                  </a:cubicBezTo>
                  <a:cubicBezTo>
                    <a:pt x="11729" y="5454"/>
                    <a:pt x="11431" y="5370"/>
                    <a:pt x="11109" y="5370"/>
                  </a:cubicBezTo>
                  <a:cubicBezTo>
                    <a:pt x="10800" y="5370"/>
                    <a:pt x="10502" y="5442"/>
                    <a:pt x="10216" y="5608"/>
                  </a:cubicBezTo>
                  <a:cubicBezTo>
                    <a:pt x="10050" y="5715"/>
                    <a:pt x="9883" y="5835"/>
                    <a:pt x="9752" y="5977"/>
                  </a:cubicBezTo>
                  <a:cubicBezTo>
                    <a:pt x="9209" y="6592"/>
                    <a:pt x="8592" y="6907"/>
                    <a:pt x="7982" y="6907"/>
                  </a:cubicBezTo>
                  <a:cubicBezTo>
                    <a:pt x="7777" y="6907"/>
                    <a:pt x="7572" y="6871"/>
                    <a:pt x="7371" y="6799"/>
                  </a:cubicBezTo>
                  <a:cubicBezTo>
                    <a:pt x="6704" y="6561"/>
                    <a:pt x="6299" y="5894"/>
                    <a:pt x="6430" y="5180"/>
                  </a:cubicBezTo>
                  <a:cubicBezTo>
                    <a:pt x="6597" y="4346"/>
                    <a:pt x="7240" y="3751"/>
                    <a:pt x="8323" y="3525"/>
                  </a:cubicBezTo>
                  <a:lnTo>
                    <a:pt x="8335" y="3525"/>
                  </a:lnTo>
                  <a:cubicBezTo>
                    <a:pt x="8538" y="3477"/>
                    <a:pt x="8716" y="3418"/>
                    <a:pt x="8895" y="3310"/>
                  </a:cubicBezTo>
                  <a:cubicBezTo>
                    <a:pt x="9157" y="3168"/>
                    <a:pt x="9383" y="2941"/>
                    <a:pt x="9550" y="2656"/>
                  </a:cubicBezTo>
                  <a:cubicBezTo>
                    <a:pt x="9693" y="2394"/>
                    <a:pt x="9788" y="2096"/>
                    <a:pt x="9788" y="1763"/>
                  </a:cubicBezTo>
                  <a:cubicBezTo>
                    <a:pt x="9788" y="1453"/>
                    <a:pt x="9704" y="1155"/>
                    <a:pt x="9550" y="870"/>
                  </a:cubicBezTo>
                  <a:cubicBezTo>
                    <a:pt x="9395" y="608"/>
                    <a:pt x="9169" y="382"/>
                    <a:pt x="8895" y="215"/>
                  </a:cubicBezTo>
                  <a:cubicBezTo>
                    <a:pt x="8633" y="84"/>
                    <a:pt x="8323" y="1"/>
                    <a:pt x="8002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8999827">
              <a:off x="-281544" y="4491824"/>
              <a:ext cx="575755" cy="40016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rot="-5400000">
              <a:off x="78478" y="386084"/>
              <a:ext cx="575677" cy="400109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 rot="5400000">
              <a:off x="324149" y="235961"/>
              <a:ext cx="575709" cy="40013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Agenda 2 column">
  <p:cSld name="CUSTOM_4_2_2">
    <p:bg>
      <p:bgPr>
        <a:solidFill>
          <a:schemeClr val="accen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>
            <p:ph type="title"/>
          </p:nvPr>
        </p:nvSpPr>
        <p:spPr>
          <a:xfrm>
            <a:off x="1078992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6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5" name="Google Shape;65;p6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grpSp>
        <p:nvGrpSpPr>
          <p:cNvPr id="67" name="Google Shape;67;p6"/>
          <p:cNvGrpSpPr/>
          <p:nvPr/>
        </p:nvGrpSpPr>
        <p:grpSpPr>
          <a:xfrm>
            <a:off x="-700549" y="-429547"/>
            <a:ext cx="1783349" cy="5717641"/>
            <a:chOff x="-700549" y="-429547"/>
            <a:chExt cx="1783349" cy="5717641"/>
          </a:xfrm>
        </p:grpSpPr>
        <p:sp>
          <p:nvSpPr>
            <p:cNvPr id="68" name="Google Shape;68;p6"/>
            <p:cNvSpPr/>
            <p:nvPr/>
          </p:nvSpPr>
          <p:spPr>
            <a:xfrm rot="5400000">
              <a:off x="-230247" y="2817535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rot="5400000">
              <a:off x="203576" y="2068362"/>
              <a:ext cx="576782" cy="642785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flipH="1" rot="5400000">
              <a:off x="-472882" y="2401322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 rot="-5400000">
              <a:off x="392790" y="-237107"/>
              <a:ext cx="438449" cy="400109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 rot="-1799936">
              <a:off x="-32482" y="-346736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 rot="1799936">
              <a:off x="-152576" y="74570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 rot="8999897">
              <a:off x="-41417" y="734235"/>
              <a:ext cx="575711" cy="40013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rot="-9000064">
              <a:off x="324154" y="1218816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 rot="-1799936">
              <a:off x="204132" y="1707618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 rot="1799936">
              <a:off x="-160512" y="1212567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 rot="8999897">
              <a:off x="-101650" y="1622636"/>
              <a:ext cx="576784" cy="642788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 rot="-9000064">
              <a:off x="383978" y="2664955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 rot="-5400000">
              <a:off x="203601" y="3324189"/>
              <a:ext cx="576749" cy="642749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 rot="-1799936">
              <a:off x="262507" y="3911506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 rot="1799936">
              <a:off x="262492" y="4544192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 rot="8999897">
              <a:off x="-170840" y="4103279"/>
              <a:ext cx="715137" cy="400134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 rot="-1800033">
              <a:off x="-538781" y="375854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 rot="1800033">
              <a:off x="-648425" y="319295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rot="8999897">
              <a:off x="-518949" y="453536"/>
              <a:ext cx="576292" cy="400134"/>
            </a:xfrm>
            <a:custGeom>
              <a:rect b="b" l="l" r="r" t="t"/>
              <a:pathLst>
                <a:path extrusionOk="0" h="8954" w="12896">
                  <a:moveTo>
                    <a:pt x="8002" y="1"/>
                  </a:moveTo>
                  <a:cubicBezTo>
                    <a:pt x="7680" y="1"/>
                    <a:pt x="7383" y="72"/>
                    <a:pt x="7109" y="239"/>
                  </a:cubicBezTo>
                  <a:cubicBezTo>
                    <a:pt x="6942" y="322"/>
                    <a:pt x="6776" y="465"/>
                    <a:pt x="6656" y="608"/>
                  </a:cubicBezTo>
                  <a:cubicBezTo>
                    <a:pt x="6113" y="1228"/>
                    <a:pt x="5505" y="1538"/>
                    <a:pt x="4896" y="1538"/>
                  </a:cubicBezTo>
                  <a:cubicBezTo>
                    <a:pt x="4290" y="1538"/>
                    <a:pt x="3685" y="1231"/>
                    <a:pt x="3144" y="620"/>
                  </a:cubicBezTo>
                  <a:cubicBezTo>
                    <a:pt x="3013" y="477"/>
                    <a:pt x="2858" y="346"/>
                    <a:pt x="2680" y="251"/>
                  </a:cubicBezTo>
                  <a:cubicBezTo>
                    <a:pt x="2418" y="108"/>
                    <a:pt x="2120" y="12"/>
                    <a:pt x="1787" y="12"/>
                  </a:cubicBezTo>
                  <a:cubicBezTo>
                    <a:pt x="1477" y="12"/>
                    <a:pt x="1180" y="84"/>
                    <a:pt x="894" y="251"/>
                  </a:cubicBezTo>
                  <a:cubicBezTo>
                    <a:pt x="632" y="405"/>
                    <a:pt x="406" y="620"/>
                    <a:pt x="239" y="905"/>
                  </a:cubicBezTo>
                  <a:cubicBezTo>
                    <a:pt x="96" y="1167"/>
                    <a:pt x="1" y="1465"/>
                    <a:pt x="1" y="1798"/>
                  </a:cubicBezTo>
                  <a:cubicBezTo>
                    <a:pt x="1" y="2108"/>
                    <a:pt x="84" y="2406"/>
                    <a:pt x="239" y="2691"/>
                  </a:cubicBezTo>
                  <a:cubicBezTo>
                    <a:pt x="394" y="2953"/>
                    <a:pt x="620" y="3179"/>
                    <a:pt x="894" y="3346"/>
                  </a:cubicBezTo>
                  <a:cubicBezTo>
                    <a:pt x="1168" y="3489"/>
                    <a:pt x="1465" y="3584"/>
                    <a:pt x="1787" y="3584"/>
                  </a:cubicBezTo>
                  <a:cubicBezTo>
                    <a:pt x="2108" y="3584"/>
                    <a:pt x="2406" y="3513"/>
                    <a:pt x="2680" y="3346"/>
                  </a:cubicBezTo>
                  <a:cubicBezTo>
                    <a:pt x="2846" y="3239"/>
                    <a:pt x="3013" y="3120"/>
                    <a:pt x="3144" y="2977"/>
                  </a:cubicBezTo>
                  <a:cubicBezTo>
                    <a:pt x="3687" y="2363"/>
                    <a:pt x="4304" y="2048"/>
                    <a:pt x="4914" y="2048"/>
                  </a:cubicBezTo>
                  <a:cubicBezTo>
                    <a:pt x="5120" y="2048"/>
                    <a:pt x="5324" y="2084"/>
                    <a:pt x="5525" y="2156"/>
                  </a:cubicBezTo>
                  <a:cubicBezTo>
                    <a:pt x="6192" y="2394"/>
                    <a:pt x="6597" y="3060"/>
                    <a:pt x="6466" y="3763"/>
                  </a:cubicBezTo>
                  <a:cubicBezTo>
                    <a:pt x="6299" y="4596"/>
                    <a:pt x="5644" y="5192"/>
                    <a:pt x="4561" y="5418"/>
                  </a:cubicBezTo>
                  <a:cubicBezTo>
                    <a:pt x="4370" y="5454"/>
                    <a:pt x="4192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4" y="6549"/>
                    <a:pt x="3108" y="6847"/>
                    <a:pt x="3108" y="7168"/>
                  </a:cubicBezTo>
                  <a:cubicBezTo>
                    <a:pt x="3108" y="7478"/>
                    <a:pt x="3192" y="7775"/>
                    <a:pt x="3358" y="8061"/>
                  </a:cubicBezTo>
                  <a:cubicBezTo>
                    <a:pt x="3501" y="8335"/>
                    <a:pt x="3728" y="8549"/>
                    <a:pt x="4001" y="8716"/>
                  </a:cubicBezTo>
                  <a:cubicBezTo>
                    <a:pt x="4275" y="8871"/>
                    <a:pt x="4573" y="8954"/>
                    <a:pt x="4894" y="8954"/>
                  </a:cubicBezTo>
                  <a:cubicBezTo>
                    <a:pt x="5216" y="8954"/>
                    <a:pt x="5513" y="8883"/>
                    <a:pt x="5787" y="8716"/>
                  </a:cubicBezTo>
                  <a:cubicBezTo>
                    <a:pt x="5954" y="8633"/>
                    <a:pt x="6121" y="8490"/>
                    <a:pt x="6240" y="8347"/>
                  </a:cubicBezTo>
                  <a:cubicBezTo>
                    <a:pt x="6783" y="7726"/>
                    <a:pt x="7392" y="7417"/>
                    <a:pt x="8000" y="7417"/>
                  </a:cubicBezTo>
                  <a:cubicBezTo>
                    <a:pt x="8606" y="7417"/>
                    <a:pt x="9212" y="7723"/>
                    <a:pt x="9752" y="8335"/>
                  </a:cubicBezTo>
                  <a:cubicBezTo>
                    <a:pt x="9883" y="8478"/>
                    <a:pt x="10038" y="8609"/>
                    <a:pt x="10216" y="8704"/>
                  </a:cubicBezTo>
                  <a:cubicBezTo>
                    <a:pt x="10478" y="8847"/>
                    <a:pt x="10776" y="8942"/>
                    <a:pt x="11109" y="8942"/>
                  </a:cubicBezTo>
                  <a:cubicBezTo>
                    <a:pt x="11419" y="8942"/>
                    <a:pt x="11717" y="8871"/>
                    <a:pt x="12002" y="8704"/>
                  </a:cubicBezTo>
                  <a:cubicBezTo>
                    <a:pt x="12264" y="8549"/>
                    <a:pt x="12491" y="8335"/>
                    <a:pt x="12657" y="8049"/>
                  </a:cubicBezTo>
                  <a:cubicBezTo>
                    <a:pt x="12800" y="7775"/>
                    <a:pt x="12895" y="7478"/>
                    <a:pt x="12895" y="7156"/>
                  </a:cubicBezTo>
                  <a:cubicBezTo>
                    <a:pt x="12895" y="6847"/>
                    <a:pt x="12824" y="6549"/>
                    <a:pt x="12657" y="6263"/>
                  </a:cubicBezTo>
                  <a:cubicBezTo>
                    <a:pt x="12502" y="5989"/>
                    <a:pt x="12288" y="5775"/>
                    <a:pt x="12002" y="5608"/>
                  </a:cubicBezTo>
                  <a:cubicBezTo>
                    <a:pt x="11729" y="5454"/>
                    <a:pt x="11431" y="5370"/>
                    <a:pt x="11109" y="5370"/>
                  </a:cubicBezTo>
                  <a:cubicBezTo>
                    <a:pt x="10800" y="5370"/>
                    <a:pt x="10502" y="5442"/>
                    <a:pt x="10216" y="5608"/>
                  </a:cubicBezTo>
                  <a:cubicBezTo>
                    <a:pt x="10050" y="5715"/>
                    <a:pt x="9883" y="5835"/>
                    <a:pt x="9752" y="5977"/>
                  </a:cubicBezTo>
                  <a:cubicBezTo>
                    <a:pt x="9209" y="6592"/>
                    <a:pt x="8592" y="6907"/>
                    <a:pt x="7982" y="6907"/>
                  </a:cubicBezTo>
                  <a:cubicBezTo>
                    <a:pt x="7777" y="6907"/>
                    <a:pt x="7572" y="6871"/>
                    <a:pt x="7371" y="6799"/>
                  </a:cubicBezTo>
                  <a:cubicBezTo>
                    <a:pt x="6704" y="6561"/>
                    <a:pt x="6299" y="5894"/>
                    <a:pt x="6430" y="5180"/>
                  </a:cubicBezTo>
                  <a:cubicBezTo>
                    <a:pt x="6597" y="4346"/>
                    <a:pt x="7240" y="3751"/>
                    <a:pt x="8323" y="3525"/>
                  </a:cubicBezTo>
                  <a:lnTo>
                    <a:pt x="8335" y="3525"/>
                  </a:lnTo>
                  <a:cubicBezTo>
                    <a:pt x="8538" y="3477"/>
                    <a:pt x="8716" y="3418"/>
                    <a:pt x="8895" y="3310"/>
                  </a:cubicBezTo>
                  <a:cubicBezTo>
                    <a:pt x="9157" y="3168"/>
                    <a:pt x="9383" y="2941"/>
                    <a:pt x="9550" y="2656"/>
                  </a:cubicBezTo>
                  <a:cubicBezTo>
                    <a:pt x="9693" y="2394"/>
                    <a:pt x="9788" y="2096"/>
                    <a:pt x="9788" y="1763"/>
                  </a:cubicBezTo>
                  <a:cubicBezTo>
                    <a:pt x="9788" y="1453"/>
                    <a:pt x="9704" y="1155"/>
                    <a:pt x="9550" y="870"/>
                  </a:cubicBezTo>
                  <a:cubicBezTo>
                    <a:pt x="9395" y="608"/>
                    <a:pt x="9169" y="382"/>
                    <a:pt x="8895" y="215"/>
                  </a:cubicBezTo>
                  <a:cubicBezTo>
                    <a:pt x="8633" y="84"/>
                    <a:pt x="8323" y="1"/>
                    <a:pt x="8002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6"/>
            <p:cNvSpPr/>
            <p:nvPr/>
          </p:nvSpPr>
          <p:spPr>
            <a:xfrm rot="8999827">
              <a:off x="-281544" y="4491824"/>
              <a:ext cx="575755" cy="40016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 rot="-5400000">
              <a:off x="78478" y="386084"/>
              <a:ext cx="575677" cy="400109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rot="5400000">
              <a:off x="324149" y="235961"/>
              <a:ext cx="575709" cy="40013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6"/>
          <p:cNvSpPr txBox="1"/>
          <p:nvPr>
            <p:ph idx="2" type="title"/>
          </p:nvPr>
        </p:nvSpPr>
        <p:spPr>
          <a:xfrm>
            <a:off x="540013" y="1371600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91" name="Google Shape;91;p6"/>
          <p:cNvSpPr txBox="1"/>
          <p:nvPr>
            <p:ph idx="3" type="title"/>
          </p:nvPr>
        </p:nvSpPr>
        <p:spPr>
          <a:xfrm>
            <a:off x="540013" y="2523744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idx="4" type="title"/>
          </p:nvPr>
        </p:nvSpPr>
        <p:spPr>
          <a:xfrm>
            <a:off x="540013" y="3685032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2292636" y="1487517"/>
            <a:ext cx="18288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4" name="Google Shape;94;p6"/>
          <p:cNvSpPr txBox="1"/>
          <p:nvPr>
            <p:ph idx="5" type="body"/>
          </p:nvPr>
        </p:nvSpPr>
        <p:spPr>
          <a:xfrm>
            <a:off x="2292636" y="2635029"/>
            <a:ext cx="18288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6"/>
          <p:cNvSpPr txBox="1"/>
          <p:nvPr>
            <p:ph idx="6" type="body"/>
          </p:nvPr>
        </p:nvSpPr>
        <p:spPr>
          <a:xfrm>
            <a:off x="2292636" y="3793964"/>
            <a:ext cx="18288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6" name="Google Shape;96;p6"/>
          <p:cNvSpPr txBox="1"/>
          <p:nvPr>
            <p:ph idx="7" type="title"/>
          </p:nvPr>
        </p:nvSpPr>
        <p:spPr>
          <a:xfrm>
            <a:off x="3549913" y="1371600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97" name="Google Shape;97;p6"/>
          <p:cNvSpPr txBox="1"/>
          <p:nvPr>
            <p:ph idx="8" type="title"/>
          </p:nvPr>
        </p:nvSpPr>
        <p:spPr>
          <a:xfrm>
            <a:off x="3549913" y="2523744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98" name="Google Shape;98;p6"/>
          <p:cNvSpPr txBox="1"/>
          <p:nvPr>
            <p:ph idx="9" type="title"/>
          </p:nvPr>
        </p:nvSpPr>
        <p:spPr>
          <a:xfrm>
            <a:off x="3549913" y="3685032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99" name="Google Shape;99;p6"/>
          <p:cNvSpPr txBox="1"/>
          <p:nvPr>
            <p:ph idx="13" type="body"/>
          </p:nvPr>
        </p:nvSpPr>
        <p:spPr>
          <a:xfrm>
            <a:off x="5302536" y="1487517"/>
            <a:ext cx="18288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6"/>
          <p:cNvSpPr txBox="1"/>
          <p:nvPr>
            <p:ph idx="14" type="body"/>
          </p:nvPr>
        </p:nvSpPr>
        <p:spPr>
          <a:xfrm>
            <a:off x="5302536" y="2635029"/>
            <a:ext cx="18288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1" name="Google Shape;101;p6"/>
          <p:cNvSpPr txBox="1"/>
          <p:nvPr>
            <p:ph idx="15" type="body"/>
          </p:nvPr>
        </p:nvSpPr>
        <p:spPr>
          <a:xfrm>
            <a:off x="5302536" y="3793964"/>
            <a:ext cx="18288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genda 1 Column ">
  <p:cSld name="CUSTOM_4_2_1_1">
    <p:bg>
      <p:bgPr>
        <a:solidFill>
          <a:schemeClr val="accen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1078992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06" name="Google Shape;106;p7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grpSp>
        <p:nvGrpSpPr>
          <p:cNvPr id="108" name="Google Shape;108;p7"/>
          <p:cNvGrpSpPr/>
          <p:nvPr/>
        </p:nvGrpSpPr>
        <p:grpSpPr>
          <a:xfrm>
            <a:off x="-700549" y="-429547"/>
            <a:ext cx="1783349" cy="5717641"/>
            <a:chOff x="-700549" y="-429547"/>
            <a:chExt cx="1783349" cy="5717641"/>
          </a:xfrm>
        </p:grpSpPr>
        <p:sp>
          <p:nvSpPr>
            <p:cNvPr id="109" name="Google Shape;109;p7"/>
            <p:cNvSpPr/>
            <p:nvPr/>
          </p:nvSpPr>
          <p:spPr>
            <a:xfrm rot="5400000">
              <a:off x="-230247" y="2817535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 rot="5400000">
              <a:off x="203576" y="2068362"/>
              <a:ext cx="576782" cy="642785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 flipH="1" rot="5400000">
              <a:off x="-472882" y="2401322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 rot="-5400000">
              <a:off x="392790" y="-237107"/>
              <a:ext cx="438449" cy="400109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 rot="-1799936">
              <a:off x="-32482" y="-346736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 rot="1799936">
              <a:off x="-152576" y="74570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 rot="8999897">
              <a:off x="-41417" y="734235"/>
              <a:ext cx="575711" cy="40013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 rot="-9000064">
              <a:off x="324154" y="1218816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 rot="-1799936">
              <a:off x="204132" y="1707618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 rot="1799936">
              <a:off x="-160512" y="1212567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 rot="8999897">
              <a:off x="-101650" y="1622636"/>
              <a:ext cx="576784" cy="642788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-9000064">
              <a:off x="383978" y="2664955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 rot="-5400000">
              <a:off x="203601" y="3324189"/>
              <a:ext cx="576749" cy="642749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 rot="-1799936">
              <a:off x="262507" y="3911506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 rot="1799936">
              <a:off x="262492" y="4544192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 rot="8999897">
              <a:off x="-170840" y="4103279"/>
              <a:ext cx="715137" cy="400134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 rot="-1800033">
              <a:off x="-538781" y="375854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 rot="1800033">
              <a:off x="-648425" y="319295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 rot="8999897">
              <a:off x="-518949" y="453536"/>
              <a:ext cx="576292" cy="400134"/>
            </a:xfrm>
            <a:custGeom>
              <a:rect b="b" l="l" r="r" t="t"/>
              <a:pathLst>
                <a:path extrusionOk="0" h="8954" w="12896">
                  <a:moveTo>
                    <a:pt x="8002" y="1"/>
                  </a:moveTo>
                  <a:cubicBezTo>
                    <a:pt x="7680" y="1"/>
                    <a:pt x="7383" y="72"/>
                    <a:pt x="7109" y="239"/>
                  </a:cubicBezTo>
                  <a:cubicBezTo>
                    <a:pt x="6942" y="322"/>
                    <a:pt x="6776" y="465"/>
                    <a:pt x="6656" y="608"/>
                  </a:cubicBezTo>
                  <a:cubicBezTo>
                    <a:pt x="6113" y="1228"/>
                    <a:pt x="5505" y="1538"/>
                    <a:pt x="4896" y="1538"/>
                  </a:cubicBezTo>
                  <a:cubicBezTo>
                    <a:pt x="4290" y="1538"/>
                    <a:pt x="3685" y="1231"/>
                    <a:pt x="3144" y="620"/>
                  </a:cubicBezTo>
                  <a:cubicBezTo>
                    <a:pt x="3013" y="477"/>
                    <a:pt x="2858" y="346"/>
                    <a:pt x="2680" y="251"/>
                  </a:cubicBezTo>
                  <a:cubicBezTo>
                    <a:pt x="2418" y="108"/>
                    <a:pt x="2120" y="12"/>
                    <a:pt x="1787" y="12"/>
                  </a:cubicBezTo>
                  <a:cubicBezTo>
                    <a:pt x="1477" y="12"/>
                    <a:pt x="1180" y="84"/>
                    <a:pt x="894" y="251"/>
                  </a:cubicBezTo>
                  <a:cubicBezTo>
                    <a:pt x="632" y="405"/>
                    <a:pt x="406" y="620"/>
                    <a:pt x="239" y="905"/>
                  </a:cubicBezTo>
                  <a:cubicBezTo>
                    <a:pt x="96" y="1167"/>
                    <a:pt x="1" y="1465"/>
                    <a:pt x="1" y="1798"/>
                  </a:cubicBezTo>
                  <a:cubicBezTo>
                    <a:pt x="1" y="2108"/>
                    <a:pt x="84" y="2406"/>
                    <a:pt x="239" y="2691"/>
                  </a:cubicBezTo>
                  <a:cubicBezTo>
                    <a:pt x="394" y="2953"/>
                    <a:pt x="620" y="3179"/>
                    <a:pt x="894" y="3346"/>
                  </a:cubicBezTo>
                  <a:cubicBezTo>
                    <a:pt x="1168" y="3489"/>
                    <a:pt x="1465" y="3584"/>
                    <a:pt x="1787" y="3584"/>
                  </a:cubicBezTo>
                  <a:cubicBezTo>
                    <a:pt x="2108" y="3584"/>
                    <a:pt x="2406" y="3513"/>
                    <a:pt x="2680" y="3346"/>
                  </a:cubicBezTo>
                  <a:cubicBezTo>
                    <a:pt x="2846" y="3239"/>
                    <a:pt x="3013" y="3120"/>
                    <a:pt x="3144" y="2977"/>
                  </a:cubicBezTo>
                  <a:cubicBezTo>
                    <a:pt x="3687" y="2363"/>
                    <a:pt x="4304" y="2048"/>
                    <a:pt x="4914" y="2048"/>
                  </a:cubicBezTo>
                  <a:cubicBezTo>
                    <a:pt x="5120" y="2048"/>
                    <a:pt x="5324" y="2084"/>
                    <a:pt x="5525" y="2156"/>
                  </a:cubicBezTo>
                  <a:cubicBezTo>
                    <a:pt x="6192" y="2394"/>
                    <a:pt x="6597" y="3060"/>
                    <a:pt x="6466" y="3763"/>
                  </a:cubicBezTo>
                  <a:cubicBezTo>
                    <a:pt x="6299" y="4596"/>
                    <a:pt x="5644" y="5192"/>
                    <a:pt x="4561" y="5418"/>
                  </a:cubicBezTo>
                  <a:cubicBezTo>
                    <a:pt x="4370" y="5454"/>
                    <a:pt x="4192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4" y="6549"/>
                    <a:pt x="3108" y="6847"/>
                    <a:pt x="3108" y="7168"/>
                  </a:cubicBezTo>
                  <a:cubicBezTo>
                    <a:pt x="3108" y="7478"/>
                    <a:pt x="3192" y="7775"/>
                    <a:pt x="3358" y="8061"/>
                  </a:cubicBezTo>
                  <a:cubicBezTo>
                    <a:pt x="3501" y="8335"/>
                    <a:pt x="3728" y="8549"/>
                    <a:pt x="4001" y="8716"/>
                  </a:cubicBezTo>
                  <a:cubicBezTo>
                    <a:pt x="4275" y="8871"/>
                    <a:pt x="4573" y="8954"/>
                    <a:pt x="4894" y="8954"/>
                  </a:cubicBezTo>
                  <a:cubicBezTo>
                    <a:pt x="5216" y="8954"/>
                    <a:pt x="5513" y="8883"/>
                    <a:pt x="5787" y="8716"/>
                  </a:cubicBezTo>
                  <a:cubicBezTo>
                    <a:pt x="5954" y="8633"/>
                    <a:pt x="6121" y="8490"/>
                    <a:pt x="6240" y="8347"/>
                  </a:cubicBezTo>
                  <a:cubicBezTo>
                    <a:pt x="6783" y="7726"/>
                    <a:pt x="7392" y="7417"/>
                    <a:pt x="8000" y="7417"/>
                  </a:cubicBezTo>
                  <a:cubicBezTo>
                    <a:pt x="8606" y="7417"/>
                    <a:pt x="9212" y="7723"/>
                    <a:pt x="9752" y="8335"/>
                  </a:cubicBezTo>
                  <a:cubicBezTo>
                    <a:pt x="9883" y="8478"/>
                    <a:pt x="10038" y="8609"/>
                    <a:pt x="10216" y="8704"/>
                  </a:cubicBezTo>
                  <a:cubicBezTo>
                    <a:pt x="10478" y="8847"/>
                    <a:pt x="10776" y="8942"/>
                    <a:pt x="11109" y="8942"/>
                  </a:cubicBezTo>
                  <a:cubicBezTo>
                    <a:pt x="11419" y="8942"/>
                    <a:pt x="11717" y="8871"/>
                    <a:pt x="12002" y="8704"/>
                  </a:cubicBezTo>
                  <a:cubicBezTo>
                    <a:pt x="12264" y="8549"/>
                    <a:pt x="12491" y="8335"/>
                    <a:pt x="12657" y="8049"/>
                  </a:cubicBezTo>
                  <a:cubicBezTo>
                    <a:pt x="12800" y="7775"/>
                    <a:pt x="12895" y="7478"/>
                    <a:pt x="12895" y="7156"/>
                  </a:cubicBezTo>
                  <a:cubicBezTo>
                    <a:pt x="12895" y="6847"/>
                    <a:pt x="12824" y="6549"/>
                    <a:pt x="12657" y="6263"/>
                  </a:cubicBezTo>
                  <a:cubicBezTo>
                    <a:pt x="12502" y="5989"/>
                    <a:pt x="12288" y="5775"/>
                    <a:pt x="12002" y="5608"/>
                  </a:cubicBezTo>
                  <a:cubicBezTo>
                    <a:pt x="11729" y="5454"/>
                    <a:pt x="11431" y="5370"/>
                    <a:pt x="11109" y="5370"/>
                  </a:cubicBezTo>
                  <a:cubicBezTo>
                    <a:pt x="10800" y="5370"/>
                    <a:pt x="10502" y="5442"/>
                    <a:pt x="10216" y="5608"/>
                  </a:cubicBezTo>
                  <a:cubicBezTo>
                    <a:pt x="10050" y="5715"/>
                    <a:pt x="9883" y="5835"/>
                    <a:pt x="9752" y="5977"/>
                  </a:cubicBezTo>
                  <a:cubicBezTo>
                    <a:pt x="9209" y="6592"/>
                    <a:pt x="8592" y="6907"/>
                    <a:pt x="7982" y="6907"/>
                  </a:cubicBezTo>
                  <a:cubicBezTo>
                    <a:pt x="7777" y="6907"/>
                    <a:pt x="7572" y="6871"/>
                    <a:pt x="7371" y="6799"/>
                  </a:cubicBezTo>
                  <a:cubicBezTo>
                    <a:pt x="6704" y="6561"/>
                    <a:pt x="6299" y="5894"/>
                    <a:pt x="6430" y="5180"/>
                  </a:cubicBezTo>
                  <a:cubicBezTo>
                    <a:pt x="6597" y="4346"/>
                    <a:pt x="7240" y="3751"/>
                    <a:pt x="8323" y="3525"/>
                  </a:cubicBezTo>
                  <a:lnTo>
                    <a:pt x="8335" y="3525"/>
                  </a:lnTo>
                  <a:cubicBezTo>
                    <a:pt x="8538" y="3477"/>
                    <a:pt x="8716" y="3418"/>
                    <a:pt x="8895" y="3310"/>
                  </a:cubicBezTo>
                  <a:cubicBezTo>
                    <a:pt x="9157" y="3168"/>
                    <a:pt x="9383" y="2941"/>
                    <a:pt x="9550" y="2656"/>
                  </a:cubicBezTo>
                  <a:cubicBezTo>
                    <a:pt x="9693" y="2394"/>
                    <a:pt x="9788" y="2096"/>
                    <a:pt x="9788" y="1763"/>
                  </a:cubicBezTo>
                  <a:cubicBezTo>
                    <a:pt x="9788" y="1453"/>
                    <a:pt x="9704" y="1155"/>
                    <a:pt x="9550" y="870"/>
                  </a:cubicBezTo>
                  <a:cubicBezTo>
                    <a:pt x="9395" y="608"/>
                    <a:pt x="9169" y="382"/>
                    <a:pt x="8895" y="215"/>
                  </a:cubicBezTo>
                  <a:cubicBezTo>
                    <a:pt x="8633" y="84"/>
                    <a:pt x="8323" y="1"/>
                    <a:pt x="8002" y="1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 rot="8999827">
              <a:off x="-281544" y="4491824"/>
              <a:ext cx="575755" cy="40016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-5400000">
              <a:off x="78478" y="386084"/>
              <a:ext cx="575677" cy="400109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5400000">
              <a:off x="324149" y="235961"/>
              <a:ext cx="575709" cy="40013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rgbClr val="0140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7"/>
          <p:cNvSpPr txBox="1"/>
          <p:nvPr>
            <p:ph idx="2" type="title"/>
          </p:nvPr>
        </p:nvSpPr>
        <p:spPr>
          <a:xfrm>
            <a:off x="1767388" y="1037772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132" name="Google Shape;132;p7"/>
          <p:cNvSpPr txBox="1"/>
          <p:nvPr>
            <p:ph idx="3" type="title"/>
          </p:nvPr>
        </p:nvSpPr>
        <p:spPr>
          <a:xfrm>
            <a:off x="1767388" y="1920240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133" name="Google Shape;133;p7"/>
          <p:cNvSpPr txBox="1"/>
          <p:nvPr>
            <p:ph idx="4" type="title"/>
          </p:nvPr>
        </p:nvSpPr>
        <p:spPr>
          <a:xfrm>
            <a:off x="1767388" y="2820373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3520011" y="1017692"/>
            <a:ext cx="1828800" cy="9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b="1"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5" name="Google Shape;135;p7"/>
          <p:cNvSpPr txBox="1"/>
          <p:nvPr>
            <p:ph idx="5" type="title"/>
          </p:nvPr>
        </p:nvSpPr>
        <p:spPr>
          <a:xfrm>
            <a:off x="1767388" y="3709286"/>
            <a:ext cx="1600200" cy="10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b="0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200"/>
              <a:buFont typeface="Public Sans Thin"/>
              <a:buNone/>
              <a:defRPr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136" name="Google Shape;136;p7"/>
          <p:cNvSpPr txBox="1"/>
          <p:nvPr>
            <p:ph idx="6" type="body"/>
          </p:nvPr>
        </p:nvSpPr>
        <p:spPr>
          <a:xfrm>
            <a:off x="3520011" y="1901952"/>
            <a:ext cx="1828800" cy="9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b="1"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7" name="Google Shape;137;p7"/>
          <p:cNvSpPr txBox="1"/>
          <p:nvPr>
            <p:ph idx="7" type="body"/>
          </p:nvPr>
        </p:nvSpPr>
        <p:spPr>
          <a:xfrm>
            <a:off x="3520011" y="2814548"/>
            <a:ext cx="1828800" cy="9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b="1"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8" name="Google Shape;138;p7"/>
          <p:cNvSpPr txBox="1"/>
          <p:nvPr>
            <p:ph idx="8" type="body"/>
          </p:nvPr>
        </p:nvSpPr>
        <p:spPr>
          <a:xfrm>
            <a:off x="3520011" y="3680845"/>
            <a:ext cx="1828800" cy="9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b="1" sz="1600">
                <a:solidFill>
                  <a:srgbClr val="FFFFFF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 b="1"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Divider 1">
  <p:cSld name="CUSTOM_1_1_1">
    <p:bg>
      <p:bgPr>
        <a:solidFill>
          <a:schemeClr val="accent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1" name="Google Shape;141;p8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42" name="Google Shape;142;p8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144" name="Google Shape;144;p8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" name="Google Shape;145;p8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" name="Google Shape;146;p8"/>
          <p:cNvSpPr/>
          <p:nvPr/>
        </p:nvSpPr>
        <p:spPr>
          <a:xfrm flipH="1" rot="7200792">
            <a:off x="4351871" y="2181246"/>
            <a:ext cx="4694207" cy="2629911"/>
          </a:xfrm>
          <a:custGeom>
            <a:rect b="b" l="l" r="r" t="t"/>
            <a:pathLst>
              <a:path extrusionOk="0" h="8966" w="16003">
                <a:moveTo>
                  <a:pt x="7990" y="1"/>
                </a:moveTo>
                <a:cubicBezTo>
                  <a:pt x="7680" y="1"/>
                  <a:pt x="7382" y="72"/>
                  <a:pt x="7097" y="239"/>
                </a:cubicBezTo>
                <a:cubicBezTo>
                  <a:pt x="6942" y="322"/>
                  <a:pt x="6775" y="465"/>
                  <a:pt x="6656" y="608"/>
                </a:cubicBezTo>
                <a:cubicBezTo>
                  <a:pt x="6113" y="1228"/>
                  <a:pt x="5504" y="1538"/>
                  <a:pt x="4896" y="1538"/>
                </a:cubicBezTo>
                <a:cubicBezTo>
                  <a:pt x="4290" y="1538"/>
                  <a:pt x="3684" y="1231"/>
                  <a:pt x="3144" y="620"/>
                </a:cubicBezTo>
                <a:cubicBezTo>
                  <a:pt x="3013" y="477"/>
                  <a:pt x="2858" y="346"/>
                  <a:pt x="2679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79" y="84"/>
                  <a:pt x="894" y="251"/>
                </a:cubicBezTo>
                <a:cubicBezTo>
                  <a:pt x="632" y="405"/>
                  <a:pt x="405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72" y="2406"/>
                  <a:pt x="239" y="2691"/>
                </a:cubicBezTo>
                <a:cubicBezTo>
                  <a:pt x="393" y="2953"/>
                  <a:pt x="608" y="3179"/>
                  <a:pt x="894" y="3346"/>
                </a:cubicBezTo>
                <a:cubicBezTo>
                  <a:pt x="1167" y="3489"/>
                  <a:pt x="1465" y="3584"/>
                  <a:pt x="1787" y="3584"/>
                </a:cubicBezTo>
                <a:cubicBezTo>
                  <a:pt x="2096" y="3584"/>
                  <a:pt x="2394" y="3513"/>
                  <a:pt x="2679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297" y="2048"/>
                  <a:pt x="4909" y="2048"/>
                </a:cubicBezTo>
                <a:cubicBezTo>
                  <a:pt x="5115" y="2048"/>
                  <a:pt x="5321" y="2084"/>
                  <a:pt x="5525" y="2156"/>
                </a:cubicBezTo>
                <a:cubicBezTo>
                  <a:pt x="6192" y="2394"/>
                  <a:pt x="6597" y="3060"/>
                  <a:pt x="6466" y="3775"/>
                </a:cubicBezTo>
                <a:cubicBezTo>
                  <a:pt x="6299" y="4608"/>
                  <a:pt x="5644" y="5204"/>
                  <a:pt x="4573" y="5430"/>
                </a:cubicBezTo>
                <a:cubicBezTo>
                  <a:pt x="4382" y="5465"/>
                  <a:pt x="4180" y="5537"/>
                  <a:pt x="4001" y="5632"/>
                </a:cubicBezTo>
                <a:cubicBezTo>
                  <a:pt x="3739" y="5787"/>
                  <a:pt x="3513" y="6013"/>
                  <a:pt x="3346" y="6287"/>
                </a:cubicBezTo>
                <a:cubicBezTo>
                  <a:pt x="3203" y="6561"/>
                  <a:pt x="3108" y="6858"/>
                  <a:pt x="3108" y="7180"/>
                </a:cubicBezTo>
                <a:cubicBezTo>
                  <a:pt x="3108" y="7501"/>
                  <a:pt x="3191" y="7799"/>
                  <a:pt x="3346" y="8073"/>
                </a:cubicBezTo>
                <a:cubicBezTo>
                  <a:pt x="3501" y="8347"/>
                  <a:pt x="3727" y="8573"/>
                  <a:pt x="4001" y="8728"/>
                </a:cubicBezTo>
                <a:cubicBezTo>
                  <a:pt x="4275" y="8883"/>
                  <a:pt x="4573" y="8966"/>
                  <a:pt x="4894" y="8966"/>
                </a:cubicBezTo>
                <a:cubicBezTo>
                  <a:pt x="5216" y="8966"/>
                  <a:pt x="5513" y="8894"/>
                  <a:pt x="5787" y="8728"/>
                </a:cubicBezTo>
                <a:cubicBezTo>
                  <a:pt x="6061" y="8585"/>
                  <a:pt x="6287" y="8359"/>
                  <a:pt x="6442" y="8073"/>
                </a:cubicBezTo>
                <a:cubicBezTo>
                  <a:pt x="6597" y="7811"/>
                  <a:pt x="6680" y="7513"/>
                  <a:pt x="6680" y="7180"/>
                </a:cubicBezTo>
                <a:cubicBezTo>
                  <a:pt x="6680" y="6989"/>
                  <a:pt x="6656" y="6799"/>
                  <a:pt x="6585" y="6608"/>
                </a:cubicBezTo>
                <a:cubicBezTo>
                  <a:pt x="6061" y="5037"/>
                  <a:pt x="6728" y="3882"/>
                  <a:pt x="8347" y="3549"/>
                </a:cubicBezTo>
                <a:cubicBezTo>
                  <a:pt x="8549" y="3513"/>
                  <a:pt x="8728" y="3453"/>
                  <a:pt x="8906" y="3346"/>
                </a:cubicBezTo>
                <a:cubicBezTo>
                  <a:pt x="9061" y="3251"/>
                  <a:pt x="9228" y="3120"/>
                  <a:pt x="9347" y="2977"/>
                </a:cubicBezTo>
                <a:cubicBezTo>
                  <a:pt x="9889" y="2358"/>
                  <a:pt x="10496" y="2048"/>
                  <a:pt x="11103" y="2048"/>
                </a:cubicBezTo>
                <a:cubicBezTo>
                  <a:pt x="11710" y="2048"/>
                  <a:pt x="12318" y="2358"/>
                  <a:pt x="12859" y="2977"/>
                </a:cubicBezTo>
                <a:cubicBezTo>
                  <a:pt x="12990" y="3120"/>
                  <a:pt x="13145" y="3239"/>
                  <a:pt x="13324" y="3346"/>
                </a:cubicBezTo>
                <a:cubicBezTo>
                  <a:pt x="13586" y="3489"/>
                  <a:pt x="13883" y="3584"/>
                  <a:pt x="14217" y="3584"/>
                </a:cubicBezTo>
                <a:cubicBezTo>
                  <a:pt x="14526" y="3584"/>
                  <a:pt x="14824" y="3513"/>
                  <a:pt x="15110" y="3346"/>
                </a:cubicBezTo>
                <a:cubicBezTo>
                  <a:pt x="15372" y="3191"/>
                  <a:pt x="15598" y="2977"/>
                  <a:pt x="15764" y="2691"/>
                </a:cubicBezTo>
                <a:cubicBezTo>
                  <a:pt x="15907" y="2429"/>
                  <a:pt x="16003" y="2132"/>
                  <a:pt x="16003" y="1798"/>
                </a:cubicBezTo>
                <a:cubicBezTo>
                  <a:pt x="16003" y="1489"/>
                  <a:pt x="15931" y="1191"/>
                  <a:pt x="15764" y="905"/>
                </a:cubicBezTo>
                <a:cubicBezTo>
                  <a:pt x="15610" y="643"/>
                  <a:pt x="15383" y="417"/>
                  <a:pt x="15110" y="251"/>
                </a:cubicBezTo>
                <a:cubicBezTo>
                  <a:pt x="14836" y="108"/>
                  <a:pt x="14538" y="12"/>
                  <a:pt x="14217" y="12"/>
                </a:cubicBezTo>
                <a:cubicBezTo>
                  <a:pt x="13895" y="12"/>
                  <a:pt x="13598" y="84"/>
                  <a:pt x="13324" y="251"/>
                </a:cubicBezTo>
                <a:cubicBezTo>
                  <a:pt x="13157" y="358"/>
                  <a:pt x="12990" y="477"/>
                  <a:pt x="12859" y="620"/>
                </a:cubicBezTo>
                <a:cubicBezTo>
                  <a:pt x="12318" y="1239"/>
                  <a:pt x="11710" y="1548"/>
                  <a:pt x="11103" y="1548"/>
                </a:cubicBezTo>
                <a:cubicBezTo>
                  <a:pt x="10496" y="1548"/>
                  <a:pt x="9889" y="1239"/>
                  <a:pt x="9347" y="620"/>
                </a:cubicBezTo>
                <a:cubicBezTo>
                  <a:pt x="9216" y="477"/>
                  <a:pt x="9061" y="346"/>
                  <a:pt x="8883" y="239"/>
                </a:cubicBezTo>
                <a:cubicBezTo>
                  <a:pt x="8621" y="84"/>
                  <a:pt x="8323" y="1"/>
                  <a:pt x="7990" y="1"/>
                </a:cubicBezTo>
                <a:close/>
              </a:path>
            </a:pathLst>
          </a:custGeom>
          <a:noFill/>
          <a:ln cap="flat" cmpd="sng" w="28575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103866" y="3666041"/>
            <a:ext cx="1891521" cy="1313328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2880">
          <p15:clr>
            <a:srgbClr val="E46962"/>
          </p15:clr>
        </p15:guide>
        <p15:guide id="4" pos="4032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Divider 2">
  <p:cSld name="CUSTOM_1_1_1_1">
    <p:bg>
      <p:bgPr>
        <a:solidFill>
          <a:schemeClr val="accent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0" name="Google Shape;150;p9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51" name="Google Shape;151;p9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153" name="Google Shape;153;p9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" name="Google Shape;154;p9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9"/>
          <p:cNvSpPr/>
          <p:nvPr/>
        </p:nvSpPr>
        <p:spPr>
          <a:xfrm rot="3599072">
            <a:off x="5524199" y="2360881"/>
            <a:ext cx="2878476" cy="2626268"/>
          </a:xfrm>
          <a:custGeom>
            <a:rect b="b" l="l" r="r" t="t"/>
            <a:pathLst>
              <a:path extrusionOk="0" h="8954" w="9812">
                <a:moveTo>
                  <a:pt x="8025" y="0"/>
                </a:moveTo>
                <a:cubicBezTo>
                  <a:pt x="7716" y="0"/>
                  <a:pt x="7418" y="72"/>
                  <a:pt x="7132" y="238"/>
                </a:cubicBezTo>
                <a:cubicBezTo>
                  <a:pt x="6966" y="322"/>
                  <a:pt x="6799" y="465"/>
                  <a:pt x="6680" y="607"/>
                </a:cubicBezTo>
                <a:cubicBezTo>
                  <a:pt x="6137" y="1228"/>
                  <a:pt x="5531" y="1538"/>
                  <a:pt x="4924" y="1538"/>
                </a:cubicBezTo>
                <a:cubicBezTo>
                  <a:pt x="4319" y="1538"/>
                  <a:pt x="3714" y="1231"/>
                  <a:pt x="3168" y="619"/>
                </a:cubicBezTo>
                <a:cubicBezTo>
                  <a:pt x="3037" y="476"/>
                  <a:pt x="2894" y="346"/>
                  <a:pt x="2715" y="250"/>
                </a:cubicBezTo>
                <a:cubicBezTo>
                  <a:pt x="2441" y="107"/>
                  <a:pt x="2144" y="12"/>
                  <a:pt x="1822" y="12"/>
                </a:cubicBezTo>
                <a:cubicBezTo>
                  <a:pt x="1501" y="12"/>
                  <a:pt x="1203" y="84"/>
                  <a:pt x="929" y="250"/>
                </a:cubicBezTo>
                <a:cubicBezTo>
                  <a:pt x="655" y="405"/>
                  <a:pt x="429" y="619"/>
                  <a:pt x="274" y="905"/>
                </a:cubicBezTo>
                <a:cubicBezTo>
                  <a:pt x="120" y="1179"/>
                  <a:pt x="36" y="1477"/>
                  <a:pt x="36" y="1798"/>
                </a:cubicBezTo>
                <a:cubicBezTo>
                  <a:pt x="0" y="2084"/>
                  <a:pt x="84" y="2393"/>
                  <a:pt x="239" y="2679"/>
                </a:cubicBezTo>
                <a:cubicBezTo>
                  <a:pt x="393" y="2941"/>
                  <a:pt x="620" y="3167"/>
                  <a:pt x="893" y="3334"/>
                </a:cubicBezTo>
                <a:cubicBezTo>
                  <a:pt x="1167" y="3477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27"/>
                  <a:pt x="3013" y="3108"/>
                  <a:pt x="3144" y="2965"/>
                </a:cubicBezTo>
                <a:cubicBezTo>
                  <a:pt x="3687" y="2350"/>
                  <a:pt x="4304" y="2036"/>
                  <a:pt x="4914" y="2036"/>
                </a:cubicBezTo>
                <a:cubicBezTo>
                  <a:pt x="5119" y="2036"/>
                  <a:pt x="5324" y="2071"/>
                  <a:pt x="5525" y="2143"/>
                </a:cubicBezTo>
                <a:cubicBezTo>
                  <a:pt x="6192" y="2381"/>
                  <a:pt x="6597" y="3048"/>
                  <a:pt x="6466" y="3763"/>
                </a:cubicBezTo>
                <a:cubicBezTo>
                  <a:pt x="6299" y="4596"/>
                  <a:pt x="5644" y="5191"/>
                  <a:pt x="4572" y="5418"/>
                </a:cubicBezTo>
                <a:cubicBezTo>
                  <a:pt x="4382" y="5441"/>
                  <a:pt x="4180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3" y="6549"/>
                  <a:pt x="3108" y="6846"/>
                  <a:pt x="3108" y="7168"/>
                </a:cubicBezTo>
                <a:cubicBezTo>
                  <a:pt x="3108" y="7477"/>
                  <a:pt x="3191" y="7775"/>
                  <a:pt x="3358" y="8061"/>
                </a:cubicBezTo>
                <a:cubicBezTo>
                  <a:pt x="3501" y="8335"/>
                  <a:pt x="3727" y="8549"/>
                  <a:pt x="4001" y="8716"/>
                </a:cubicBezTo>
                <a:cubicBezTo>
                  <a:pt x="4275" y="8870"/>
                  <a:pt x="4572" y="8954"/>
                  <a:pt x="4894" y="8954"/>
                </a:cubicBezTo>
                <a:cubicBezTo>
                  <a:pt x="5215" y="8954"/>
                  <a:pt x="5513" y="8882"/>
                  <a:pt x="5787" y="8716"/>
                </a:cubicBezTo>
                <a:cubicBezTo>
                  <a:pt x="6061" y="8573"/>
                  <a:pt x="6287" y="8347"/>
                  <a:pt x="6442" y="8061"/>
                </a:cubicBezTo>
                <a:cubicBezTo>
                  <a:pt x="6597" y="7799"/>
                  <a:pt x="6680" y="7501"/>
                  <a:pt x="6680" y="7168"/>
                </a:cubicBezTo>
                <a:cubicBezTo>
                  <a:pt x="6680" y="6977"/>
                  <a:pt x="6656" y="6787"/>
                  <a:pt x="6597" y="6584"/>
                </a:cubicBezTo>
                <a:cubicBezTo>
                  <a:pt x="6073" y="5025"/>
                  <a:pt x="6739" y="3870"/>
                  <a:pt x="8371" y="3536"/>
                </a:cubicBezTo>
                <a:cubicBezTo>
                  <a:pt x="8561" y="3489"/>
                  <a:pt x="8740" y="3441"/>
                  <a:pt x="8918" y="3334"/>
                </a:cubicBezTo>
                <a:cubicBezTo>
                  <a:pt x="9180" y="3179"/>
                  <a:pt x="9406" y="2965"/>
                  <a:pt x="9573" y="2679"/>
                </a:cubicBezTo>
                <a:cubicBezTo>
                  <a:pt x="9716" y="2405"/>
                  <a:pt x="9811" y="2108"/>
                  <a:pt x="9811" y="1786"/>
                </a:cubicBezTo>
                <a:cubicBezTo>
                  <a:pt x="9811" y="1477"/>
                  <a:pt x="9740" y="1179"/>
                  <a:pt x="9573" y="893"/>
                </a:cubicBezTo>
                <a:cubicBezTo>
                  <a:pt x="9418" y="619"/>
                  <a:pt x="9204" y="405"/>
                  <a:pt x="8918" y="238"/>
                </a:cubicBezTo>
                <a:cubicBezTo>
                  <a:pt x="8656" y="84"/>
                  <a:pt x="8359" y="0"/>
                  <a:pt x="8025" y="0"/>
                </a:cubicBezTo>
                <a:close/>
              </a:path>
            </a:pathLst>
          </a:custGeom>
          <a:noFill/>
          <a:ln cap="flat" cmpd="sng" w="28575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 rot="7198244">
            <a:off x="7620101" y="3391116"/>
            <a:ext cx="1436971" cy="523968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90CB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2880">
          <p15:clr>
            <a:srgbClr val="E46962"/>
          </p15:clr>
        </p15:guide>
        <p15:guide id="4" pos="4032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Divider 3">
  <p:cSld name="CUSTOM_1_1_1_1_1">
    <p:bg>
      <p:bgPr>
        <a:solidFill>
          <a:schemeClr val="accent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9" name="Google Shape;159;p1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60" name="Google Shape;160;p1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162" name="Google Shape;162;p10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" name="Google Shape;163;p10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0"/>
          <p:cNvSpPr/>
          <p:nvPr/>
        </p:nvSpPr>
        <p:spPr>
          <a:xfrm rot="3598985">
            <a:off x="5429434" y="2406418"/>
            <a:ext cx="3785818" cy="4215837"/>
          </a:xfrm>
          <a:custGeom>
            <a:rect b="b" l="l" r="r" t="t"/>
            <a:pathLst>
              <a:path extrusionOk="0" h="14372" w="12907">
                <a:moveTo>
                  <a:pt x="8013" y="1"/>
                </a:moveTo>
                <a:cubicBezTo>
                  <a:pt x="7704" y="1"/>
                  <a:pt x="7406" y="84"/>
                  <a:pt x="7120" y="239"/>
                </a:cubicBezTo>
                <a:cubicBezTo>
                  <a:pt x="6954" y="334"/>
                  <a:pt x="6787" y="465"/>
                  <a:pt x="6668" y="620"/>
                </a:cubicBezTo>
                <a:cubicBezTo>
                  <a:pt x="6125" y="1234"/>
                  <a:pt x="5519" y="1541"/>
                  <a:pt x="4912" y="1541"/>
                </a:cubicBezTo>
                <a:cubicBezTo>
                  <a:pt x="4307" y="1541"/>
                  <a:pt x="3702" y="1237"/>
                  <a:pt x="3156" y="632"/>
                </a:cubicBezTo>
                <a:cubicBezTo>
                  <a:pt x="3025" y="477"/>
                  <a:pt x="2882" y="346"/>
                  <a:pt x="2703" y="263"/>
                </a:cubicBezTo>
                <a:cubicBezTo>
                  <a:pt x="2429" y="108"/>
                  <a:pt x="2132" y="24"/>
                  <a:pt x="1810" y="24"/>
                </a:cubicBezTo>
                <a:cubicBezTo>
                  <a:pt x="1489" y="24"/>
                  <a:pt x="1191" y="96"/>
                  <a:pt x="917" y="263"/>
                </a:cubicBezTo>
                <a:cubicBezTo>
                  <a:pt x="643" y="405"/>
                  <a:pt x="417" y="632"/>
                  <a:pt x="262" y="917"/>
                </a:cubicBezTo>
                <a:cubicBezTo>
                  <a:pt x="108" y="1179"/>
                  <a:pt x="24" y="1477"/>
                  <a:pt x="24" y="1810"/>
                </a:cubicBezTo>
                <a:cubicBezTo>
                  <a:pt x="24" y="2120"/>
                  <a:pt x="96" y="2418"/>
                  <a:pt x="262" y="2703"/>
                </a:cubicBezTo>
                <a:cubicBezTo>
                  <a:pt x="405" y="2965"/>
                  <a:pt x="631" y="3191"/>
                  <a:pt x="917" y="3358"/>
                </a:cubicBezTo>
                <a:cubicBezTo>
                  <a:pt x="1179" y="3501"/>
                  <a:pt x="1477" y="3596"/>
                  <a:pt x="1810" y="3596"/>
                </a:cubicBezTo>
                <a:cubicBezTo>
                  <a:pt x="2120" y="3596"/>
                  <a:pt x="2417" y="3513"/>
                  <a:pt x="2703" y="3358"/>
                </a:cubicBezTo>
                <a:cubicBezTo>
                  <a:pt x="2858" y="3251"/>
                  <a:pt x="3025" y="3132"/>
                  <a:pt x="3156" y="2977"/>
                </a:cubicBezTo>
                <a:cubicBezTo>
                  <a:pt x="3707" y="2372"/>
                  <a:pt x="4319" y="2060"/>
                  <a:pt x="4926" y="2060"/>
                </a:cubicBezTo>
                <a:cubicBezTo>
                  <a:pt x="5131" y="2060"/>
                  <a:pt x="5335" y="2095"/>
                  <a:pt x="5537" y="2168"/>
                </a:cubicBezTo>
                <a:cubicBezTo>
                  <a:pt x="6215" y="2406"/>
                  <a:pt x="6608" y="3072"/>
                  <a:pt x="6477" y="3787"/>
                </a:cubicBezTo>
                <a:cubicBezTo>
                  <a:pt x="6311" y="4620"/>
                  <a:pt x="5656" y="5216"/>
                  <a:pt x="4584" y="5442"/>
                </a:cubicBezTo>
                <a:cubicBezTo>
                  <a:pt x="4394" y="5466"/>
                  <a:pt x="4203" y="5537"/>
                  <a:pt x="4025" y="5644"/>
                </a:cubicBezTo>
                <a:cubicBezTo>
                  <a:pt x="3751" y="5799"/>
                  <a:pt x="3537" y="6013"/>
                  <a:pt x="3370" y="6299"/>
                </a:cubicBezTo>
                <a:cubicBezTo>
                  <a:pt x="3215" y="6573"/>
                  <a:pt x="3132" y="6870"/>
                  <a:pt x="3132" y="7192"/>
                </a:cubicBezTo>
                <a:cubicBezTo>
                  <a:pt x="3132" y="7382"/>
                  <a:pt x="3156" y="7585"/>
                  <a:pt x="3215" y="7775"/>
                </a:cubicBezTo>
                <a:cubicBezTo>
                  <a:pt x="3739" y="9335"/>
                  <a:pt x="3072" y="10478"/>
                  <a:pt x="1465" y="10823"/>
                </a:cubicBezTo>
                <a:cubicBezTo>
                  <a:pt x="1274" y="10859"/>
                  <a:pt x="1072" y="10931"/>
                  <a:pt x="893" y="11038"/>
                </a:cubicBezTo>
                <a:cubicBezTo>
                  <a:pt x="631" y="11181"/>
                  <a:pt x="405" y="11407"/>
                  <a:pt x="239" y="11693"/>
                </a:cubicBezTo>
                <a:cubicBezTo>
                  <a:pt x="96" y="11954"/>
                  <a:pt x="0" y="12252"/>
                  <a:pt x="0" y="12585"/>
                </a:cubicBezTo>
                <a:cubicBezTo>
                  <a:pt x="0" y="12895"/>
                  <a:pt x="84" y="13193"/>
                  <a:pt x="239" y="13478"/>
                </a:cubicBezTo>
                <a:cubicBezTo>
                  <a:pt x="393" y="13740"/>
                  <a:pt x="620" y="13967"/>
                  <a:pt x="893" y="14133"/>
                </a:cubicBezTo>
                <a:cubicBezTo>
                  <a:pt x="1167" y="14276"/>
                  <a:pt x="1465" y="14371"/>
                  <a:pt x="1786" y="14371"/>
                </a:cubicBezTo>
                <a:cubicBezTo>
                  <a:pt x="2108" y="14371"/>
                  <a:pt x="2405" y="14288"/>
                  <a:pt x="2679" y="14133"/>
                </a:cubicBezTo>
                <a:cubicBezTo>
                  <a:pt x="2953" y="13979"/>
                  <a:pt x="3179" y="13752"/>
                  <a:pt x="3334" y="13478"/>
                </a:cubicBezTo>
                <a:cubicBezTo>
                  <a:pt x="3489" y="13205"/>
                  <a:pt x="3572" y="12907"/>
                  <a:pt x="3572" y="12585"/>
                </a:cubicBezTo>
                <a:cubicBezTo>
                  <a:pt x="3572" y="12383"/>
                  <a:pt x="3548" y="12193"/>
                  <a:pt x="3489" y="12002"/>
                </a:cubicBezTo>
                <a:cubicBezTo>
                  <a:pt x="2965" y="10442"/>
                  <a:pt x="3632" y="9276"/>
                  <a:pt x="5239" y="8954"/>
                </a:cubicBezTo>
                <a:cubicBezTo>
                  <a:pt x="5442" y="8918"/>
                  <a:pt x="5620" y="8847"/>
                  <a:pt x="5799" y="8740"/>
                </a:cubicBezTo>
                <a:cubicBezTo>
                  <a:pt x="6061" y="8597"/>
                  <a:pt x="6287" y="8371"/>
                  <a:pt x="6454" y="8085"/>
                </a:cubicBezTo>
                <a:cubicBezTo>
                  <a:pt x="6596" y="7823"/>
                  <a:pt x="6692" y="7525"/>
                  <a:pt x="6692" y="7192"/>
                </a:cubicBezTo>
                <a:cubicBezTo>
                  <a:pt x="6692" y="7001"/>
                  <a:pt x="6656" y="6811"/>
                  <a:pt x="6585" y="6609"/>
                </a:cubicBezTo>
                <a:cubicBezTo>
                  <a:pt x="6227" y="5573"/>
                  <a:pt x="6418" y="4692"/>
                  <a:pt x="7061" y="4144"/>
                </a:cubicBezTo>
                <a:cubicBezTo>
                  <a:pt x="7329" y="3912"/>
                  <a:pt x="7659" y="3796"/>
                  <a:pt x="7989" y="3796"/>
                </a:cubicBezTo>
                <a:cubicBezTo>
                  <a:pt x="8320" y="3796"/>
                  <a:pt x="8650" y="3912"/>
                  <a:pt x="8918" y="4144"/>
                </a:cubicBezTo>
                <a:cubicBezTo>
                  <a:pt x="9561" y="4692"/>
                  <a:pt x="9752" y="5561"/>
                  <a:pt x="9394" y="6597"/>
                </a:cubicBezTo>
                <a:cubicBezTo>
                  <a:pt x="9335" y="6775"/>
                  <a:pt x="9287" y="6990"/>
                  <a:pt x="9287" y="7192"/>
                </a:cubicBezTo>
                <a:cubicBezTo>
                  <a:pt x="9287" y="7502"/>
                  <a:pt x="9371" y="7799"/>
                  <a:pt x="9525" y="8085"/>
                </a:cubicBezTo>
                <a:cubicBezTo>
                  <a:pt x="9680" y="8359"/>
                  <a:pt x="9906" y="8573"/>
                  <a:pt x="10180" y="8740"/>
                </a:cubicBezTo>
                <a:cubicBezTo>
                  <a:pt x="10454" y="8895"/>
                  <a:pt x="10752" y="8978"/>
                  <a:pt x="11073" y="8978"/>
                </a:cubicBezTo>
                <a:cubicBezTo>
                  <a:pt x="11395" y="8978"/>
                  <a:pt x="11692" y="8906"/>
                  <a:pt x="11966" y="8740"/>
                </a:cubicBezTo>
                <a:cubicBezTo>
                  <a:pt x="12240" y="8597"/>
                  <a:pt x="12466" y="8371"/>
                  <a:pt x="12621" y="8085"/>
                </a:cubicBezTo>
                <a:cubicBezTo>
                  <a:pt x="12776" y="7823"/>
                  <a:pt x="12859" y="7525"/>
                  <a:pt x="12859" y="7192"/>
                </a:cubicBezTo>
                <a:cubicBezTo>
                  <a:pt x="12907" y="6882"/>
                  <a:pt x="12823" y="6573"/>
                  <a:pt x="12657" y="6287"/>
                </a:cubicBezTo>
                <a:cubicBezTo>
                  <a:pt x="12502" y="6013"/>
                  <a:pt x="12288" y="5799"/>
                  <a:pt x="12002" y="5632"/>
                </a:cubicBezTo>
                <a:cubicBezTo>
                  <a:pt x="11835" y="5525"/>
                  <a:pt x="11645" y="5466"/>
                  <a:pt x="11454" y="5418"/>
                </a:cubicBezTo>
                <a:cubicBezTo>
                  <a:pt x="9847" y="5096"/>
                  <a:pt x="9168" y="3930"/>
                  <a:pt x="9692" y="2382"/>
                </a:cubicBezTo>
                <a:cubicBezTo>
                  <a:pt x="9752" y="2203"/>
                  <a:pt x="9799" y="2001"/>
                  <a:pt x="9799" y="1787"/>
                </a:cubicBezTo>
                <a:cubicBezTo>
                  <a:pt x="9799" y="1477"/>
                  <a:pt x="9728" y="1179"/>
                  <a:pt x="9561" y="894"/>
                </a:cubicBezTo>
                <a:cubicBezTo>
                  <a:pt x="9406" y="632"/>
                  <a:pt x="9192" y="405"/>
                  <a:pt x="8906" y="239"/>
                </a:cubicBezTo>
                <a:cubicBezTo>
                  <a:pt x="8632" y="96"/>
                  <a:pt x="8335" y="1"/>
                  <a:pt x="8013" y="1"/>
                </a:cubicBezTo>
                <a:close/>
              </a:path>
            </a:pathLst>
          </a:custGeom>
          <a:noFill/>
          <a:ln cap="flat" cmpd="sng" w="28575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 rot="7198609">
            <a:off x="6143179" y="4269265"/>
            <a:ext cx="1436805" cy="52179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2880">
          <p15:clr>
            <a:srgbClr val="E46962"/>
          </p15:clr>
        </p15:guide>
        <p15:guide id="4" pos="4032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Divider 4">
  <p:cSld name="CUSTOM_1_1_1_1_1_1">
    <p:bg>
      <p:bgPr>
        <a:solidFill>
          <a:schemeClr val="accent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69" name="Google Shape;169;p11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171" name="Google Shape;171;p11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11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3" name="Google Shape;173;p11"/>
          <p:cNvSpPr/>
          <p:nvPr/>
        </p:nvSpPr>
        <p:spPr>
          <a:xfrm rot="7201997">
            <a:off x="4899462" y="2172377"/>
            <a:ext cx="4694558" cy="2633685"/>
          </a:xfrm>
          <a:custGeom>
            <a:rect b="b" l="l" r="r" t="t"/>
            <a:pathLst>
              <a:path extrusionOk="0" h="8978" w="16003">
                <a:moveTo>
                  <a:pt x="8001" y="1"/>
                </a:moveTo>
                <a:cubicBezTo>
                  <a:pt x="7680" y="1"/>
                  <a:pt x="7382" y="84"/>
                  <a:pt x="7108" y="239"/>
                </a:cubicBezTo>
                <a:cubicBezTo>
                  <a:pt x="6942" y="334"/>
                  <a:pt x="6775" y="465"/>
                  <a:pt x="6656" y="620"/>
                </a:cubicBezTo>
                <a:cubicBezTo>
                  <a:pt x="6113" y="1234"/>
                  <a:pt x="5504" y="1541"/>
                  <a:pt x="4895" y="1541"/>
                </a:cubicBezTo>
                <a:cubicBezTo>
                  <a:pt x="4289" y="1541"/>
                  <a:pt x="3684" y="1237"/>
                  <a:pt x="3143" y="632"/>
                </a:cubicBezTo>
                <a:cubicBezTo>
                  <a:pt x="3012" y="477"/>
                  <a:pt x="2858" y="346"/>
                  <a:pt x="2679" y="263"/>
                </a:cubicBezTo>
                <a:cubicBezTo>
                  <a:pt x="2417" y="108"/>
                  <a:pt x="2120" y="24"/>
                  <a:pt x="1786" y="24"/>
                </a:cubicBezTo>
                <a:cubicBezTo>
                  <a:pt x="1477" y="24"/>
                  <a:pt x="1179" y="96"/>
                  <a:pt x="893" y="263"/>
                </a:cubicBezTo>
                <a:cubicBezTo>
                  <a:pt x="631" y="405"/>
                  <a:pt x="405" y="632"/>
                  <a:pt x="238" y="917"/>
                </a:cubicBezTo>
                <a:cubicBezTo>
                  <a:pt x="95" y="1179"/>
                  <a:pt x="0" y="1477"/>
                  <a:pt x="0" y="1810"/>
                </a:cubicBezTo>
                <a:cubicBezTo>
                  <a:pt x="0" y="2120"/>
                  <a:pt x="84" y="2418"/>
                  <a:pt x="238" y="2703"/>
                </a:cubicBezTo>
                <a:cubicBezTo>
                  <a:pt x="393" y="2965"/>
                  <a:pt x="619" y="3191"/>
                  <a:pt x="893" y="3358"/>
                </a:cubicBezTo>
                <a:cubicBezTo>
                  <a:pt x="1167" y="3501"/>
                  <a:pt x="1465" y="3596"/>
                  <a:pt x="1786" y="3596"/>
                </a:cubicBezTo>
                <a:cubicBezTo>
                  <a:pt x="2108" y="3596"/>
                  <a:pt x="2405" y="3513"/>
                  <a:pt x="2679" y="3358"/>
                </a:cubicBezTo>
                <a:cubicBezTo>
                  <a:pt x="2846" y="3251"/>
                  <a:pt x="3012" y="3132"/>
                  <a:pt x="3143" y="2977"/>
                </a:cubicBezTo>
                <a:cubicBezTo>
                  <a:pt x="3686" y="2372"/>
                  <a:pt x="4302" y="2060"/>
                  <a:pt x="4912" y="2060"/>
                </a:cubicBezTo>
                <a:cubicBezTo>
                  <a:pt x="5118" y="2060"/>
                  <a:pt x="5323" y="2095"/>
                  <a:pt x="5525" y="2168"/>
                </a:cubicBezTo>
                <a:cubicBezTo>
                  <a:pt x="6191" y="2406"/>
                  <a:pt x="6596" y="3072"/>
                  <a:pt x="6465" y="3787"/>
                </a:cubicBezTo>
                <a:cubicBezTo>
                  <a:pt x="6299" y="4620"/>
                  <a:pt x="5644" y="5216"/>
                  <a:pt x="4572" y="5442"/>
                </a:cubicBezTo>
                <a:cubicBezTo>
                  <a:pt x="4382" y="5466"/>
                  <a:pt x="4191" y="5537"/>
                  <a:pt x="4013" y="5644"/>
                </a:cubicBezTo>
                <a:cubicBezTo>
                  <a:pt x="3739" y="5799"/>
                  <a:pt x="3513" y="6013"/>
                  <a:pt x="3358" y="6299"/>
                </a:cubicBezTo>
                <a:cubicBezTo>
                  <a:pt x="3203" y="6561"/>
                  <a:pt x="3120" y="6859"/>
                  <a:pt x="3120" y="7192"/>
                </a:cubicBezTo>
                <a:cubicBezTo>
                  <a:pt x="3120" y="7502"/>
                  <a:pt x="3191" y="7799"/>
                  <a:pt x="3358" y="8085"/>
                </a:cubicBezTo>
                <a:cubicBezTo>
                  <a:pt x="3501" y="8347"/>
                  <a:pt x="3727" y="8573"/>
                  <a:pt x="4013" y="8740"/>
                </a:cubicBezTo>
                <a:cubicBezTo>
                  <a:pt x="4275" y="8883"/>
                  <a:pt x="4572" y="8978"/>
                  <a:pt x="4906" y="8978"/>
                </a:cubicBezTo>
                <a:cubicBezTo>
                  <a:pt x="5215" y="8978"/>
                  <a:pt x="5513" y="8906"/>
                  <a:pt x="5799" y="8740"/>
                </a:cubicBezTo>
                <a:cubicBezTo>
                  <a:pt x="6060" y="8585"/>
                  <a:pt x="6287" y="8371"/>
                  <a:pt x="6453" y="8085"/>
                </a:cubicBezTo>
                <a:cubicBezTo>
                  <a:pt x="6596" y="7823"/>
                  <a:pt x="6692" y="7525"/>
                  <a:pt x="6692" y="7192"/>
                </a:cubicBezTo>
                <a:cubicBezTo>
                  <a:pt x="6692" y="7001"/>
                  <a:pt x="6656" y="6799"/>
                  <a:pt x="6596" y="6609"/>
                </a:cubicBezTo>
                <a:cubicBezTo>
                  <a:pt x="6239" y="5573"/>
                  <a:pt x="6430" y="4692"/>
                  <a:pt x="7084" y="4144"/>
                </a:cubicBezTo>
                <a:cubicBezTo>
                  <a:pt x="7352" y="3912"/>
                  <a:pt x="7686" y="3796"/>
                  <a:pt x="8019" y="3796"/>
                </a:cubicBezTo>
                <a:cubicBezTo>
                  <a:pt x="8352" y="3796"/>
                  <a:pt x="8686" y="3912"/>
                  <a:pt x="8954" y="4144"/>
                </a:cubicBezTo>
                <a:cubicBezTo>
                  <a:pt x="9585" y="4692"/>
                  <a:pt x="9787" y="5549"/>
                  <a:pt x="9430" y="6597"/>
                </a:cubicBezTo>
                <a:cubicBezTo>
                  <a:pt x="9370" y="6775"/>
                  <a:pt x="9323" y="6990"/>
                  <a:pt x="9323" y="7192"/>
                </a:cubicBezTo>
                <a:cubicBezTo>
                  <a:pt x="9323" y="7502"/>
                  <a:pt x="9394" y="7799"/>
                  <a:pt x="9561" y="8085"/>
                </a:cubicBezTo>
                <a:cubicBezTo>
                  <a:pt x="9704" y="8347"/>
                  <a:pt x="9930" y="8573"/>
                  <a:pt x="10216" y="8740"/>
                </a:cubicBezTo>
                <a:cubicBezTo>
                  <a:pt x="10478" y="8883"/>
                  <a:pt x="10775" y="8978"/>
                  <a:pt x="11109" y="8978"/>
                </a:cubicBezTo>
                <a:cubicBezTo>
                  <a:pt x="11418" y="8978"/>
                  <a:pt x="11716" y="8906"/>
                  <a:pt x="12002" y="8740"/>
                </a:cubicBezTo>
                <a:cubicBezTo>
                  <a:pt x="12264" y="8585"/>
                  <a:pt x="12490" y="8371"/>
                  <a:pt x="12657" y="8085"/>
                </a:cubicBezTo>
                <a:cubicBezTo>
                  <a:pt x="12799" y="7823"/>
                  <a:pt x="12895" y="7525"/>
                  <a:pt x="12895" y="7192"/>
                </a:cubicBezTo>
                <a:cubicBezTo>
                  <a:pt x="12895" y="6882"/>
                  <a:pt x="12823" y="6585"/>
                  <a:pt x="12657" y="6299"/>
                </a:cubicBezTo>
                <a:cubicBezTo>
                  <a:pt x="12502" y="6037"/>
                  <a:pt x="12287" y="5811"/>
                  <a:pt x="12002" y="5644"/>
                </a:cubicBezTo>
                <a:cubicBezTo>
                  <a:pt x="11835" y="5537"/>
                  <a:pt x="11645" y="5477"/>
                  <a:pt x="11454" y="5442"/>
                </a:cubicBezTo>
                <a:cubicBezTo>
                  <a:pt x="10359" y="5216"/>
                  <a:pt x="9704" y="4620"/>
                  <a:pt x="9549" y="3763"/>
                </a:cubicBezTo>
                <a:cubicBezTo>
                  <a:pt x="9430" y="3072"/>
                  <a:pt x="9811" y="2394"/>
                  <a:pt x="10478" y="2168"/>
                </a:cubicBezTo>
                <a:cubicBezTo>
                  <a:pt x="10688" y="2093"/>
                  <a:pt x="10901" y="2056"/>
                  <a:pt x="11112" y="2056"/>
                </a:cubicBezTo>
                <a:cubicBezTo>
                  <a:pt x="11714" y="2056"/>
                  <a:pt x="12310" y="2357"/>
                  <a:pt x="12847" y="2965"/>
                </a:cubicBezTo>
                <a:cubicBezTo>
                  <a:pt x="12978" y="3120"/>
                  <a:pt x="13133" y="3251"/>
                  <a:pt x="13311" y="3358"/>
                </a:cubicBezTo>
                <a:cubicBezTo>
                  <a:pt x="13573" y="3501"/>
                  <a:pt x="13871" y="3596"/>
                  <a:pt x="14204" y="3596"/>
                </a:cubicBezTo>
                <a:cubicBezTo>
                  <a:pt x="14514" y="3596"/>
                  <a:pt x="14812" y="3513"/>
                  <a:pt x="15097" y="3358"/>
                </a:cubicBezTo>
                <a:cubicBezTo>
                  <a:pt x="15359" y="3203"/>
                  <a:pt x="15585" y="2977"/>
                  <a:pt x="15752" y="2703"/>
                </a:cubicBezTo>
                <a:cubicBezTo>
                  <a:pt x="15895" y="2429"/>
                  <a:pt x="15990" y="2132"/>
                  <a:pt x="15990" y="1810"/>
                </a:cubicBezTo>
                <a:cubicBezTo>
                  <a:pt x="16002" y="1489"/>
                  <a:pt x="15931" y="1179"/>
                  <a:pt x="15764" y="894"/>
                </a:cubicBezTo>
                <a:cubicBezTo>
                  <a:pt x="15621" y="632"/>
                  <a:pt x="15395" y="405"/>
                  <a:pt x="15109" y="239"/>
                </a:cubicBezTo>
                <a:cubicBezTo>
                  <a:pt x="14847" y="96"/>
                  <a:pt x="14550" y="1"/>
                  <a:pt x="14216" y="1"/>
                </a:cubicBezTo>
                <a:cubicBezTo>
                  <a:pt x="13907" y="1"/>
                  <a:pt x="13609" y="84"/>
                  <a:pt x="13323" y="239"/>
                </a:cubicBezTo>
                <a:cubicBezTo>
                  <a:pt x="13157" y="346"/>
                  <a:pt x="13002" y="465"/>
                  <a:pt x="12859" y="620"/>
                </a:cubicBezTo>
                <a:cubicBezTo>
                  <a:pt x="12317" y="1233"/>
                  <a:pt x="11713" y="1539"/>
                  <a:pt x="11107" y="1539"/>
                </a:cubicBezTo>
                <a:cubicBezTo>
                  <a:pt x="10502" y="1539"/>
                  <a:pt x="9894" y="1233"/>
                  <a:pt x="9347" y="620"/>
                </a:cubicBezTo>
                <a:cubicBezTo>
                  <a:pt x="9216" y="465"/>
                  <a:pt x="9073" y="334"/>
                  <a:pt x="8894" y="239"/>
                </a:cubicBezTo>
                <a:cubicBezTo>
                  <a:pt x="8620" y="96"/>
                  <a:pt x="8323" y="1"/>
                  <a:pt x="8001" y="1"/>
                </a:cubicBezTo>
                <a:close/>
              </a:path>
            </a:pathLst>
          </a:custGeom>
          <a:noFill/>
          <a:ln cap="flat" cmpd="sng" w="28575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 rot="10799414">
            <a:off x="7656552" y="3618241"/>
            <a:ext cx="1889614" cy="1313283"/>
          </a:xfrm>
          <a:custGeom>
            <a:rect b="b" l="l" r="r" t="t"/>
            <a:pathLst>
              <a:path extrusionOk="0" h="8954" w="12883">
                <a:moveTo>
                  <a:pt x="7990" y="0"/>
                </a:moveTo>
                <a:cubicBezTo>
                  <a:pt x="7680" y="0"/>
                  <a:pt x="7382" y="72"/>
                  <a:pt x="7097" y="238"/>
                </a:cubicBezTo>
                <a:cubicBezTo>
                  <a:pt x="6930" y="322"/>
                  <a:pt x="6787" y="465"/>
                  <a:pt x="6644" y="607"/>
                </a:cubicBezTo>
                <a:cubicBezTo>
                  <a:pt x="6101" y="1228"/>
                  <a:pt x="5495" y="1538"/>
                  <a:pt x="4887" y="1538"/>
                </a:cubicBezTo>
                <a:cubicBezTo>
                  <a:pt x="4281" y="1538"/>
                  <a:pt x="3672" y="1231"/>
                  <a:pt x="3120" y="619"/>
                </a:cubicBezTo>
                <a:cubicBezTo>
                  <a:pt x="2989" y="476"/>
                  <a:pt x="2834" y="357"/>
                  <a:pt x="2656" y="250"/>
                </a:cubicBezTo>
                <a:cubicBezTo>
                  <a:pt x="2394" y="107"/>
                  <a:pt x="2096" y="12"/>
                  <a:pt x="1763" y="12"/>
                </a:cubicBezTo>
                <a:cubicBezTo>
                  <a:pt x="1453" y="12"/>
                  <a:pt x="1155" y="84"/>
                  <a:pt x="870" y="250"/>
                </a:cubicBezTo>
                <a:cubicBezTo>
                  <a:pt x="631" y="369"/>
                  <a:pt x="393" y="596"/>
                  <a:pt x="239" y="881"/>
                </a:cubicBezTo>
                <a:cubicBezTo>
                  <a:pt x="84" y="1143"/>
                  <a:pt x="0" y="1441"/>
                  <a:pt x="0" y="1774"/>
                </a:cubicBezTo>
                <a:cubicBezTo>
                  <a:pt x="0" y="2084"/>
                  <a:pt x="72" y="2381"/>
                  <a:pt x="239" y="2667"/>
                </a:cubicBezTo>
                <a:cubicBezTo>
                  <a:pt x="381" y="2929"/>
                  <a:pt x="608" y="3155"/>
                  <a:pt x="893" y="3310"/>
                </a:cubicBezTo>
                <a:cubicBezTo>
                  <a:pt x="1155" y="3465"/>
                  <a:pt x="1453" y="3560"/>
                  <a:pt x="1786" y="3560"/>
                </a:cubicBezTo>
                <a:cubicBezTo>
                  <a:pt x="2096" y="3560"/>
                  <a:pt x="2394" y="3477"/>
                  <a:pt x="2679" y="3310"/>
                </a:cubicBezTo>
                <a:cubicBezTo>
                  <a:pt x="2834" y="3215"/>
                  <a:pt x="3001" y="3096"/>
                  <a:pt x="3132" y="2941"/>
                </a:cubicBezTo>
                <a:cubicBezTo>
                  <a:pt x="3679" y="2322"/>
                  <a:pt x="4287" y="2012"/>
                  <a:pt x="4892" y="2012"/>
                </a:cubicBezTo>
                <a:cubicBezTo>
                  <a:pt x="5498" y="2012"/>
                  <a:pt x="6102" y="2322"/>
                  <a:pt x="6644" y="2941"/>
                </a:cubicBezTo>
                <a:cubicBezTo>
                  <a:pt x="6787" y="3096"/>
                  <a:pt x="6930" y="3227"/>
                  <a:pt x="7108" y="3334"/>
                </a:cubicBezTo>
                <a:cubicBezTo>
                  <a:pt x="7275" y="3441"/>
                  <a:pt x="7466" y="3501"/>
                  <a:pt x="7656" y="3536"/>
                </a:cubicBezTo>
                <a:cubicBezTo>
                  <a:pt x="9264" y="3870"/>
                  <a:pt x="9942" y="5025"/>
                  <a:pt x="9418" y="6572"/>
                </a:cubicBezTo>
                <a:cubicBezTo>
                  <a:pt x="9359" y="6751"/>
                  <a:pt x="9311" y="6965"/>
                  <a:pt x="9311" y="7168"/>
                </a:cubicBezTo>
                <a:cubicBezTo>
                  <a:pt x="9311" y="7477"/>
                  <a:pt x="9383" y="7775"/>
                  <a:pt x="9549" y="8061"/>
                </a:cubicBezTo>
                <a:cubicBezTo>
                  <a:pt x="9704" y="8335"/>
                  <a:pt x="9918" y="8549"/>
                  <a:pt x="10204" y="8716"/>
                </a:cubicBezTo>
                <a:cubicBezTo>
                  <a:pt x="10478" y="8870"/>
                  <a:pt x="10776" y="8954"/>
                  <a:pt x="11097" y="8954"/>
                </a:cubicBezTo>
                <a:cubicBezTo>
                  <a:pt x="11407" y="8954"/>
                  <a:pt x="11704" y="8882"/>
                  <a:pt x="11990" y="8716"/>
                </a:cubicBezTo>
                <a:cubicBezTo>
                  <a:pt x="12264" y="8573"/>
                  <a:pt x="12478" y="8347"/>
                  <a:pt x="12645" y="8061"/>
                </a:cubicBezTo>
                <a:cubicBezTo>
                  <a:pt x="12800" y="7799"/>
                  <a:pt x="12883" y="7501"/>
                  <a:pt x="12883" y="7168"/>
                </a:cubicBezTo>
                <a:cubicBezTo>
                  <a:pt x="12883" y="6858"/>
                  <a:pt x="12812" y="6561"/>
                  <a:pt x="12645" y="6275"/>
                </a:cubicBezTo>
                <a:cubicBezTo>
                  <a:pt x="12502" y="6013"/>
                  <a:pt x="12276" y="5787"/>
                  <a:pt x="11990" y="5620"/>
                </a:cubicBezTo>
                <a:cubicBezTo>
                  <a:pt x="11823" y="5525"/>
                  <a:pt x="11633" y="5453"/>
                  <a:pt x="11442" y="5418"/>
                </a:cubicBezTo>
                <a:cubicBezTo>
                  <a:pt x="9835" y="5084"/>
                  <a:pt x="9144" y="3929"/>
                  <a:pt x="9668" y="2370"/>
                </a:cubicBezTo>
                <a:cubicBezTo>
                  <a:pt x="9728" y="2191"/>
                  <a:pt x="9775" y="1977"/>
                  <a:pt x="9775" y="1786"/>
                </a:cubicBezTo>
                <a:cubicBezTo>
                  <a:pt x="9775" y="1477"/>
                  <a:pt x="9704" y="1179"/>
                  <a:pt x="9537" y="893"/>
                </a:cubicBezTo>
                <a:cubicBezTo>
                  <a:pt x="9383" y="619"/>
                  <a:pt x="9168" y="405"/>
                  <a:pt x="8883" y="238"/>
                </a:cubicBezTo>
                <a:cubicBezTo>
                  <a:pt x="8609" y="84"/>
                  <a:pt x="8311" y="0"/>
                  <a:pt x="7990" y="0"/>
                </a:cubicBezTo>
                <a:close/>
              </a:path>
            </a:pathLst>
          </a:cu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2880">
          <p15:clr>
            <a:srgbClr val="E46962"/>
          </p15:clr>
        </p15:guide>
        <p15:guide id="4" pos="4032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Divider 5">
  <p:cSld name="CUSTOM_1_1_1_1_1_1_1">
    <p:bg>
      <p:bgPr>
        <a:solidFill>
          <a:schemeClr val="accent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7" name="Google Shape;177;p12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78" name="Google Shape;178;p12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180" name="Google Shape;180;p12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" name="Google Shape;182;p12"/>
          <p:cNvSpPr/>
          <p:nvPr/>
        </p:nvSpPr>
        <p:spPr>
          <a:xfrm rot="3599554">
            <a:off x="5780361" y="2207877"/>
            <a:ext cx="3788938" cy="4216565"/>
          </a:xfrm>
          <a:custGeom>
            <a:rect b="b" l="l" r="r" t="t"/>
            <a:pathLst>
              <a:path extrusionOk="0" h="14372" w="12919">
                <a:moveTo>
                  <a:pt x="8025" y="1"/>
                </a:moveTo>
                <a:cubicBezTo>
                  <a:pt x="7704" y="1"/>
                  <a:pt x="7406" y="84"/>
                  <a:pt x="7132" y="239"/>
                </a:cubicBezTo>
                <a:cubicBezTo>
                  <a:pt x="6966" y="334"/>
                  <a:pt x="6811" y="465"/>
                  <a:pt x="6680" y="620"/>
                </a:cubicBezTo>
                <a:cubicBezTo>
                  <a:pt x="6137" y="1234"/>
                  <a:pt x="5528" y="1541"/>
                  <a:pt x="4918" y="1541"/>
                </a:cubicBezTo>
                <a:cubicBezTo>
                  <a:pt x="4310" y="1541"/>
                  <a:pt x="3702" y="1237"/>
                  <a:pt x="3156" y="632"/>
                </a:cubicBezTo>
                <a:cubicBezTo>
                  <a:pt x="3025" y="477"/>
                  <a:pt x="2870" y="358"/>
                  <a:pt x="2691" y="263"/>
                </a:cubicBezTo>
                <a:cubicBezTo>
                  <a:pt x="2429" y="108"/>
                  <a:pt x="2132" y="24"/>
                  <a:pt x="1798" y="24"/>
                </a:cubicBezTo>
                <a:cubicBezTo>
                  <a:pt x="1489" y="24"/>
                  <a:pt x="1191" y="96"/>
                  <a:pt x="905" y="263"/>
                </a:cubicBezTo>
                <a:cubicBezTo>
                  <a:pt x="643" y="405"/>
                  <a:pt x="417" y="632"/>
                  <a:pt x="250" y="917"/>
                </a:cubicBezTo>
                <a:cubicBezTo>
                  <a:pt x="108" y="1179"/>
                  <a:pt x="12" y="1477"/>
                  <a:pt x="12" y="1810"/>
                </a:cubicBezTo>
                <a:cubicBezTo>
                  <a:pt x="12" y="2120"/>
                  <a:pt x="84" y="2418"/>
                  <a:pt x="250" y="2703"/>
                </a:cubicBezTo>
                <a:cubicBezTo>
                  <a:pt x="405" y="2965"/>
                  <a:pt x="619" y="3191"/>
                  <a:pt x="905" y="3358"/>
                </a:cubicBezTo>
                <a:cubicBezTo>
                  <a:pt x="1179" y="3501"/>
                  <a:pt x="1477" y="3596"/>
                  <a:pt x="1798" y="3596"/>
                </a:cubicBezTo>
                <a:cubicBezTo>
                  <a:pt x="2108" y="3596"/>
                  <a:pt x="2405" y="3513"/>
                  <a:pt x="2691" y="3358"/>
                </a:cubicBezTo>
                <a:cubicBezTo>
                  <a:pt x="2858" y="3251"/>
                  <a:pt x="3025" y="3132"/>
                  <a:pt x="3156" y="2977"/>
                </a:cubicBezTo>
                <a:cubicBezTo>
                  <a:pt x="3697" y="2364"/>
                  <a:pt x="4304" y="2057"/>
                  <a:pt x="4912" y="2057"/>
                </a:cubicBezTo>
                <a:cubicBezTo>
                  <a:pt x="5519" y="2057"/>
                  <a:pt x="6126" y="2364"/>
                  <a:pt x="6668" y="2977"/>
                </a:cubicBezTo>
                <a:cubicBezTo>
                  <a:pt x="6799" y="3132"/>
                  <a:pt x="6954" y="3263"/>
                  <a:pt x="7132" y="3370"/>
                </a:cubicBezTo>
                <a:cubicBezTo>
                  <a:pt x="7287" y="3477"/>
                  <a:pt x="7489" y="3537"/>
                  <a:pt x="7680" y="3572"/>
                </a:cubicBezTo>
                <a:cubicBezTo>
                  <a:pt x="9287" y="3906"/>
                  <a:pt x="9954" y="5061"/>
                  <a:pt x="9430" y="6609"/>
                </a:cubicBezTo>
                <a:cubicBezTo>
                  <a:pt x="9371" y="6787"/>
                  <a:pt x="9335" y="7001"/>
                  <a:pt x="9335" y="7204"/>
                </a:cubicBezTo>
                <a:cubicBezTo>
                  <a:pt x="9335" y="7406"/>
                  <a:pt x="9359" y="7597"/>
                  <a:pt x="9430" y="7787"/>
                </a:cubicBezTo>
                <a:cubicBezTo>
                  <a:pt x="9954" y="9347"/>
                  <a:pt x="9287" y="10502"/>
                  <a:pt x="7680" y="10835"/>
                </a:cubicBezTo>
                <a:cubicBezTo>
                  <a:pt x="7489" y="10871"/>
                  <a:pt x="7287" y="10942"/>
                  <a:pt x="7108" y="11050"/>
                </a:cubicBezTo>
                <a:cubicBezTo>
                  <a:pt x="6954" y="11157"/>
                  <a:pt x="6787" y="11276"/>
                  <a:pt x="6656" y="11419"/>
                </a:cubicBezTo>
                <a:cubicBezTo>
                  <a:pt x="6108" y="12038"/>
                  <a:pt x="5501" y="12347"/>
                  <a:pt x="4895" y="12347"/>
                </a:cubicBezTo>
                <a:cubicBezTo>
                  <a:pt x="4290" y="12347"/>
                  <a:pt x="3685" y="12038"/>
                  <a:pt x="3144" y="11419"/>
                </a:cubicBezTo>
                <a:cubicBezTo>
                  <a:pt x="3001" y="11276"/>
                  <a:pt x="2858" y="11133"/>
                  <a:pt x="2679" y="11038"/>
                </a:cubicBezTo>
                <a:cubicBezTo>
                  <a:pt x="2405" y="10883"/>
                  <a:pt x="2108" y="10800"/>
                  <a:pt x="1786" y="10800"/>
                </a:cubicBezTo>
                <a:cubicBezTo>
                  <a:pt x="1477" y="10800"/>
                  <a:pt x="1179" y="10871"/>
                  <a:pt x="893" y="11038"/>
                </a:cubicBezTo>
                <a:cubicBezTo>
                  <a:pt x="619" y="11181"/>
                  <a:pt x="405" y="11407"/>
                  <a:pt x="238" y="11693"/>
                </a:cubicBezTo>
                <a:cubicBezTo>
                  <a:pt x="84" y="11954"/>
                  <a:pt x="0" y="12252"/>
                  <a:pt x="0" y="12585"/>
                </a:cubicBezTo>
                <a:cubicBezTo>
                  <a:pt x="0" y="12895"/>
                  <a:pt x="72" y="13193"/>
                  <a:pt x="238" y="13478"/>
                </a:cubicBezTo>
                <a:cubicBezTo>
                  <a:pt x="381" y="13740"/>
                  <a:pt x="608" y="13967"/>
                  <a:pt x="893" y="14133"/>
                </a:cubicBezTo>
                <a:cubicBezTo>
                  <a:pt x="1155" y="14276"/>
                  <a:pt x="1453" y="14371"/>
                  <a:pt x="1786" y="14371"/>
                </a:cubicBezTo>
                <a:cubicBezTo>
                  <a:pt x="2096" y="14371"/>
                  <a:pt x="2394" y="14288"/>
                  <a:pt x="2679" y="14133"/>
                </a:cubicBezTo>
                <a:cubicBezTo>
                  <a:pt x="2846" y="14038"/>
                  <a:pt x="3001" y="13907"/>
                  <a:pt x="3120" y="13752"/>
                </a:cubicBezTo>
                <a:cubicBezTo>
                  <a:pt x="3667" y="13139"/>
                  <a:pt x="4275" y="12833"/>
                  <a:pt x="4880" y="12833"/>
                </a:cubicBezTo>
                <a:cubicBezTo>
                  <a:pt x="5486" y="12833"/>
                  <a:pt x="6090" y="13139"/>
                  <a:pt x="6632" y="13752"/>
                </a:cubicBezTo>
                <a:cubicBezTo>
                  <a:pt x="6775" y="13907"/>
                  <a:pt x="6918" y="14038"/>
                  <a:pt x="7096" y="14133"/>
                </a:cubicBezTo>
                <a:cubicBezTo>
                  <a:pt x="7370" y="14276"/>
                  <a:pt x="7668" y="14371"/>
                  <a:pt x="7989" y="14371"/>
                </a:cubicBezTo>
                <a:cubicBezTo>
                  <a:pt x="8299" y="14371"/>
                  <a:pt x="8597" y="14288"/>
                  <a:pt x="8882" y="14133"/>
                </a:cubicBezTo>
                <a:cubicBezTo>
                  <a:pt x="9156" y="13979"/>
                  <a:pt x="9371" y="13752"/>
                  <a:pt x="9537" y="13478"/>
                </a:cubicBezTo>
                <a:cubicBezTo>
                  <a:pt x="9692" y="13205"/>
                  <a:pt x="9775" y="12907"/>
                  <a:pt x="9775" y="12585"/>
                </a:cubicBezTo>
                <a:cubicBezTo>
                  <a:pt x="9775" y="12383"/>
                  <a:pt x="9752" y="12193"/>
                  <a:pt x="9692" y="12002"/>
                </a:cubicBezTo>
                <a:cubicBezTo>
                  <a:pt x="9168" y="10442"/>
                  <a:pt x="9835" y="9276"/>
                  <a:pt x="11442" y="8954"/>
                </a:cubicBezTo>
                <a:cubicBezTo>
                  <a:pt x="11633" y="8918"/>
                  <a:pt x="11811" y="8847"/>
                  <a:pt x="11990" y="8740"/>
                </a:cubicBezTo>
                <a:cubicBezTo>
                  <a:pt x="12264" y="8597"/>
                  <a:pt x="12490" y="8371"/>
                  <a:pt x="12645" y="8085"/>
                </a:cubicBezTo>
                <a:cubicBezTo>
                  <a:pt x="12800" y="7823"/>
                  <a:pt x="12883" y="7525"/>
                  <a:pt x="12883" y="7192"/>
                </a:cubicBezTo>
                <a:cubicBezTo>
                  <a:pt x="12919" y="6882"/>
                  <a:pt x="12847" y="6573"/>
                  <a:pt x="12681" y="6287"/>
                </a:cubicBezTo>
                <a:cubicBezTo>
                  <a:pt x="12526" y="6013"/>
                  <a:pt x="12311" y="5799"/>
                  <a:pt x="12026" y="5632"/>
                </a:cubicBezTo>
                <a:cubicBezTo>
                  <a:pt x="11859" y="5537"/>
                  <a:pt x="11668" y="5466"/>
                  <a:pt x="11478" y="5418"/>
                </a:cubicBezTo>
                <a:cubicBezTo>
                  <a:pt x="9871" y="5096"/>
                  <a:pt x="9180" y="3930"/>
                  <a:pt x="9704" y="2370"/>
                </a:cubicBezTo>
                <a:cubicBezTo>
                  <a:pt x="9763" y="2191"/>
                  <a:pt x="9811" y="1989"/>
                  <a:pt x="9811" y="1787"/>
                </a:cubicBezTo>
                <a:cubicBezTo>
                  <a:pt x="9811" y="1477"/>
                  <a:pt x="9728" y="1179"/>
                  <a:pt x="9573" y="894"/>
                </a:cubicBezTo>
                <a:cubicBezTo>
                  <a:pt x="9418" y="632"/>
                  <a:pt x="9192" y="405"/>
                  <a:pt x="8918" y="239"/>
                </a:cubicBezTo>
                <a:cubicBezTo>
                  <a:pt x="8644" y="96"/>
                  <a:pt x="8347" y="1"/>
                  <a:pt x="8025" y="1"/>
                </a:cubicBezTo>
                <a:close/>
              </a:path>
            </a:pathLst>
          </a:custGeom>
          <a:noFill/>
          <a:ln cap="flat" cmpd="sng" w="28575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 rot="-7200060">
            <a:off x="6859206" y="1881903"/>
            <a:ext cx="1892754" cy="2109465"/>
          </a:xfrm>
          <a:custGeom>
            <a:rect b="b" l="l" r="r" t="t"/>
            <a:pathLst>
              <a:path extrusionOk="0" h="14384" w="12907">
                <a:moveTo>
                  <a:pt x="8001" y="0"/>
                </a:moveTo>
                <a:cubicBezTo>
                  <a:pt x="7692" y="0"/>
                  <a:pt x="7394" y="84"/>
                  <a:pt x="7108" y="238"/>
                </a:cubicBezTo>
                <a:cubicBezTo>
                  <a:pt x="6954" y="334"/>
                  <a:pt x="6799" y="465"/>
                  <a:pt x="6668" y="619"/>
                </a:cubicBezTo>
                <a:cubicBezTo>
                  <a:pt x="6125" y="1234"/>
                  <a:pt x="5516" y="1541"/>
                  <a:pt x="4906" y="1541"/>
                </a:cubicBezTo>
                <a:cubicBezTo>
                  <a:pt x="4299" y="1541"/>
                  <a:pt x="3690" y="1237"/>
                  <a:pt x="3144" y="631"/>
                </a:cubicBezTo>
                <a:cubicBezTo>
                  <a:pt x="3001" y="477"/>
                  <a:pt x="2858" y="358"/>
                  <a:pt x="2679" y="262"/>
                </a:cubicBezTo>
                <a:cubicBezTo>
                  <a:pt x="2405" y="107"/>
                  <a:pt x="2108" y="24"/>
                  <a:pt x="1786" y="24"/>
                </a:cubicBezTo>
                <a:cubicBezTo>
                  <a:pt x="1477" y="24"/>
                  <a:pt x="1179" y="96"/>
                  <a:pt x="893" y="262"/>
                </a:cubicBezTo>
                <a:cubicBezTo>
                  <a:pt x="619" y="405"/>
                  <a:pt x="405" y="631"/>
                  <a:pt x="238" y="917"/>
                </a:cubicBezTo>
                <a:cubicBezTo>
                  <a:pt x="84" y="1179"/>
                  <a:pt x="0" y="1477"/>
                  <a:pt x="0" y="1810"/>
                </a:cubicBezTo>
                <a:cubicBezTo>
                  <a:pt x="0" y="2120"/>
                  <a:pt x="72" y="2417"/>
                  <a:pt x="238" y="2703"/>
                </a:cubicBezTo>
                <a:cubicBezTo>
                  <a:pt x="381" y="2965"/>
                  <a:pt x="608" y="3191"/>
                  <a:pt x="893" y="3358"/>
                </a:cubicBezTo>
                <a:cubicBezTo>
                  <a:pt x="1155" y="3501"/>
                  <a:pt x="1453" y="3596"/>
                  <a:pt x="1786" y="3596"/>
                </a:cubicBezTo>
                <a:cubicBezTo>
                  <a:pt x="2096" y="3596"/>
                  <a:pt x="2394" y="3513"/>
                  <a:pt x="2679" y="3358"/>
                </a:cubicBezTo>
                <a:cubicBezTo>
                  <a:pt x="2846" y="3251"/>
                  <a:pt x="3001" y="3132"/>
                  <a:pt x="3144" y="2977"/>
                </a:cubicBezTo>
                <a:cubicBezTo>
                  <a:pt x="3685" y="2364"/>
                  <a:pt x="4290" y="2057"/>
                  <a:pt x="4895" y="2057"/>
                </a:cubicBezTo>
                <a:cubicBezTo>
                  <a:pt x="5501" y="2057"/>
                  <a:pt x="6108" y="2364"/>
                  <a:pt x="6656" y="2977"/>
                </a:cubicBezTo>
                <a:cubicBezTo>
                  <a:pt x="6787" y="3132"/>
                  <a:pt x="6930" y="3263"/>
                  <a:pt x="7108" y="3370"/>
                </a:cubicBezTo>
                <a:cubicBezTo>
                  <a:pt x="7275" y="3477"/>
                  <a:pt x="7466" y="3536"/>
                  <a:pt x="7668" y="3572"/>
                </a:cubicBezTo>
                <a:cubicBezTo>
                  <a:pt x="9275" y="3906"/>
                  <a:pt x="9942" y="5060"/>
                  <a:pt x="9418" y="6608"/>
                </a:cubicBezTo>
                <a:cubicBezTo>
                  <a:pt x="9359" y="6787"/>
                  <a:pt x="9311" y="7001"/>
                  <a:pt x="9311" y="7204"/>
                </a:cubicBezTo>
                <a:cubicBezTo>
                  <a:pt x="9311" y="7406"/>
                  <a:pt x="9347" y="7596"/>
                  <a:pt x="9406" y="7787"/>
                </a:cubicBezTo>
                <a:cubicBezTo>
                  <a:pt x="9930" y="9347"/>
                  <a:pt x="9252" y="10514"/>
                  <a:pt x="7644" y="10835"/>
                </a:cubicBezTo>
                <a:cubicBezTo>
                  <a:pt x="7454" y="10871"/>
                  <a:pt x="7275" y="10942"/>
                  <a:pt x="7096" y="11049"/>
                </a:cubicBezTo>
                <a:cubicBezTo>
                  <a:pt x="6835" y="11192"/>
                  <a:pt x="6608" y="11418"/>
                  <a:pt x="6442" y="11704"/>
                </a:cubicBezTo>
                <a:cubicBezTo>
                  <a:pt x="6299" y="11966"/>
                  <a:pt x="6204" y="12264"/>
                  <a:pt x="6204" y="12597"/>
                </a:cubicBezTo>
                <a:cubicBezTo>
                  <a:pt x="6204" y="12907"/>
                  <a:pt x="6275" y="13204"/>
                  <a:pt x="6442" y="13490"/>
                </a:cubicBezTo>
                <a:cubicBezTo>
                  <a:pt x="6596" y="13752"/>
                  <a:pt x="6811" y="13978"/>
                  <a:pt x="7096" y="14145"/>
                </a:cubicBezTo>
                <a:cubicBezTo>
                  <a:pt x="7370" y="14288"/>
                  <a:pt x="7668" y="14383"/>
                  <a:pt x="7989" y="14383"/>
                </a:cubicBezTo>
                <a:cubicBezTo>
                  <a:pt x="8299" y="14383"/>
                  <a:pt x="8597" y="14312"/>
                  <a:pt x="8882" y="14145"/>
                </a:cubicBezTo>
                <a:cubicBezTo>
                  <a:pt x="9168" y="13966"/>
                  <a:pt x="9406" y="13740"/>
                  <a:pt x="9573" y="13454"/>
                </a:cubicBezTo>
                <a:cubicBezTo>
                  <a:pt x="9716" y="13192"/>
                  <a:pt x="9811" y="12895"/>
                  <a:pt x="9811" y="12561"/>
                </a:cubicBezTo>
                <a:cubicBezTo>
                  <a:pt x="9811" y="12371"/>
                  <a:pt x="9775" y="12180"/>
                  <a:pt x="9704" y="11990"/>
                </a:cubicBezTo>
                <a:cubicBezTo>
                  <a:pt x="9180" y="10418"/>
                  <a:pt x="9847" y="9263"/>
                  <a:pt x="11454" y="8930"/>
                </a:cubicBezTo>
                <a:cubicBezTo>
                  <a:pt x="11657" y="8906"/>
                  <a:pt x="11835" y="8823"/>
                  <a:pt x="12014" y="8728"/>
                </a:cubicBezTo>
                <a:cubicBezTo>
                  <a:pt x="12276" y="8573"/>
                  <a:pt x="12502" y="8358"/>
                  <a:pt x="12669" y="8073"/>
                </a:cubicBezTo>
                <a:cubicBezTo>
                  <a:pt x="12811" y="7799"/>
                  <a:pt x="12907" y="7501"/>
                  <a:pt x="12907" y="7180"/>
                </a:cubicBezTo>
                <a:cubicBezTo>
                  <a:pt x="12907" y="6870"/>
                  <a:pt x="12823" y="6573"/>
                  <a:pt x="12669" y="6287"/>
                </a:cubicBezTo>
                <a:cubicBezTo>
                  <a:pt x="12514" y="6013"/>
                  <a:pt x="12288" y="5799"/>
                  <a:pt x="12014" y="5632"/>
                </a:cubicBezTo>
                <a:cubicBezTo>
                  <a:pt x="11847" y="5525"/>
                  <a:pt x="11657" y="5465"/>
                  <a:pt x="11454" y="5418"/>
                </a:cubicBezTo>
                <a:cubicBezTo>
                  <a:pt x="9847" y="5096"/>
                  <a:pt x="9168" y="3929"/>
                  <a:pt x="9692" y="2370"/>
                </a:cubicBezTo>
                <a:cubicBezTo>
                  <a:pt x="9752" y="2191"/>
                  <a:pt x="9787" y="1989"/>
                  <a:pt x="9787" y="1786"/>
                </a:cubicBezTo>
                <a:cubicBezTo>
                  <a:pt x="9787" y="1477"/>
                  <a:pt x="9716" y="1179"/>
                  <a:pt x="9549" y="893"/>
                </a:cubicBezTo>
                <a:cubicBezTo>
                  <a:pt x="9406" y="631"/>
                  <a:pt x="9180" y="405"/>
                  <a:pt x="8894" y="238"/>
                </a:cubicBezTo>
                <a:cubicBezTo>
                  <a:pt x="8632" y="96"/>
                  <a:pt x="8335" y="0"/>
                  <a:pt x="8001" y="0"/>
                </a:cubicBezTo>
                <a:close/>
              </a:path>
            </a:pathLst>
          </a:cu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2880">
          <p15:clr>
            <a:srgbClr val="E46962"/>
          </p15:clr>
        </p15:guide>
        <p15:guide id="4" pos="4032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Blank - Headline only">
  <p:cSld name="CUSTOM"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7" name="Google Shape;187;p13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88" name="Google Shape;188;p13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Title and text">
  <p:cSld name="CUSTOM_3"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365750" y="960120"/>
            <a:ext cx="81381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194" name="Google Shape;194;p14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195" name="Google Shape;195;p14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itle and 2 columns">
  <p:cSld name="CUSTOM_2_2"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36575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01" name="Google Shape;201;p15"/>
          <p:cNvSpPr txBox="1"/>
          <p:nvPr>
            <p:ph idx="2" type="body"/>
          </p:nvPr>
        </p:nvSpPr>
        <p:spPr>
          <a:xfrm>
            <a:off x="502920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02" name="Google Shape;202;p15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03" name="Google Shape;203;p15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itle and 3 columns">
  <p:cSld name="CUSTOM_2_1"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1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365750" y="960120"/>
            <a:ext cx="21945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09" name="Google Shape;209;p16"/>
          <p:cNvSpPr txBox="1"/>
          <p:nvPr>
            <p:ph idx="2" type="body"/>
          </p:nvPr>
        </p:nvSpPr>
        <p:spPr>
          <a:xfrm>
            <a:off x="3337525" y="960120"/>
            <a:ext cx="21945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10" name="Google Shape;210;p16"/>
          <p:cNvSpPr txBox="1"/>
          <p:nvPr>
            <p:ph idx="3" type="body"/>
          </p:nvPr>
        </p:nvSpPr>
        <p:spPr>
          <a:xfrm>
            <a:off x="6309325" y="960120"/>
            <a:ext cx="21945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11" name="Google Shape;211;p16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12" name="Google Shape;212;p16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613">
          <p15:clr>
            <a:srgbClr val="E46962"/>
          </p15:clr>
        </p15:guide>
        <p15:guide id="4" pos="2102">
          <p15:clr>
            <a:srgbClr val="E46962"/>
          </p15:clr>
        </p15:guide>
        <p15:guide id="5" pos="3485">
          <p15:clr>
            <a:srgbClr val="E46962"/>
          </p15:clr>
        </p15:guide>
        <p15:guide id="6" pos="397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Title 4 columns">
  <p:cSld name="CUSTOM_2_1_1_1_1"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17"/>
          <p:cNvSpPr txBox="1"/>
          <p:nvPr>
            <p:ph idx="1" type="body"/>
          </p:nvPr>
        </p:nvSpPr>
        <p:spPr>
          <a:xfrm>
            <a:off x="36575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18" name="Google Shape;218;p17"/>
          <p:cNvSpPr txBox="1"/>
          <p:nvPr>
            <p:ph idx="2" type="body"/>
          </p:nvPr>
        </p:nvSpPr>
        <p:spPr>
          <a:xfrm>
            <a:off x="473190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19" name="Google Shape;219;p17"/>
          <p:cNvSpPr txBox="1"/>
          <p:nvPr>
            <p:ph idx="3" type="body"/>
          </p:nvPr>
        </p:nvSpPr>
        <p:spPr>
          <a:xfrm>
            <a:off x="254885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4" type="body"/>
          </p:nvPr>
        </p:nvSpPr>
        <p:spPr>
          <a:xfrm>
            <a:off x="691500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21" name="Google Shape;221;p17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22" name="Google Shape;222;p17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231">
          <p15:clr>
            <a:srgbClr val="E46962"/>
          </p15:clr>
        </p15:guide>
        <p15:guide id="4" pos="1606">
          <p15:clr>
            <a:srgbClr val="E46962"/>
          </p15:clr>
        </p15:guide>
        <p15:guide id="5" pos="3982">
          <p15:clr>
            <a:srgbClr val="E46962"/>
          </p15:clr>
        </p15:guide>
        <p15:guide id="6" pos="4356">
          <p15:clr>
            <a:srgbClr val="E46962"/>
          </p15:clr>
        </p15:guide>
        <p15:guide id="7" pos="2606">
          <p15:clr>
            <a:srgbClr val="E46962"/>
          </p15:clr>
        </p15:guide>
        <p15:guide id="8" pos="298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Title 3 columns w eyebrow">
  <p:cSld name="CUSTOM_2_1_3_2_1_1"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>
            <p:ph idx="2" type="pic"/>
          </p:nvPr>
        </p:nvSpPr>
        <p:spPr>
          <a:xfrm>
            <a:off x="367550" y="1280160"/>
            <a:ext cx="2194500" cy="12807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9" name="Google Shape;229;p18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30" name="Google Shape;230;p18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232" name="Google Shape;232;p18"/>
          <p:cNvSpPr txBox="1"/>
          <p:nvPr>
            <p:ph idx="3" type="subTitle"/>
          </p:nvPr>
        </p:nvSpPr>
        <p:spPr>
          <a:xfrm>
            <a:off x="365750" y="2743200"/>
            <a:ext cx="21945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33" name="Google Shape;233;p18"/>
          <p:cNvSpPr/>
          <p:nvPr>
            <p:ph idx="4" type="pic"/>
          </p:nvPr>
        </p:nvSpPr>
        <p:spPr>
          <a:xfrm>
            <a:off x="3337560" y="1280160"/>
            <a:ext cx="2194500" cy="12807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18"/>
          <p:cNvSpPr/>
          <p:nvPr>
            <p:ph idx="5" type="pic"/>
          </p:nvPr>
        </p:nvSpPr>
        <p:spPr>
          <a:xfrm>
            <a:off x="6309360" y="1280160"/>
            <a:ext cx="2194500" cy="12807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18"/>
          <p:cNvSpPr txBox="1"/>
          <p:nvPr>
            <p:ph idx="6" type="subTitle"/>
          </p:nvPr>
        </p:nvSpPr>
        <p:spPr>
          <a:xfrm>
            <a:off x="3337550" y="2743200"/>
            <a:ext cx="21945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36" name="Google Shape;236;p18"/>
          <p:cNvSpPr txBox="1"/>
          <p:nvPr>
            <p:ph idx="7" type="subTitle"/>
          </p:nvPr>
        </p:nvSpPr>
        <p:spPr>
          <a:xfrm>
            <a:off x="6309350" y="2743200"/>
            <a:ext cx="21945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37" name="Google Shape;237;p18"/>
          <p:cNvSpPr txBox="1"/>
          <p:nvPr>
            <p:ph idx="8" type="body"/>
          </p:nvPr>
        </p:nvSpPr>
        <p:spPr>
          <a:xfrm>
            <a:off x="365760" y="3200400"/>
            <a:ext cx="21945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38" name="Google Shape;238;p18"/>
          <p:cNvSpPr txBox="1"/>
          <p:nvPr>
            <p:ph idx="9" type="body"/>
          </p:nvPr>
        </p:nvSpPr>
        <p:spPr>
          <a:xfrm>
            <a:off x="3337560" y="3200400"/>
            <a:ext cx="21945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39" name="Google Shape;239;p18"/>
          <p:cNvSpPr txBox="1"/>
          <p:nvPr>
            <p:ph idx="13" type="body"/>
          </p:nvPr>
        </p:nvSpPr>
        <p:spPr>
          <a:xfrm>
            <a:off x="6309360" y="3200400"/>
            <a:ext cx="21945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613">
          <p15:clr>
            <a:srgbClr val="E46962"/>
          </p15:clr>
        </p15:guide>
        <p15:guide id="4" pos="2102">
          <p15:clr>
            <a:srgbClr val="E46962"/>
          </p15:clr>
        </p15:guide>
        <p15:guide id="5" pos="3485">
          <p15:clr>
            <a:srgbClr val="E46962"/>
          </p15:clr>
        </p15:guide>
        <p15:guide id="6" pos="3974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Title 1 column w eyebrow ">
  <p:cSld name="CUSTOM_3_2_1_1_2">
    <p:bg>
      <p:bgPr>
        <a:solidFill>
          <a:schemeClr val="lt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19"/>
          <p:cNvSpPr txBox="1"/>
          <p:nvPr>
            <p:ph idx="2" type="body"/>
          </p:nvPr>
        </p:nvSpPr>
        <p:spPr>
          <a:xfrm>
            <a:off x="365750" y="1737360"/>
            <a:ext cx="81381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45" name="Google Shape;245;p19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46" name="Google Shape;246;p19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248" name="Google Shape;248;p19"/>
          <p:cNvSpPr txBox="1"/>
          <p:nvPr>
            <p:ph idx="3" type="subTitle"/>
          </p:nvPr>
        </p:nvSpPr>
        <p:spPr>
          <a:xfrm>
            <a:off x="365760" y="1280160"/>
            <a:ext cx="42603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9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rgbClr val="0A6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Title 2 column w eyebrow ">
  <p:cSld name="CUSTOM_3_2_1_1_1_2"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20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0"/>
          <p:cNvSpPr txBox="1"/>
          <p:nvPr>
            <p:ph idx="2" type="body"/>
          </p:nvPr>
        </p:nvSpPr>
        <p:spPr>
          <a:xfrm>
            <a:off x="36575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55" name="Google Shape;255;p2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56" name="Google Shape;256;p2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258" name="Google Shape;258;p20"/>
          <p:cNvSpPr txBox="1"/>
          <p:nvPr>
            <p:ph idx="3" type="subTitle"/>
          </p:nvPr>
        </p:nvSpPr>
        <p:spPr>
          <a:xfrm>
            <a:off x="365760" y="128016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0"/>
          <p:cNvSpPr txBox="1"/>
          <p:nvPr>
            <p:ph idx="4" type="body"/>
          </p:nvPr>
        </p:nvSpPr>
        <p:spPr>
          <a:xfrm>
            <a:off x="5029200" y="173735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60" name="Google Shape;260;p20"/>
          <p:cNvSpPr txBox="1"/>
          <p:nvPr>
            <p:ph idx="5" type="subTitle"/>
          </p:nvPr>
        </p:nvSpPr>
        <p:spPr>
          <a:xfrm>
            <a:off x="502920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0"/>
          <p:cNvSpPr/>
          <p:nvPr/>
        </p:nvSpPr>
        <p:spPr>
          <a:xfrm rot="8993546">
            <a:off x="4604992" y="3639601"/>
            <a:ext cx="7544804" cy="2750779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Title 3 column w eyebrow">
  <p:cSld name="CUSTOM_3_2_1_1_1_1_2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0A61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" name="Google Shape;265;p21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1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68" name="Google Shape;268;p21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69" name="Google Shape;269;p21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271" name="Google Shape;271;p21"/>
          <p:cNvSpPr txBox="1"/>
          <p:nvPr>
            <p:ph idx="3" type="subTitle"/>
          </p:nvPr>
        </p:nvSpPr>
        <p:spPr>
          <a:xfrm>
            <a:off x="365751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4" type="body"/>
          </p:nvPr>
        </p:nvSpPr>
        <p:spPr>
          <a:xfrm>
            <a:off x="3337560" y="173735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73" name="Google Shape;273;p21"/>
          <p:cNvSpPr txBox="1"/>
          <p:nvPr>
            <p:ph idx="5" type="subTitle"/>
          </p:nvPr>
        </p:nvSpPr>
        <p:spPr>
          <a:xfrm>
            <a:off x="333756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1"/>
          <p:cNvSpPr txBox="1"/>
          <p:nvPr>
            <p:ph idx="6" type="body"/>
          </p:nvPr>
        </p:nvSpPr>
        <p:spPr>
          <a:xfrm>
            <a:off x="6309360" y="173735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75" name="Google Shape;275;p21"/>
          <p:cNvSpPr txBox="1"/>
          <p:nvPr>
            <p:ph idx="7" type="subTitle"/>
          </p:nvPr>
        </p:nvSpPr>
        <p:spPr>
          <a:xfrm>
            <a:off x="630936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Title 4 column w eyebrow">
  <p:cSld name="CUSTOM_3_2_1_1_1_1_1_1">
    <p:bg>
      <p:bgPr>
        <a:solidFill>
          <a:schemeClr val="l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22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22"/>
          <p:cNvSpPr txBox="1"/>
          <p:nvPr>
            <p:ph idx="2" type="body"/>
          </p:nvPr>
        </p:nvSpPr>
        <p:spPr>
          <a:xfrm>
            <a:off x="365750" y="1737350"/>
            <a:ext cx="16002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82" name="Google Shape;282;p22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83" name="Google Shape;283;p22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285" name="Google Shape;285;p22"/>
          <p:cNvSpPr txBox="1"/>
          <p:nvPr>
            <p:ph idx="3" type="subTitle"/>
          </p:nvPr>
        </p:nvSpPr>
        <p:spPr>
          <a:xfrm>
            <a:off x="365750" y="1280150"/>
            <a:ext cx="159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idx="4" type="body"/>
          </p:nvPr>
        </p:nvSpPr>
        <p:spPr>
          <a:xfrm>
            <a:off x="2551176" y="1737350"/>
            <a:ext cx="16002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87" name="Google Shape;287;p22"/>
          <p:cNvSpPr txBox="1"/>
          <p:nvPr>
            <p:ph idx="5" type="subTitle"/>
          </p:nvPr>
        </p:nvSpPr>
        <p:spPr>
          <a:xfrm>
            <a:off x="2551176" y="1280150"/>
            <a:ext cx="159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2"/>
          <p:cNvSpPr txBox="1"/>
          <p:nvPr>
            <p:ph idx="6" type="body"/>
          </p:nvPr>
        </p:nvSpPr>
        <p:spPr>
          <a:xfrm>
            <a:off x="4727448" y="1737350"/>
            <a:ext cx="16002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89" name="Google Shape;289;p22"/>
          <p:cNvSpPr txBox="1"/>
          <p:nvPr>
            <p:ph idx="7" type="subTitle"/>
          </p:nvPr>
        </p:nvSpPr>
        <p:spPr>
          <a:xfrm>
            <a:off x="4727448" y="1280150"/>
            <a:ext cx="159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22"/>
          <p:cNvSpPr txBox="1"/>
          <p:nvPr>
            <p:ph idx="8" type="body"/>
          </p:nvPr>
        </p:nvSpPr>
        <p:spPr>
          <a:xfrm>
            <a:off x="6922008" y="1737350"/>
            <a:ext cx="16002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291" name="Google Shape;291;p22"/>
          <p:cNvSpPr txBox="1"/>
          <p:nvPr>
            <p:ph idx="9" type="subTitle"/>
          </p:nvPr>
        </p:nvSpPr>
        <p:spPr>
          <a:xfrm>
            <a:off x="6912864" y="1280150"/>
            <a:ext cx="1591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Text and Blank Split White">
  <p:cSld name="CUSTOM_2_3_3">
    <p:bg>
      <p:bgPr>
        <a:solidFill>
          <a:schemeClr val="accen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0" y="0"/>
            <a:ext cx="4434900" cy="515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4" name="Google Shape;294;p23"/>
          <p:cNvSpPr txBox="1"/>
          <p:nvPr>
            <p:ph type="title"/>
          </p:nvPr>
        </p:nvSpPr>
        <p:spPr>
          <a:xfrm>
            <a:off x="36575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23"/>
          <p:cNvSpPr txBox="1"/>
          <p:nvPr>
            <p:ph idx="1" type="body"/>
          </p:nvPr>
        </p:nvSpPr>
        <p:spPr>
          <a:xfrm>
            <a:off x="36575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297" name="Google Shape;297;p23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298" name="Google Shape;298;p23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Text and blank split blue">
  <p:cSld name="CUSTOM_2_3_1_2"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/>
          <p:nvPr/>
        </p:nvSpPr>
        <p:spPr>
          <a:xfrm>
            <a:off x="0" y="0"/>
            <a:ext cx="4434000" cy="515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2" name="Google Shape;302;p24"/>
          <p:cNvSpPr txBox="1"/>
          <p:nvPr>
            <p:ph type="title"/>
          </p:nvPr>
        </p:nvSpPr>
        <p:spPr>
          <a:xfrm>
            <a:off x="36575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24"/>
          <p:cNvSpPr txBox="1"/>
          <p:nvPr>
            <p:ph idx="1" type="body"/>
          </p:nvPr>
        </p:nvSpPr>
        <p:spPr>
          <a:xfrm>
            <a:off x="36575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305" name="Google Shape;305;p24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06" name="Google Shape;306;p24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  <p15:guide id="5" orient="horz" pos="16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Curved Split with Text Blue">
  <p:cSld name="CUSTOM_2_3_2_2">
    <p:bg>
      <p:bgPr>
        <a:solidFill>
          <a:schemeClr val="accen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 rot="-2699920">
            <a:off x="-13730451" y="-6456176"/>
            <a:ext cx="18173351" cy="18173776"/>
          </a:xfrm>
          <a:prstGeom prst="pie">
            <a:avLst>
              <a:gd fmla="val 0" name="adj1"/>
              <a:gd fmla="val 5387667" name="adj2"/>
            </a:avLst>
          </a:prstGeom>
          <a:solidFill>
            <a:srgbClr val="0A61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  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0" name="Google Shape;310;p25"/>
          <p:cNvSpPr txBox="1"/>
          <p:nvPr>
            <p:ph type="title"/>
          </p:nvPr>
        </p:nvSpPr>
        <p:spPr>
          <a:xfrm>
            <a:off x="36575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25"/>
          <p:cNvSpPr txBox="1"/>
          <p:nvPr>
            <p:ph idx="1" type="body"/>
          </p:nvPr>
        </p:nvSpPr>
        <p:spPr>
          <a:xfrm>
            <a:off x="36575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313" name="Google Shape;313;p25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14" name="Google Shape;314;p25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316" name="Google Shape;316;p25"/>
          <p:cNvSpPr txBox="1"/>
          <p:nvPr>
            <p:ph idx="2" type="title"/>
          </p:nvPr>
        </p:nvSpPr>
        <p:spPr>
          <a:xfrm>
            <a:off x="502920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3" type="body"/>
          </p:nvPr>
        </p:nvSpPr>
        <p:spPr>
          <a:xfrm>
            <a:off x="502920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 - Curved Split with Text">
  <p:cSld name="CUSTOM_2_3_2_1_1">
    <p:bg>
      <p:bgPr>
        <a:solidFill>
          <a:schemeClr val="dk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 rot="-2699920">
            <a:off x="-13730451" y="-6456176"/>
            <a:ext cx="18173351" cy="18173776"/>
          </a:xfrm>
          <a:prstGeom prst="pie">
            <a:avLst>
              <a:gd fmla="val 0" name="adj1"/>
              <a:gd fmla="val 538766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  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0" name="Google Shape;320;p26"/>
          <p:cNvSpPr txBox="1"/>
          <p:nvPr>
            <p:ph type="title"/>
          </p:nvPr>
        </p:nvSpPr>
        <p:spPr>
          <a:xfrm>
            <a:off x="36575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1" name="Google Shape;321;p2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26"/>
          <p:cNvSpPr txBox="1"/>
          <p:nvPr>
            <p:ph idx="1" type="body"/>
          </p:nvPr>
        </p:nvSpPr>
        <p:spPr>
          <a:xfrm>
            <a:off x="36575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323" name="Google Shape;323;p26"/>
          <p:cNvSpPr txBox="1"/>
          <p:nvPr>
            <p:ph idx="2" type="title"/>
          </p:nvPr>
        </p:nvSpPr>
        <p:spPr>
          <a:xfrm>
            <a:off x="502920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4" name="Google Shape;324;p26"/>
          <p:cNvSpPr txBox="1"/>
          <p:nvPr>
            <p:ph idx="3" type="body"/>
          </p:nvPr>
        </p:nvSpPr>
        <p:spPr>
          <a:xfrm>
            <a:off x="502920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325" name="Google Shape;325;p26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26" name="Google Shape;326;p26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 - Four Columns with Color Boxes">
  <p:cSld name="CUSTOM_2_1_1_3_1"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1" name="Google Shape;331;p27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32" name="Google Shape;332;p27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334" name="Google Shape;334;p27"/>
          <p:cNvSpPr/>
          <p:nvPr/>
        </p:nvSpPr>
        <p:spPr>
          <a:xfrm>
            <a:off x="365750" y="960120"/>
            <a:ext cx="1588800" cy="1251300"/>
          </a:xfrm>
          <a:prstGeom prst="roundRect">
            <a:avLst>
              <a:gd fmla="val 6277" name="adj"/>
            </a:avLst>
          </a:pr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6190"/>
                </a:solidFill>
                <a:latin typeface="Public Sans"/>
                <a:ea typeface="Public Sans"/>
                <a:cs typeface="Public Sans"/>
                <a:sym typeface="Public Sans"/>
              </a:rPr>
              <a:t>`</a:t>
            </a:r>
            <a:endParaRPr>
              <a:solidFill>
                <a:srgbClr val="0A619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2548851" y="960120"/>
            <a:ext cx="1588800" cy="1251300"/>
          </a:xfrm>
          <a:prstGeom prst="roundRect">
            <a:avLst>
              <a:gd fmla="val 6277" name="adj"/>
            </a:avLst>
          </a:prstGeom>
          <a:solidFill>
            <a:srgbClr val="90CB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A619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4731949" y="960120"/>
            <a:ext cx="1588800" cy="1251300"/>
          </a:xfrm>
          <a:prstGeom prst="roundRect">
            <a:avLst>
              <a:gd fmla="val 6277" name="adj"/>
            </a:avLst>
          </a:pr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A619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6915050" y="960120"/>
            <a:ext cx="1588800" cy="1251300"/>
          </a:xfrm>
          <a:prstGeom prst="roundRect">
            <a:avLst>
              <a:gd fmla="val 6277" name="adj"/>
            </a:avLst>
          </a:pr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A619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8" name="Google Shape;338;p27"/>
          <p:cNvSpPr txBox="1"/>
          <p:nvPr>
            <p:ph idx="1" type="subTitle"/>
          </p:nvPr>
        </p:nvSpPr>
        <p:spPr>
          <a:xfrm>
            <a:off x="365750" y="2394250"/>
            <a:ext cx="16002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39" name="Google Shape;339;p27"/>
          <p:cNvSpPr txBox="1"/>
          <p:nvPr>
            <p:ph idx="2" type="subTitle"/>
          </p:nvPr>
        </p:nvSpPr>
        <p:spPr>
          <a:xfrm>
            <a:off x="2548850" y="2394250"/>
            <a:ext cx="16002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40" name="Google Shape;340;p27"/>
          <p:cNvSpPr txBox="1"/>
          <p:nvPr>
            <p:ph idx="3" type="subTitle"/>
          </p:nvPr>
        </p:nvSpPr>
        <p:spPr>
          <a:xfrm>
            <a:off x="4731925" y="2394250"/>
            <a:ext cx="16002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41" name="Google Shape;341;p27"/>
          <p:cNvSpPr txBox="1"/>
          <p:nvPr>
            <p:ph idx="4" type="body"/>
          </p:nvPr>
        </p:nvSpPr>
        <p:spPr>
          <a:xfrm>
            <a:off x="365760" y="2851450"/>
            <a:ext cx="16002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342" name="Google Shape;342;p27"/>
          <p:cNvSpPr txBox="1"/>
          <p:nvPr>
            <p:ph idx="5" type="body"/>
          </p:nvPr>
        </p:nvSpPr>
        <p:spPr>
          <a:xfrm>
            <a:off x="2548860" y="2851450"/>
            <a:ext cx="16002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343" name="Google Shape;343;p27"/>
          <p:cNvSpPr txBox="1"/>
          <p:nvPr>
            <p:ph idx="6" type="body"/>
          </p:nvPr>
        </p:nvSpPr>
        <p:spPr>
          <a:xfrm>
            <a:off x="4731935" y="2851450"/>
            <a:ext cx="16002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344" name="Google Shape;344;p27"/>
          <p:cNvSpPr txBox="1"/>
          <p:nvPr>
            <p:ph idx="7" type="subTitle"/>
          </p:nvPr>
        </p:nvSpPr>
        <p:spPr>
          <a:xfrm>
            <a:off x="6926425" y="2394250"/>
            <a:ext cx="16002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45" name="Google Shape;345;p27"/>
          <p:cNvSpPr txBox="1"/>
          <p:nvPr>
            <p:ph idx="8" type="body"/>
          </p:nvPr>
        </p:nvSpPr>
        <p:spPr>
          <a:xfrm>
            <a:off x="6926435" y="2851450"/>
            <a:ext cx="1600200" cy="15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231">
          <p15:clr>
            <a:srgbClr val="E46962"/>
          </p15:clr>
        </p15:guide>
        <p15:guide id="4" pos="1606">
          <p15:clr>
            <a:srgbClr val="E46962"/>
          </p15:clr>
        </p15:guide>
        <p15:guide id="5" pos="3982">
          <p15:clr>
            <a:srgbClr val="E46962"/>
          </p15:clr>
        </p15:guide>
        <p15:guide id="6" pos="4356">
          <p15:clr>
            <a:srgbClr val="E46962"/>
          </p15:clr>
        </p15:guide>
        <p15:guide id="7" pos="2606">
          <p15:clr>
            <a:srgbClr val="E46962"/>
          </p15:clr>
        </p15:guide>
        <p15:guide id="8" pos="298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 - Image and text 1/2 split">
  <p:cSld name="CUSTOM_2_5_2">
    <p:bg>
      <p:bgPr>
        <a:solidFill>
          <a:schemeClr val="accent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/>
          <p:nvPr/>
        </p:nvSpPr>
        <p:spPr>
          <a:xfrm>
            <a:off x="0" y="0"/>
            <a:ext cx="44349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8" name="Google Shape;348;p28"/>
          <p:cNvSpPr txBox="1"/>
          <p:nvPr>
            <p:ph type="title"/>
          </p:nvPr>
        </p:nvSpPr>
        <p:spPr>
          <a:xfrm>
            <a:off x="4736592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9" name="Google Shape;349;p2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28"/>
          <p:cNvSpPr txBox="1"/>
          <p:nvPr>
            <p:ph idx="1" type="body"/>
          </p:nvPr>
        </p:nvSpPr>
        <p:spPr>
          <a:xfrm>
            <a:off x="4736592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351" name="Google Shape;351;p28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52" name="Google Shape;352;p28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 - Image and Text 2/3 split">
  <p:cSld name="CUSTOM_2_5_1_1">
    <p:bg>
      <p:bgPr>
        <a:solidFill>
          <a:schemeClr val="accent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/>
          <p:nvPr/>
        </p:nvSpPr>
        <p:spPr>
          <a:xfrm>
            <a:off x="0" y="0"/>
            <a:ext cx="29718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6" name="Google Shape;356;p29"/>
          <p:cNvSpPr txBox="1"/>
          <p:nvPr>
            <p:ph type="title"/>
          </p:nvPr>
        </p:nvSpPr>
        <p:spPr>
          <a:xfrm>
            <a:off x="3337550" y="228600"/>
            <a:ext cx="49377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7" name="Google Shape;357;p2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29"/>
          <p:cNvSpPr txBox="1"/>
          <p:nvPr>
            <p:ph idx="1" type="body"/>
          </p:nvPr>
        </p:nvSpPr>
        <p:spPr>
          <a:xfrm>
            <a:off x="3337545" y="960125"/>
            <a:ext cx="49377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359" name="Google Shape;359;p29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60" name="Google Shape;360;p29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 - Three Node Center with Text Blue">
  <p:cSld name="CUSTOM_4_1_2">
    <p:bg>
      <p:bgPr>
        <a:solidFill>
          <a:schemeClr val="accen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4" name="Google Shape;364;p3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5" name="Google Shape;365;p3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66" name="Google Shape;366;p3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368" name="Google Shape;368;p30"/>
          <p:cNvSpPr/>
          <p:nvPr/>
        </p:nvSpPr>
        <p:spPr>
          <a:xfrm rot="7199999">
            <a:off x="1083001" y="299392"/>
            <a:ext cx="6198980" cy="4308443"/>
          </a:xfrm>
          <a:custGeom>
            <a:rect b="b" l="l" r="r" t="t"/>
            <a:pathLst>
              <a:path extrusionOk="0" h="8954" w="12883">
                <a:moveTo>
                  <a:pt x="7990" y="0"/>
                </a:moveTo>
                <a:cubicBezTo>
                  <a:pt x="7680" y="0"/>
                  <a:pt x="7382" y="72"/>
                  <a:pt x="7097" y="238"/>
                </a:cubicBezTo>
                <a:cubicBezTo>
                  <a:pt x="6930" y="322"/>
                  <a:pt x="6787" y="465"/>
                  <a:pt x="6644" y="607"/>
                </a:cubicBezTo>
                <a:cubicBezTo>
                  <a:pt x="6101" y="1228"/>
                  <a:pt x="5495" y="1538"/>
                  <a:pt x="4887" y="1538"/>
                </a:cubicBezTo>
                <a:cubicBezTo>
                  <a:pt x="4281" y="1538"/>
                  <a:pt x="3672" y="1231"/>
                  <a:pt x="3120" y="619"/>
                </a:cubicBezTo>
                <a:cubicBezTo>
                  <a:pt x="2989" y="476"/>
                  <a:pt x="2834" y="357"/>
                  <a:pt x="2656" y="250"/>
                </a:cubicBezTo>
                <a:cubicBezTo>
                  <a:pt x="2394" y="107"/>
                  <a:pt x="2096" y="12"/>
                  <a:pt x="1763" y="12"/>
                </a:cubicBezTo>
                <a:cubicBezTo>
                  <a:pt x="1453" y="12"/>
                  <a:pt x="1155" y="84"/>
                  <a:pt x="870" y="250"/>
                </a:cubicBezTo>
                <a:cubicBezTo>
                  <a:pt x="631" y="369"/>
                  <a:pt x="393" y="596"/>
                  <a:pt x="239" y="881"/>
                </a:cubicBezTo>
                <a:cubicBezTo>
                  <a:pt x="84" y="1143"/>
                  <a:pt x="0" y="1441"/>
                  <a:pt x="0" y="1774"/>
                </a:cubicBezTo>
                <a:cubicBezTo>
                  <a:pt x="0" y="2084"/>
                  <a:pt x="72" y="2381"/>
                  <a:pt x="239" y="2667"/>
                </a:cubicBezTo>
                <a:cubicBezTo>
                  <a:pt x="381" y="2929"/>
                  <a:pt x="608" y="3155"/>
                  <a:pt x="893" y="3310"/>
                </a:cubicBezTo>
                <a:cubicBezTo>
                  <a:pt x="1155" y="3465"/>
                  <a:pt x="1453" y="3560"/>
                  <a:pt x="1786" y="3560"/>
                </a:cubicBezTo>
                <a:cubicBezTo>
                  <a:pt x="2096" y="3560"/>
                  <a:pt x="2394" y="3477"/>
                  <a:pt x="2679" y="3310"/>
                </a:cubicBezTo>
                <a:cubicBezTo>
                  <a:pt x="2834" y="3215"/>
                  <a:pt x="3001" y="3096"/>
                  <a:pt x="3132" y="2941"/>
                </a:cubicBezTo>
                <a:cubicBezTo>
                  <a:pt x="3679" y="2322"/>
                  <a:pt x="4287" y="2012"/>
                  <a:pt x="4892" y="2012"/>
                </a:cubicBezTo>
                <a:cubicBezTo>
                  <a:pt x="5498" y="2012"/>
                  <a:pt x="6102" y="2322"/>
                  <a:pt x="6644" y="2941"/>
                </a:cubicBezTo>
                <a:cubicBezTo>
                  <a:pt x="6787" y="3096"/>
                  <a:pt x="6930" y="3227"/>
                  <a:pt x="7108" y="3334"/>
                </a:cubicBezTo>
                <a:cubicBezTo>
                  <a:pt x="7275" y="3441"/>
                  <a:pt x="7466" y="3501"/>
                  <a:pt x="7656" y="3536"/>
                </a:cubicBezTo>
                <a:cubicBezTo>
                  <a:pt x="9264" y="3870"/>
                  <a:pt x="9942" y="5025"/>
                  <a:pt x="9418" y="6572"/>
                </a:cubicBezTo>
                <a:cubicBezTo>
                  <a:pt x="9359" y="6751"/>
                  <a:pt x="9311" y="6965"/>
                  <a:pt x="9311" y="7168"/>
                </a:cubicBezTo>
                <a:cubicBezTo>
                  <a:pt x="9311" y="7477"/>
                  <a:pt x="9383" y="7775"/>
                  <a:pt x="9549" y="8061"/>
                </a:cubicBezTo>
                <a:cubicBezTo>
                  <a:pt x="9704" y="8335"/>
                  <a:pt x="9918" y="8549"/>
                  <a:pt x="10204" y="8716"/>
                </a:cubicBezTo>
                <a:cubicBezTo>
                  <a:pt x="10478" y="8870"/>
                  <a:pt x="10776" y="8954"/>
                  <a:pt x="11097" y="8954"/>
                </a:cubicBezTo>
                <a:cubicBezTo>
                  <a:pt x="11407" y="8954"/>
                  <a:pt x="11704" y="8882"/>
                  <a:pt x="11990" y="8716"/>
                </a:cubicBezTo>
                <a:cubicBezTo>
                  <a:pt x="12264" y="8573"/>
                  <a:pt x="12478" y="8347"/>
                  <a:pt x="12645" y="8061"/>
                </a:cubicBezTo>
                <a:cubicBezTo>
                  <a:pt x="12800" y="7799"/>
                  <a:pt x="12883" y="7501"/>
                  <a:pt x="12883" y="7168"/>
                </a:cubicBezTo>
                <a:cubicBezTo>
                  <a:pt x="12883" y="6858"/>
                  <a:pt x="12812" y="6561"/>
                  <a:pt x="12645" y="6275"/>
                </a:cubicBezTo>
                <a:cubicBezTo>
                  <a:pt x="12502" y="6013"/>
                  <a:pt x="12276" y="5787"/>
                  <a:pt x="11990" y="5620"/>
                </a:cubicBezTo>
                <a:cubicBezTo>
                  <a:pt x="11823" y="5525"/>
                  <a:pt x="11633" y="5453"/>
                  <a:pt x="11442" y="5418"/>
                </a:cubicBezTo>
                <a:cubicBezTo>
                  <a:pt x="9835" y="5084"/>
                  <a:pt x="9144" y="3929"/>
                  <a:pt x="9668" y="2370"/>
                </a:cubicBezTo>
                <a:cubicBezTo>
                  <a:pt x="9728" y="2191"/>
                  <a:pt x="9775" y="1977"/>
                  <a:pt x="9775" y="1786"/>
                </a:cubicBezTo>
                <a:cubicBezTo>
                  <a:pt x="9775" y="1477"/>
                  <a:pt x="9704" y="1179"/>
                  <a:pt x="9537" y="893"/>
                </a:cubicBezTo>
                <a:cubicBezTo>
                  <a:pt x="9383" y="619"/>
                  <a:pt x="9168" y="405"/>
                  <a:pt x="8883" y="238"/>
                </a:cubicBezTo>
                <a:cubicBezTo>
                  <a:pt x="8609" y="84"/>
                  <a:pt x="8311" y="0"/>
                  <a:pt x="7990" y="0"/>
                </a:cubicBezTo>
                <a:close/>
              </a:path>
            </a:pathLst>
          </a:cu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"/>
          <p:cNvSpPr txBox="1"/>
          <p:nvPr>
            <p:ph idx="1" type="subTitle"/>
          </p:nvPr>
        </p:nvSpPr>
        <p:spPr>
          <a:xfrm>
            <a:off x="1115568" y="3200400"/>
            <a:ext cx="1673400" cy="10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30"/>
          <p:cNvSpPr txBox="1"/>
          <p:nvPr>
            <p:ph idx="2" type="subTitle"/>
          </p:nvPr>
        </p:nvSpPr>
        <p:spPr>
          <a:xfrm>
            <a:off x="4096512" y="3200400"/>
            <a:ext cx="1673400" cy="10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0"/>
          <p:cNvSpPr txBox="1"/>
          <p:nvPr>
            <p:ph idx="3" type="subTitle"/>
          </p:nvPr>
        </p:nvSpPr>
        <p:spPr>
          <a:xfrm>
            <a:off x="5596128" y="585216"/>
            <a:ext cx="1673400" cy="10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30"/>
          <p:cNvSpPr txBox="1"/>
          <p:nvPr>
            <p:ph idx="4" type="body"/>
          </p:nvPr>
        </p:nvSpPr>
        <p:spPr>
          <a:xfrm>
            <a:off x="1399032" y="1636776"/>
            <a:ext cx="3886200" cy="10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3" name="Google Shape;373;p30"/>
          <p:cNvSpPr txBox="1"/>
          <p:nvPr>
            <p:ph idx="5" type="body"/>
          </p:nvPr>
        </p:nvSpPr>
        <p:spPr>
          <a:xfrm>
            <a:off x="6208776" y="2231136"/>
            <a:ext cx="2286000" cy="23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 - Three Node Center with Text Green">
  <p:cSld name="CUSTOM_4_1_1_2">
    <p:bg>
      <p:bgPr>
        <a:solidFill>
          <a:srgbClr val="21493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7" name="Google Shape;377;p31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78" name="Google Shape;378;p31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380" name="Google Shape;380;p31"/>
          <p:cNvSpPr/>
          <p:nvPr/>
        </p:nvSpPr>
        <p:spPr>
          <a:xfrm rot="7199999">
            <a:off x="1083001" y="299392"/>
            <a:ext cx="6198980" cy="4308443"/>
          </a:xfrm>
          <a:custGeom>
            <a:rect b="b" l="l" r="r" t="t"/>
            <a:pathLst>
              <a:path extrusionOk="0" h="8954" w="12883">
                <a:moveTo>
                  <a:pt x="7990" y="0"/>
                </a:moveTo>
                <a:cubicBezTo>
                  <a:pt x="7680" y="0"/>
                  <a:pt x="7382" y="72"/>
                  <a:pt x="7097" y="238"/>
                </a:cubicBezTo>
                <a:cubicBezTo>
                  <a:pt x="6930" y="322"/>
                  <a:pt x="6787" y="465"/>
                  <a:pt x="6644" y="607"/>
                </a:cubicBezTo>
                <a:cubicBezTo>
                  <a:pt x="6101" y="1228"/>
                  <a:pt x="5495" y="1538"/>
                  <a:pt x="4887" y="1538"/>
                </a:cubicBezTo>
                <a:cubicBezTo>
                  <a:pt x="4281" y="1538"/>
                  <a:pt x="3672" y="1231"/>
                  <a:pt x="3120" y="619"/>
                </a:cubicBezTo>
                <a:cubicBezTo>
                  <a:pt x="2989" y="476"/>
                  <a:pt x="2834" y="357"/>
                  <a:pt x="2656" y="250"/>
                </a:cubicBezTo>
                <a:cubicBezTo>
                  <a:pt x="2394" y="107"/>
                  <a:pt x="2096" y="12"/>
                  <a:pt x="1763" y="12"/>
                </a:cubicBezTo>
                <a:cubicBezTo>
                  <a:pt x="1453" y="12"/>
                  <a:pt x="1155" y="84"/>
                  <a:pt x="870" y="250"/>
                </a:cubicBezTo>
                <a:cubicBezTo>
                  <a:pt x="631" y="369"/>
                  <a:pt x="393" y="596"/>
                  <a:pt x="239" y="881"/>
                </a:cubicBezTo>
                <a:cubicBezTo>
                  <a:pt x="84" y="1143"/>
                  <a:pt x="0" y="1441"/>
                  <a:pt x="0" y="1774"/>
                </a:cubicBezTo>
                <a:cubicBezTo>
                  <a:pt x="0" y="2084"/>
                  <a:pt x="72" y="2381"/>
                  <a:pt x="239" y="2667"/>
                </a:cubicBezTo>
                <a:cubicBezTo>
                  <a:pt x="381" y="2929"/>
                  <a:pt x="608" y="3155"/>
                  <a:pt x="893" y="3310"/>
                </a:cubicBezTo>
                <a:cubicBezTo>
                  <a:pt x="1155" y="3465"/>
                  <a:pt x="1453" y="3560"/>
                  <a:pt x="1786" y="3560"/>
                </a:cubicBezTo>
                <a:cubicBezTo>
                  <a:pt x="2096" y="3560"/>
                  <a:pt x="2394" y="3477"/>
                  <a:pt x="2679" y="3310"/>
                </a:cubicBezTo>
                <a:cubicBezTo>
                  <a:pt x="2834" y="3215"/>
                  <a:pt x="3001" y="3096"/>
                  <a:pt x="3132" y="2941"/>
                </a:cubicBezTo>
                <a:cubicBezTo>
                  <a:pt x="3679" y="2322"/>
                  <a:pt x="4287" y="2012"/>
                  <a:pt x="4892" y="2012"/>
                </a:cubicBezTo>
                <a:cubicBezTo>
                  <a:pt x="5498" y="2012"/>
                  <a:pt x="6102" y="2322"/>
                  <a:pt x="6644" y="2941"/>
                </a:cubicBezTo>
                <a:cubicBezTo>
                  <a:pt x="6787" y="3096"/>
                  <a:pt x="6930" y="3227"/>
                  <a:pt x="7108" y="3334"/>
                </a:cubicBezTo>
                <a:cubicBezTo>
                  <a:pt x="7275" y="3441"/>
                  <a:pt x="7466" y="3501"/>
                  <a:pt x="7656" y="3536"/>
                </a:cubicBezTo>
                <a:cubicBezTo>
                  <a:pt x="9264" y="3870"/>
                  <a:pt x="9942" y="5025"/>
                  <a:pt x="9418" y="6572"/>
                </a:cubicBezTo>
                <a:cubicBezTo>
                  <a:pt x="9359" y="6751"/>
                  <a:pt x="9311" y="6965"/>
                  <a:pt x="9311" y="7168"/>
                </a:cubicBezTo>
                <a:cubicBezTo>
                  <a:pt x="9311" y="7477"/>
                  <a:pt x="9383" y="7775"/>
                  <a:pt x="9549" y="8061"/>
                </a:cubicBezTo>
                <a:cubicBezTo>
                  <a:pt x="9704" y="8335"/>
                  <a:pt x="9918" y="8549"/>
                  <a:pt x="10204" y="8716"/>
                </a:cubicBezTo>
                <a:cubicBezTo>
                  <a:pt x="10478" y="8870"/>
                  <a:pt x="10776" y="8954"/>
                  <a:pt x="11097" y="8954"/>
                </a:cubicBezTo>
                <a:cubicBezTo>
                  <a:pt x="11407" y="8954"/>
                  <a:pt x="11704" y="8882"/>
                  <a:pt x="11990" y="8716"/>
                </a:cubicBezTo>
                <a:cubicBezTo>
                  <a:pt x="12264" y="8573"/>
                  <a:pt x="12478" y="8347"/>
                  <a:pt x="12645" y="8061"/>
                </a:cubicBezTo>
                <a:cubicBezTo>
                  <a:pt x="12800" y="7799"/>
                  <a:pt x="12883" y="7501"/>
                  <a:pt x="12883" y="7168"/>
                </a:cubicBezTo>
                <a:cubicBezTo>
                  <a:pt x="12883" y="6858"/>
                  <a:pt x="12812" y="6561"/>
                  <a:pt x="12645" y="6275"/>
                </a:cubicBezTo>
                <a:cubicBezTo>
                  <a:pt x="12502" y="6013"/>
                  <a:pt x="12276" y="5787"/>
                  <a:pt x="11990" y="5620"/>
                </a:cubicBezTo>
                <a:cubicBezTo>
                  <a:pt x="11823" y="5525"/>
                  <a:pt x="11633" y="5453"/>
                  <a:pt x="11442" y="5418"/>
                </a:cubicBezTo>
                <a:cubicBezTo>
                  <a:pt x="9835" y="5084"/>
                  <a:pt x="9144" y="3929"/>
                  <a:pt x="9668" y="2370"/>
                </a:cubicBezTo>
                <a:cubicBezTo>
                  <a:pt x="9728" y="2191"/>
                  <a:pt x="9775" y="1977"/>
                  <a:pt x="9775" y="1786"/>
                </a:cubicBezTo>
                <a:cubicBezTo>
                  <a:pt x="9775" y="1477"/>
                  <a:pt x="9704" y="1179"/>
                  <a:pt x="9537" y="893"/>
                </a:cubicBezTo>
                <a:cubicBezTo>
                  <a:pt x="9383" y="619"/>
                  <a:pt x="9168" y="405"/>
                  <a:pt x="8883" y="238"/>
                </a:cubicBezTo>
                <a:cubicBezTo>
                  <a:pt x="8609" y="84"/>
                  <a:pt x="8311" y="0"/>
                  <a:pt x="79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1"/>
          <p:cNvSpPr txBox="1"/>
          <p:nvPr>
            <p:ph idx="1" type="subTitle"/>
          </p:nvPr>
        </p:nvSpPr>
        <p:spPr>
          <a:xfrm>
            <a:off x="1115568" y="3200400"/>
            <a:ext cx="1673400" cy="10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2" name="Google Shape;382;p31"/>
          <p:cNvSpPr txBox="1"/>
          <p:nvPr>
            <p:ph idx="2" type="subTitle"/>
          </p:nvPr>
        </p:nvSpPr>
        <p:spPr>
          <a:xfrm>
            <a:off x="4096512" y="3200400"/>
            <a:ext cx="1673400" cy="10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3" name="Google Shape;383;p31"/>
          <p:cNvSpPr txBox="1"/>
          <p:nvPr>
            <p:ph idx="3" type="subTitle"/>
          </p:nvPr>
        </p:nvSpPr>
        <p:spPr>
          <a:xfrm>
            <a:off x="5596128" y="585216"/>
            <a:ext cx="1673400" cy="108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4" name="Google Shape;384;p31"/>
          <p:cNvSpPr txBox="1"/>
          <p:nvPr>
            <p:ph idx="4" type="body"/>
          </p:nvPr>
        </p:nvSpPr>
        <p:spPr>
          <a:xfrm>
            <a:off x="1399032" y="1636776"/>
            <a:ext cx="3886200" cy="10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5" name="Google Shape;385;p31"/>
          <p:cNvSpPr txBox="1"/>
          <p:nvPr>
            <p:ph idx="5" type="body"/>
          </p:nvPr>
        </p:nvSpPr>
        <p:spPr>
          <a:xfrm>
            <a:off x="6208776" y="2231136"/>
            <a:ext cx="2286000" cy="23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 - Four Node Center with Text">
  <p:cSld name="CUSTOM_4_1_1_1_2">
    <p:bg>
      <p:bgPr>
        <a:solidFill>
          <a:srgbClr val="21493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2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88" name="Google Shape;388;p32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9" name="Google Shape;389;p32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390" name="Google Shape;390;p32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392" name="Google Shape;392;p32"/>
          <p:cNvSpPr/>
          <p:nvPr/>
        </p:nvSpPr>
        <p:spPr>
          <a:xfrm>
            <a:off x="2691421" y="1397515"/>
            <a:ext cx="3709405" cy="2575394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2"/>
          <p:cNvSpPr txBox="1"/>
          <p:nvPr>
            <p:ph idx="2" type="title"/>
          </p:nvPr>
        </p:nvSpPr>
        <p:spPr>
          <a:xfrm>
            <a:off x="1027425" y="139752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4" name="Google Shape;394;p32"/>
          <p:cNvSpPr txBox="1"/>
          <p:nvPr>
            <p:ph idx="3" type="title"/>
          </p:nvPr>
        </p:nvSpPr>
        <p:spPr>
          <a:xfrm>
            <a:off x="5661500" y="139752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32"/>
          <p:cNvSpPr txBox="1"/>
          <p:nvPr>
            <p:ph idx="4" type="title"/>
          </p:nvPr>
        </p:nvSpPr>
        <p:spPr>
          <a:xfrm>
            <a:off x="1958525" y="302427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6" name="Google Shape;396;p32"/>
          <p:cNvSpPr txBox="1"/>
          <p:nvPr>
            <p:ph idx="5" type="title"/>
          </p:nvPr>
        </p:nvSpPr>
        <p:spPr>
          <a:xfrm>
            <a:off x="6560618" y="302427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7" name="Google Shape;397;p32"/>
          <p:cNvSpPr txBox="1"/>
          <p:nvPr>
            <p:ph idx="1" type="body"/>
          </p:nvPr>
        </p:nvSpPr>
        <p:spPr>
          <a:xfrm>
            <a:off x="310375" y="1644300"/>
            <a:ext cx="21561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98" name="Google Shape;398;p32"/>
          <p:cNvSpPr txBox="1"/>
          <p:nvPr>
            <p:ph idx="6" type="body"/>
          </p:nvPr>
        </p:nvSpPr>
        <p:spPr>
          <a:xfrm>
            <a:off x="1111625" y="3291150"/>
            <a:ext cx="22860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99" name="Google Shape;399;p32"/>
          <p:cNvSpPr txBox="1"/>
          <p:nvPr>
            <p:ph idx="7" type="body"/>
          </p:nvPr>
        </p:nvSpPr>
        <p:spPr>
          <a:xfrm>
            <a:off x="5661500" y="1644300"/>
            <a:ext cx="22860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00" name="Google Shape;400;p32"/>
          <p:cNvSpPr txBox="1"/>
          <p:nvPr>
            <p:ph idx="8" type="body"/>
          </p:nvPr>
        </p:nvSpPr>
        <p:spPr>
          <a:xfrm>
            <a:off x="6560618" y="3291150"/>
            <a:ext cx="22860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 - Four Node Center with numbers and text">
  <p:cSld name="CUSTOM_4_1_1_1_1_2">
    <p:bg>
      <p:bgPr>
        <a:solidFill>
          <a:srgbClr val="21493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3" name="Google Shape;403;p3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4" name="Google Shape;404;p33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405" name="Google Shape;405;p33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407" name="Google Shape;407;p33"/>
          <p:cNvSpPr/>
          <p:nvPr/>
        </p:nvSpPr>
        <p:spPr>
          <a:xfrm>
            <a:off x="2691421" y="1397515"/>
            <a:ext cx="3709405" cy="2575394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 txBox="1"/>
          <p:nvPr>
            <p:ph idx="2" type="title"/>
          </p:nvPr>
        </p:nvSpPr>
        <p:spPr>
          <a:xfrm>
            <a:off x="1027425" y="139752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9" name="Google Shape;409;p33"/>
          <p:cNvSpPr txBox="1"/>
          <p:nvPr>
            <p:ph idx="3" type="title"/>
          </p:nvPr>
        </p:nvSpPr>
        <p:spPr>
          <a:xfrm>
            <a:off x="5661500" y="139752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3"/>
          <p:cNvSpPr txBox="1"/>
          <p:nvPr>
            <p:ph idx="4" type="title"/>
          </p:nvPr>
        </p:nvSpPr>
        <p:spPr>
          <a:xfrm>
            <a:off x="1958525" y="302427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1" name="Google Shape;411;p33"/>
          <p:cNvSpPr txBox="1"/>
          <p:nvPr>
            <p:ph idx="5" type="title"/>
          </p:nvPr>
        </p:nvSpPr>
        <p:spPr>
          <a:xfrm>
            <a:off x="6560618" y="3024275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ublic Sans"/>
              <a:buNone/>
              <a:defRPr sz="14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2" name="Google Shape;412;p33"/>
          <p:cNvSpPr txBox="1"/>
          <p:nvPr>
            <p:ph idx="1" type="body"/>
          </p:nvPr>
        </p:nvSpPr>
        <p:spPr>
          <a:xfrm>
            <a:off x="310375" y="1644300"/>
            <a:ext cx="21561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13" name="Google Shape;413;p33"/>
          <p:cNvSpPr txBox="1"/>
          <p:nvPr>
            <p:ph idx="6" type="body"/>
          </p:nvPr>
        </p:nvSpPr>
        <p:spPr>
          <a:xfrm>
            <a:off x="1111625" y="3291150"/>
            <a:ext cx="22860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14" name="Google Shape;414;p33"/>
          <p:cNvSpPr txBox="1"/>
          <p:nvPr>
            <p:ph idx="7" type="body"/>
          </p:nvPr>
        </p:nvSpPr>
        <p:spPr>
          <a:xfrm>
            <a:off x="5661500" y="1644300"/>
            <a:ext cx="22860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15" name="Google Shape;415;p33"/>
          <p:cNvSpPr txBox="1"/>
          <p:nvPr>
            <p:ph idx="8" type="body"/>
          </p:nvPr>
        </p:nvSpPr>
        <p:spPr>
          <a:xfrm>
            <a:off x="6560618" y="3291150"/>
            <a:ext cx="22860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16" name="Google Shape;416;p33"/>
          <p:cNvSpPr txBox="1"/>
          <p:nvPr>
            <p:ph idx="9" type="title"/>
          </p:nvPr>
        </p:nvSpPr>
        <p:spPr>
          <a:xfrm>
            <a:off x="2978403" y="1551825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Public Sans"/>
              <a:buNone/>
              <a:defRPr b="0" sz="48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7" name="Google Shape;417;p33"/>
          <p:cNvSpPr txBox="1"/>
          <p:nvPr>
            <p:ph idx="13" type="title"/>
          </p:nvPr>
        </p:nvSpPr>
        <p:spPr>
          <a:xfrm>
            <a:off x="4777572" y="1551825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Public Sans"/>
              <a:buNone/>
              <a:defRPr b="0" sz="48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8" name="Google Shape;418;p33"/>
          <p:cNvSpPr txBox="1"/>
          <p:nvPr>
            <p:ph idx="14" type="title"/>
          </p:nvPr>
        </p:nvSpPr>
        <p:spPr>
          <a:xfrm>
            <a:off x="3874490" y="3086625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Public Sans"/>
              <a:buNone/>
              <a:defRPr b="0" sz="48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9" name="Google Shape;419;p33"/>
          <p:cNvSpPr txBox="1"/>
          <p:nvPr>
            <p:ph idx="15" type="title"/>
          </p:nvPr>
        </p:nvSpPr>
        <p:spPr>
          <a:xfrm>
            <a:off x="5661900" y="3086625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Public Sans"/>
              <a:buNone/>
              <a:defRPr b="0" sz="48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 - Five Node Center with text tan">
  <p:cSld name="CUSTOM_4_1_1_1_1_1_2">
    <p:bg>
      <p:bgPr>
        <a:solidFill>
          <a:schemeClr val="dk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4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Font typeface="Public Sans"/>
              <a:buNone/>
              <a:defRPr b="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22" name="Google Shape;422;p3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34"/>
          <p:cNvSpPr txBox="1"/>
          <p:nvPr>
            <p:ph idx="2" type="title"/>
          </p:nvPr>
        </p:nvSpPr>
        <p:spPr>
          <a:xfrm>
            <a:off x="663725" y="1624728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ublic Sans"/>
              <a:buNone/>
              <a:defRPr sz="1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4" name="Google Shape;424;p34"/>
          <p:cNvSpPr txBox="1"/>
          <p:nvPr>
            <p:ph idx="3" type="title"/>
          </p:nvPr>
        </p:nvSpPr>
        <p:spPr>
          <a:xfrm>
            <a:off x="6999781" y="1624728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Font typeface="Public Sans"/>
              <a:buNone/>
              <a:defRPr sz="14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25" name="Google Shape;425;p34"/>
          <p:cNvSpPr txBox="1"/>
          <p:nvPr>
            <p:ph idx="4" type="title"/>
          </p:nvPr>
        </p:nvSpPr>
        <p:spPr>
          <a:xfrm>
            <a:off x="1540843" y="3340097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Font typeface="Public Sans"/>
              <a:buNone/>
              <a:defRPr sz="14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34"/>
          <p:cNvSpPr txBox="1"/>
          <p:nvPr>
            <p:ph idx="5" type="title"/>
          </p:nvPr>
        </p:nvSpPr>
        <p:spPr>
          <a:xfrm>
            <a:off x="6117825" y="3337560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Font typeface="Public Sans"/>
              <a:buNone/>
              <a:defRPr sz="14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27" name="Google Shape;427;p34"/>
          <p:cNvSpPr txBox="1"/>
          <p:nvPr>
            <p:ph idx="1" type="body"/>
          </p:nvPr>
        </p:nvSpPr>
        <p:spPr>
          <a:xfrm>
            <a:off x="365525" y="18597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●"/>
              <a:defRPr>
                <a:solidFill>
                  <a:srgbClr val="181414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28" name="Google Shape;428;p34"/>
          <p:cNvSpPr txBox="1"/>
          <p:nvPr>
            <p:ph idx="6" type="body"/>
          </p:nvPr>
        </p:nvSpPr>
        <p:spPr>
          <a:xfrm>
            <a:off x="1242643" y="356616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●"/>
              <a:defRPr>
                <a:solidFill>
                  <a:srgbClr val="181414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29" name="Google Shape;429;p34"/>
          <p:cNvSpPr txBox="1"/>
          <p:nvPr>
            <p:ph idx="7" type="body"/>
          </p:nvPr>
        </p:nvSpPr>
        <p:spPr>
          <a:xfrm>
            <a:off x="6999781" y="18597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●"/>
              <a:defRPr>
                <a:solidFill>
                  <a:srgbClr val="181414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30" name="Google Shape;430;p34"/>
          <p:cNvSpPr txBox="1"/>
          <p:nvPr>
            <p:ph idx="8" type="body"/>
          </p:nvPr>
        </p:nvSpPr>
        <p:spPr>
          <a:xfrm>
            <a:off x="6117825" y="356616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●"/>
              <a:defRPr>
                <a:solidFill>
                  <a:srgbClr val="181414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1400"/>
              <a:buChar char="﹣"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31" name="Google Shape;431;p34"/>
          <p:cNvSpPr/>
          <p:nvPr/>
        </p:nvSpPr>
        <p:spPr>
          <a:xfrm>
            <a:off x="2261926" y="1598945"/>
            <a:ext cx="4620146" cy="2591993"/>
          </a:xfrm>
          <a:custGeom>
            <a:rect b="b" l="l" r="r" t="t"/>
            <a:pathLst>
              <a:path extrusionOk="0" h="8978" w="16003">
                <a:moveTo>
                  <a:pt x="8001" y="1"/>
                </a:moveTo>
                <a:cubicBezTo>
                  <a:pt x="7680" y="1"/>
                  <a:pt x="7382" y="84"/>
                  <a:pt x="7108" y="239"/>
                </a:cubicBezTo>
                <a:cubicBezTo>
                  <a:pt x="6942" y="334"/>
                  <a:pt x="6775" y="465"/>
                  <a:pt x="6656" y="620"/>
                </a:cubicBezTo>
                <a:cubicBezTo>
                  <a:pt x="6113" y="1234"/>
                  <a:pt x="5504" y="1541"/>
                  <a:pt x="4895" y="1541"/>
                </a:cubicBezTo>
                <a:cubicBezTo>
                  <a:pt x="4289" y="1541"/>
                  <a:pt x="3684" y="1237"/>
                  <a:pt x="3143" y="632"/>
                </a:cubicBezTo>
                <a:cubicBezTo>
                  <a:pt x="3012" y="477"/>
                  <a:pt x="2858" y="346"/>
                  <a:pt x="2679" y="263"/>
                </a:cubicBezTo>
                <a:cubicBezTo>
                  <a:pt x="2417" y="108"/>
                  <a:pt x="2120" y="24"/>
                  <a:pt x="1786" y="24"/>
                </a:cubicBezTo>
                <a:cubicBezTo>
                  <a:pt x="1477" y="24"/>
                  <a:pt x="1179" y="96"/>
                  <a:pt x="893" y="263"/>
                </a:cubicBezTo>
                <a:cubicBezTo>
                  <a:pt x="631" y="405"/>
                  <a:pt x="405" y="632"/>
                  <a:pt x="238" y="917"/>
                </a:cubicBezTo>
                <a:cubicBezTo>
                  <a:pt x="95" y="1179"/>
                  <a:pt x="0" y="1477"/>
                  <a:pt x="0" y="1810"/>
                </a:cubicBezTo>
                <a:cubicBezTo>
                  <a:pt x="0" y="2120"/>
                  <a:pt x="84" y="2418"/>
                  <a:pt x="238" y="2703"/>
                </a:cubicBezTo>
                <a:cubicBezTo>
                  <a:pt x="393" y="2965"/>
                  <a:pt x="619" y="3191"/>
                  <a:pt x="893" y="3358"/>
                </a:cubicBezTo>
                <a:cubicBezTo>
                  <a:pt x="1167" y="3501"/>
                  <a:pt x="1465" y="3596"/>
                  <a:pt x="1786" y="3596"/>
                </a:cubicBezTo>
                <a:cubicBezTo>
                  <a:pt x="2108" y="3596"/>
                  <a:pt x="2405" y="3513"/>
                  <a:pt x="2679" y="3358"/>
                </a:cubicBezTo>
                <a:cubicBezTo>
                  <a:pt x="2846" y="3251"/>
                  <a:pt x="3012" y="3132"/>
                  <a:pt x="3143" y="2977"/>
                </a:cubicBezTo>
                <a:cubicBezTo>
                  <a:pt x="3686" y="2372"/>
                  <a:pt x="4302" y="2060"/>
                  <a:pt x="4912" y="2060"/>
                </a:cubicBezTo>
                <a:cubicBezTo>
                  <a:pt x="5118" y="2060"/>
                  <a:pt x="5323" y="2095"/>
                  <a:pt x="5525" y="2168"/>
                </a:cubicBezTo>
                <a:cubicBezTo>
                  <a:pt x="6191" y="2406"/>
                  <a:pt x="6596" y="3072"/>
                  <a:pt x="6465" y="3787"/>
                </a:cubicBezTo>
                <a:cubicBezTo>
                  <a:pt x="6299" y="4620"/>
                  <a:pt x="5644" y="5216"/>
                  <a:pt x="4572" y="5442"/>
                </a:cubicBezTo>
                <a:cubicBezTo>
                  <a:pt x="4382" y="5466"/>
                  <a:pt x="4191" y="5537"/>
                  <a:pt x="4013" y="5644"/>
                </a:cubicBezTo>
                <a:cubicBezTo>
                  <a:pt x="3739" y="5799"/>
                  <a:pt x="3513" y="6013"/>
                  <a:pt x="3358" y="6299"/>
                </a:cubicBezTo>
                <a:cubicBezTo>
                  <a:pt x="3203" y="6561"/>
                  <a:pt x="3120" y="6859"/>
                  <a:pt x="3120" y="7192"/>
                </a:cubicBezTo>
                <a:cubicBezTo>
                  <a:pt x="3120" y="7502"/>
                  <a:pt x="3191" y="7799"/>
                  <a:pt x="3358" y="8085"/>
                </a:cubicBezTo>
                <a:cubicBezTo>
                  <a:pt x="3501" y="8347"/>
                  <a:pt x="3727" y="8573"/>
                  <a:pt x="4013" y="8740"/>
                </a:cubicBezTo>
                <a:cubicBezTo>
                  <a:pt x="4275" y="8883"/>
                  <a:pt x="4572" y="8978"/>
                  <a:pt x="4906" y="8978"/>
                </a:cubicBezTo>
                <a:cubicBezTo>
                  <a:pt x="5215" y="8978"/>
                  <a:pt x="5513" y="8906"/>
                  <a:pt x="5799" y="8740"/>
                </a:cubicBezTo>
                <a:cubicBezTo>
                  <a:pt x="6060" y="8585"/>
                  <a:pt x="6287" y="8371"/>
                  <a:pt x="6453" y="8085"/>
                </a:cubicBezTo>
                <a:cubicBezTo>
                  <a:pt x="6596" y="7823"/>
                  <a:pt x="6692" y="7525"/>
                  <a:pt x="6692" y="7192"/>
                </a:cubicBezTo>
                <a:cubicBezTo>
                  <a:pt x="6692" y="7001"/>
                  <a:pt x="6656" y="6799"/>
                  <a:pt x="6596" y="6609"/>
                </a:cubicBezTo>
                <a:cubicBezTo>
                  <a:pt x="6239" y="5573"/>
                  <a:pt x="6430" y="4692"/>
                  <a:pt x="7084" y="4144"/>
                </a:cubicBezTo>
                <a:cubicBezTo>
                  <a:pt x="7352" y="3912"/>
                  <a:pt x="7686" y="3796"/>
                  <a:pt x="8019" y="3796"/>
                </a:cubicBezTo>
                <a:cubicBezTo>
                  <a:pt x="8352" y="3796"/>
                  <a:pt x="8686" y="3912"/>
                  <a:pt x="8954" y="4144"/>
                </a:cubicBezTo>
                <a:cubicBezTo>
                  <a:pt x="9585" y="4692"/>
                  <a:pt x="9787" y="5549"/>
                  <a:pt x="9430" y="6597"/>
                </a:cubicBezTo>
                <a:cubicBezTo>
                  <a:pt x="9370" y="6775"/>
                  <a:pt x="9323" y="6990"/>
                  <a:pt x="9323" y="7192"/>
                </a:cubicBezTo>
                <a:cubicBezTo>
                  <a:pt x="9323" y="7502"/>
                  <a:pt x="9394" y="7799"/>
                  <a:pt x="9561" y="8085"/>
                </a:cubicBezTo>
                <a:cubicBezTo>
                  <a:pt x="9704" y="8347"/>
                  <a:pt x="9930" y="8573"/>
                  <a:pt x="10216" y="8740"/>
                </a:cubicBezTo>
                <a:cubicBezTo>
                  <a:pt x="10478" y="8883"/>
                  <a:pt x="10775" y="8978"/>
                  <a:pt x="11109" y="8978"/>
                </a:cubicBezTo>
                <a:cubicBezTo>
                  <a:pt x="11418" y="8978"/>
                  <a:pt x="11716" y="8906"/>
                  <a:pt x="12002" y="8740"/>
                </a:cubicBezTo>
                <a:cubicBezTo>
                  <a:pt x="12264" y="8585"/>
                  <a:pt x="12490" y="8371"/>
                  <a:pt x="12657" y="8085"/>
                </a:cubicBezTo>
                <a:cubicBezTo>
                  <a:pt x="12799" y="7823"/>
                  <a:pt x="12895" y="7525"/>
                  <a:pt x="12895" y="7192"/>
                </a:cubicBezTo>
                <a:cubicBezTo>
                  <a:pt x="12895" y="6882"/>
                  <a:pt x="12823" y="6585"/>
                  <a:pt x="12657" y="6299"/>
                </a:cubicBezTo>
                <a:cubicBezTo>
                  <a:pt x="12502" y="6037"/>
                  <a:pt x="12287" y="5811"/>
                  <a:pt x="12002" y="5644"/>
                </a:cubicBezTo>
                <a:cubicBezTo>
                  <a:pt x="11835" y="5537"/>
                  <a:pt x="11645" y="5477"/>
                  <a:pt x="11454" y="5442"/>
                </a:cubicBezTo>
                <a:cubicBezTo>
                  <a:pt x="10359" y="5216"/>
                  <a:pt x="9704" y="4620"/>
                  <a:pt x="9549" y="3763"/>
                </a:cubicBezTo>
                <a:cubicBezTo>
                  <a:pt x="9430" y="3072"/>
                  <a:pt x="9811" y="2394"/>
                  <a:pt x="10478" y="2168"/>
                </a:cubicBezTo>
                <a:cubicBezTo>
                  <a:pt x="10688" y="2093"/>
                  <a:pt x="10901" y="2056"/>
                  <a:pt x="11112" y="2056"/>
                </a:cubicBezTo>
                <a:cubicBezTo>
                  <a:pt x="11714" y="2056"/>
                  <a:pt x="12310" y="2357"/>
                  <a:pt x="12847" y="2965"/>
                </a:cubicBezTo>
                <a:cubicBezTo>
                  <a:pt x="12978" y="3120"/>
                  <a:pt x="13133" y="3251"/>
                  <a:pt x="13311" y="3358"/>
                </a:cubicBezTo>
                <a:cubicBezTo>
                  <a:pt x="13573" y="3501"/>
                  <a:pt x="13871" y="3596"/>
                  <a:pt x="14204" y="3596"/>
                </a:cubicBezTo>
                <a:cubicBezTo>
                  <a:pt x="14514" y="3596"/>
                  <a:pt x="14812" y="3513"/>
                  <a:pt x="15097" y="3358"/>
                </a:cubicBezTo>
                <a:cubicBezTo>
                  <a:pt x="15359" y="3203"/>
                  <a:pt x="15585" y="2977"/>
                  <a:pt x="15752" y="2703"/>
                </a:cubicBezTo>
                <a:cubicBezTo>
                  <a:pt x="15895" y="2429"/>
                  <a:pt x="15990" y="2132"/>
                  <a:pt x="15990" y="1810"/>
                </a:cubicBezTo>
                <a:cubicBezTo>
                  <a:pt x="16002" y="1489"/>
                  <a:pt x="15931" y="1179"/>
                  <a:pt x="15764" y="894"/>
                </a:cubicBezTo>
                <a:cubicBezTo>
                  <a:pt x="15621" y="632"/>
                  <a:pt x="15395" y="405"/>
                  <a:pt x="15109" y="239"/>
                </a:cubicBezTo>
                <a:cubicBezTo>
                  <a:pt x="14847" y="96"/>
                  <a:pt x="14550" y="1"/>
                  <a:pt x="14216" y="1"/>
                </a:cubicBezTo>
                <a:cubicBezTo>
                  <a:pt x="13907" y="1"/>
                  <a:pt x="13609" y="84"/>
                  <a:pt x="13323" y="239"/>
                </a:cubicBezTo>
                <a:cubicBezTo>
                  <a:pt x="13157" y="346"/>
                  <a:pt x="13002" y="465"/>
                  <a:pt x="12859" y="620"/>
                </a:cubicBezTo>
                <a:cubicBezTo>
                  <a:pt x="12317" y="1233"/>
                  <a:pt x="11713" y="1539"/>
                  <a:pt x="11107" y="1539"/>
                </a:cubicBezTo>
                <a:cubicBezTo>
                  <a:pt x="10502" y="1539"/>
                  <a:pt x="9894" y="1233"/>
                  <a:pt x="9347" y="620"/>
                </a:cubicBezTo>
                <a:cubicBezTo>
                  <a:pt x="9216" y="465"/>
                  <a:pt x="9073" y="334"/>
                  <a:pt x="8894" y="239"/>
                </a:cubicBezTo>
                <a:cubicBezTo>
                  <a:pt x="8620" y="96"/>
                  <a:pt x="8323" y="1"/>
                  <a:pt x="8001" y="1"/>
                </a:cubicBezTo>
                <a:close/>
              </a:path>
            </a:pathLst>
          </a:custGeom>
          <a:solidFill>
            <a:srgbClr val="0A61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34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433" name="Google Shape;433;p34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 - Five Node Center with text green">
  <p:cSld name="CUSTOM_4_1_1_1_1_1_1_2">
    <p:bg>
      <p:bgPr>
        <a:solidFill>
          <a:schemeClr val="accent3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37" name="Google Shape;437;p35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35"/>
          <p:cNvSpPr txBox="1"/>
          <p:nvPr>
            <p:ph idx="2" type="title"/>
          </p:nvPr>
        </p:nvSpPr>
        <p:spPr>
          <a:xfrm>
            <a:off x="663725" y="1624728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9" name="Google Shape;439;p35"/>
          <p:cNvSpPr txBox="1"/>
          <p:nvPr>
            <p:ph idx="3" type="title"/>
          </p:nvPr>
        </p:nvSpPr>
        <p:spPr>
          <a:xfrm>
            <a:off x="6999781" y="1624728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0" name="Google Shape;440;p35"/>
          <p:cNvSpPr txBox="1"/>
          <p:nvPr>
            <p:ph idx="4" type="title"/>
          </p:nvPr>
        </p:nvSpPr>
        <p:spPr>
          <a:xfrm>
            <a:off x="1540843" y="3340097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1" name="Google Shape;441;p35"/>
          <p:cNvSpPr txBox="1"/>
          <p:nvPr>
            <p:ph idx="5" type="title"/>
          </p:nvPr>
        </p:nvSpPr>
        <p:spPr>
          <a:xfrm>
            <a:off x="6117825" y="3337560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2" name="Google Shape;442;p35"/>
          <p:cNvSpPr txBox="1"/>
          <p:nvPr>
            <p:ph idx="1" type="body"/>
          </p:nvPr>
        </p:nvSpPr>
        <p:spPr>
          <a:xfrm>
            <a:off x="365525" y="18597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3" name="Google Shape;443;p35"/>
          <p:cNvSpPr txBox="1"/>
          <p:nvPr>
            <p:ph idx="6" type="body"/>
          </p:nvPr>
        </p:nvSpPr>
        <p:spPr>
          <a:xfrm>
            <a:off x="1242643" y="356616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4" name="Google Shape;444;p35"/>
          <p:cNvSpPr txBox="1"/>
          <p:nvPr>
            <p:ph idx="7" type="body"/>
          </p:nvPr>
        </p:nvSpPr>
        <p:spPr>
          <a:xfrm>
            <a:off x="6999781" y="18597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5" name="Google Shape;445;p35"/>
          <p:cNvSpPr txBox="1"/>
          <p:nvPr>
            <p:ph idx="8" type="body"/>
          </p:nvPr>
        </p:nvSpPr>
        <p:spPr>
          <a:xfrm>
            <a:off x="6117825" y="356616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6" name="Google Shape;446;p35"/>
          <p:cNvSpPr/>
          <p:nvPr/>
        </p:nvSpPr>
        <p:spPr>
          <a:xfrm>
            <a:off x="2261926" y="1598945"/>
            <a:ext cx="4620146" cy="2591993"/>
          </a:xfrm>
          <a:custGeom>
            <a:rect b="b" l="l" r="r" t="t"/>
            <a:pathLst>
              <a:path extrusionOk="0" h="8978" w="16003">
                <a:moveTo>
                  <a:pt x="8001" y="1"/>
                </a:moveTo>
                <a:cubicBezTo>
                  <a:pt x="7680" y="1"/>
                  <a:pt x="7382" y="84"/>
                  <a:pt x="7108" y="239"/>
                </a:cubicBezTo>
                <a:cubicBezTo>
                  <a:pt x="6942" y="334"/>
                  <a:pt x="6775" y="465"/>
                  <a:pt x="6656" y="620"/>
                </a:cubicBezTo>
                <a:cubicBezTo>
                  <a:pt x="6113" y="1234"/>
                  <a:pt x="5504" y="1541"/>
                  <a:pt x="4895" y="1541"/>
                </a:cubicBezTo>
                <a:cubicBezTo>
                  <a:pt x="4289" y="1541"/>
                  <a:pt x="3684" y="1237"/>
                  <a:pt x="3143" y="632"/>
                </a:cubicBezTo>
                <a:cubicBezTo>
                  <a:pt x="3012" y="477"/>
                  <a:pt x="2858" y="346"/>
                  <a:pt x="2679" y="263"/>
                </a:cubicBezTo>
                <a:cubicBezTo>
                  <a:pt x="2417" y="108"/>
                  <a:pt x="2120" y="24"/>
                  <a:pt x="1786" y="24"/>
                </a:cubicBezTo>
                <a:cubicBezTo>
                  <a:pt x="1477" y="24"/>
                  <a:pt x="1179" y="96"/>
                  <a:pt x="893" y="263"/>
                </a:cubicBezTo>
                <a:cubicBezTo>
                  <a:pt x="631" y="405"/>
                  <a:pt x="405" y="632"/>
                  <a:pt x="238" y="917"/>
                </a:cubicBezTo>
                <a:cubicBezTo>
                  <a:pt x="95" y="1179"/>
                  <a:pt x="0" y="1477"/>
                  <a:pt x="0" y="1810"/>
                </a:cubicBezTo>
                <a:cubicBezTo>
                  <a:pt x="0" y="2120"/>
                  <a:pt x="84" y="2418"/>
                  <a:pt x="238" y="2703"/>
                </a:cubicBezTo>
                <a:cubicBezTo>
                  <a:pt x="393" y="2965"/>
                  <a:pt x="619" y="3191"/>
                  <a:pt x="893" y="3358"/>
                </a:cubicBezTo>
                <a:cubicBezTo>
                  <a:pt x="1167" y="3501"/>
                  <a:pt x="1465" y="3596"/>
                  <a:pt x="1786" y="3596"/>
                </a:cubicBezTo>
                <a:cubicBezTo>
                  <a:pt x="2108" y="3596"/>
                  <a:pt x="2405" y="3513"/>
                  <a:pt x="2679" y="3358"/>
                </a:cubicBezTo>
                <a:cubicBezTo>
                  <a:pt x="2846" y="3251"/>
                  <a:pt x="3012" y="3132"/>
                  <a:pt x="3143" y="2977"/>
                </a:cubicBezTo>
                <a:cubicBezTo>
                  <a:pt x="3686" y="2372"/>
                  <a:pt x="4302" y="2060"/>
                  <a:pt x="4912" y="2060"/>
                </a:cubicBezTo>
                <a:cubicBezTo>
                  <a:pt x="5118" y="2060"/>
                  <a:pt x="5323" y="2095"/>
                  <a:pt x="5525" y="2168"/>
                </a:cubicBezTo>
                <a:cubicBezTo>
                  <a:pt x="6191" y="2406"/>
                  <a:pt x="6596" y="3072"/>
                  <a:pt x="6465" y="3787"/>
                </a:cubicBezTo>
                <a:cubicBezTo>
                  <a:pt x="6299" y="4620"/>
                  <a:pt x="5644" y="5216"/>
                  <a:pt x="4572" y="5442"/>
                </a:cubicBezTo>
                <a:cubicBezTo>
                  <a:pt x="4382" y="5466"/>
                  <a:pt x="4191" y="5537"/>
                  <a:pt x="4013" y="5644"/>
                </a:cubicBezTo>
                <a:cubicBezTo>
                  <a:pt x="3739" y="5799"/>
                  <a:pt x="3513" y="6013"/>
                  <a:pt x="3358" y="6299"/>
                </a:cubicBezTo>
                <a:cubicBezTo>
                  <a:pt x="3203" y="6561"/>
                  <a:pt x="3120" y="6859"/>
                  <a:pt x="3120" y="7192"/>
                </a:cubicBezTo>
                <a:cubicBezTo>
                  <a:pt x="3120" y="7502"/>
                  <a:pt x="3191" y="7799"/>
                  <a:pt x="3358" y="8085"/>
                </a:cubicBezTo>
                <a:cubicBezTo>
                  <a:pt x="3501" y="8347"/>
                  <a:pt x="3727" y="8573"/>
                  <a:pt x="4013" y="8740"/>
                </a:cubicBezTo>
                <a:cubicBezTo>
                  <a:pt x="4275" y="8883"/>
                  <a:pt x="4572" y="8978"/>
                  <a:pt x="4906" y="8978"/>
                </a:cubicBezTo>
                <a:cubicBezTo>
                  <a:pt x="5215" y="8978"/>
                  <a:pt x="5513" y="8906"/>
                  <a:pt x="5799" y="8740"/>
                </a:cubicBezTo>
                <a:cubicBezTo>
                  <a:pt x="6060" y="8585"/>
                  <a:pt x="6287" y="8371"/>
                  <a:pt x="6453" y="8085"/>
                </a:cubicBezTo>
                <a:cubicBezTo>
                  <a:pt x="6596" y="7823"/>
                  <a:pt x="6692" y="7525"/>
                  <a:pt x="6692" y="7192"/>
                </a:cubicBezTo>
                <a:cubicBezTo>
                  <a:pt x="6692" y="7001"/>
                  <a:pt x="6656" y="6799"/>
                  <a:pt x="6596" y="6609"/>
                </a:cubicBezTo>
                <a:cubicBezTo>
                  <a:pt x="6239" y="5573"/>
                  <a:pt x="6430" y="4692"/>
                  <a:pt x="7084" y="4144"/>
                </a:cubicBezTo>
                <a:cubicBezTo>
                  <a:pt x="7352" y="3912"/>
                  <a:pt x="7686" y="3796"/>
                  <a:pt x="8019" y="3796"/>
                </a:cubicBezTo>
                <a:cubicBezTo>
                  <a:pt x="8352" y="3796"/>
                  <a:pt x="8686" y="3912"/>
                  <a:pt x="8954" y="4144"/>
                </a:cubicBezTo>
                <a:cubicBezTo>
                  <a:pt x="9585" y="4692"/>
                  <a:pt x="9787" y="5549"/>
                  <a:pt x="9430" y="6597"/>
                </a:cubicBezTo>
                <a:cubicBezTo>
                  <a:pt x="9370" y="6775"/>
                  <a:pt x="9323" y="6990"/>
                  <a:pt x="9323" y="7192"/>
                </a:cubicBezTo>
                <a:cubicBezTo>
                  <a:pt x="9323" y="7502"/>
                  <a:pt x="9394" y="7799"/>
                  <a:pt x="9561" y="8085"/>
                </a:cubicBezTo>
                <a:cubicBezTo>
                  <a:pt x="9704" y="8347"/>
                  <a:pt x="9930" y="8573"/>
                  <a:pt x="10216" y="8740"/>
                </a:cubicBezTo>
                <a:cubicBezTo>
                  <a:pt x="10478" y="8883"/>
                  <a:pt x="10775" y="8978"/>
                  <a:pt x="11109" y="8978"/>
                </a:cubicBezTo>
                <a:cubicBezTo>
                  <a:pt x="11418" y="8978"/>
                  <a:pt x="11716" y="8906"/>
                  <a:pt x="12002" y="8740"/>
                </a:cubicBezTo>
                <a:cubicBezTo>
                  <a:pt x="12264" y="8585"/>
                  <a:pt x="12490" y="8371"/>
                  <a:pt x="12657" y="8085"/>
                </a:cubicBezTo>
                <a:cubicBezTo>
                  <a:pt x="12799" y="7823"/>
                  <a:pt x="12895" y="7525"/>
                  <a:pt x="12895" y="7192"/>
                </a:cubicBezTo>
                <a:cubicBezTo>
                  <a:pt x="12895" y="6882"/>
                  <a:pt x="12823" y="6585"/>
                  <a:pt x="12657" y="6299"/>
                </a:cubicBezTo>
                <a:cubicBezTo>
                  <a:pt x="12502" y="6037"/>
                  <a:pt x="12287" y="5811"/>
                  <a:pt x="12002" y="5644"/>
                </a:cubicBezTo>
                <a:cubicBezTo>
                  <a:pt x="11835" y="5537"/>
                  <a:pt x="11645" y="5477"/>
                  <a:pt x="11454" y="5442"/>
                </a:cubicBezTo>
                <a:cubicBezTo>
                  <a:pt x="10359" y="5216"/>
                  <a:pt x="9704" y="4620"/>
                  <a:pt x="9549" y="3763"/>
                </a:cubicBezTo>
                <a:cubicBezTo>
                  <a:pt x="9430" y="3072"/>
                  <a:pt x="9811" y="2394"/>
                  <a:pt x="10478" y="2168"/>
                </a:cubicBezTo>
                <a:cubicBezTo>
                  <a:pt x="10688" y="2093"/>
                  <a:pt x="10901" y="2056"/>
                  <a:pt x="11112" y="2056"/>
                </a:cubicBezTo>
                <a:cubicBezTo>
                  <a:pt x="11714" y="2056"/>
                  <a:pt x="12310" y="2357"/>
                  <a:pt x="12847" y="2965"/>
                </a:cubicBezTo>
                <a:cubicBezTo>
                  <a:pt x="12978" y="3120"/>
                  <a:pt x="13133" y="3251"/>
                  <a:pt x="13311" y="3358"/>
                </a:cubicBezTo>
                <a:cubicBezTo>
                  <a:pt x="13573" y="3501"/>
                  <a:pt x="13871" y="3596"/>
                  <a:pt x="14204" y="3596"/>
                </a:cubicBezTo>
                <a:cubicBezTo>
                  <a:pt x="14514" y="3596"/>
                  <a:pt x="14812" y="3513"/>
                  <a:pt x="15097" y="3358"/>
                </a:cubicBezTo>
                <a:cubicBezTo>
                  <a:pt x="15359" y="3203"/>
                  <a:pt x="15585" y="2977"/>
                  <a:pt x="15752" y="2703"/>
                </a:cubicBezTo>
                <a:cubicBezTo>
                  <a:pt x="15895" y="2429"/>
                  <a:pt x="15990" y="2132"/>
                  <a:pt x="15990" y="1810"/>
                </a:cubicBezTo>
                <a:cubicBezTo>
                  <a:pt x="16002" y="1489"/>
                  <a:pt x="15931" y="1179"/>
                  <a:pt x="15764" y="894"/>
                </a:cubicBezTo>
                <a:cubicBezTo>
                  <a:pt x="15621" y="632"/>
                  <a:pt x="15395" y="405"/>
                  <a:pt x="15109" y="239"/>
                </a:cubicBezTo>
                <a:cubicBezTo>
                  <a:pt x="14847" y="96"/>
                  <a:pt x="14550" y="1"/>
                  <a:pt x="14216" y="1"/>
                </a:cubicBezTo>
                <a:cubicBezTo>
                  <a:pt x="13907" y="1"/>
                  <a:pt x="13609" y="84"/>
                  <a:pt x="13323" y="239"/>
                </a:cubicBezTo>
                <a:cubicBezTo>
                  <a:pt x="13157" y="346"/>
                  <a:pt x="13002" y="465"/>
                  <a:pt x="12859" y="620"/>
                </a:cubicBezTo>
                <a:cubicBezTo>
                  <a:pt x="12317" y="1233"/>
                  <a:pt x="11713" y="1539"/>
                  <a:pt x="11107" y="1539"/>
                </a:cubicBezTo>
                <a:cubicBezTo>
                  <a:pt x="10502" y="1539"/>
                  <a:pt x="9894" y="1233"/>
                  <a:pt x="9347" y="620"/>
                </a:cubicBezTo>
                <a:cubicBezTo>
                  <a:pt x="9216" y="465"/>
                  <a:pt x="9073" y="334"/>
                  <a:pt x="8894" y="239"/>
                </a:cubicBezTo>
                <a:cubicBezTo>
                  <a:pt x="8620" y="96"/>
                  <a:pt x="8323" y="1"/>
                  <a:pt x="8001" y="1"/>
                </a:cubicBezTo>
                <a:close/>
              </a:path>
            </a:pathLst>
          </a:cu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35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448" name="Google Shape;448;p35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 - Five Node Center with text blue">
  <p:cSld name="CUSTOM_4_1_1_1_1_1_1_1_2">
    <p:bg>
      <p:bgPr>
        <a:solidFill>
          <a:schemeClr val="accent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6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52" name="Google Shape;452;p3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36"/>
          <p:cNvSpPr txBox="1"/>
          <p:nvPr>
            <p:ph idx="2" type="title"/>
          </p:nvPr>
        </p:nvSpPr>
        <p:spPr>
          <a:xfrm>
            <a:off x="663725" y="1624728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4" name="Google Shape;454;p36"/>
          <p:cNvSpPr txBox="1"/>
          <p:nvPr>
            <p:ph idx="3" type="title"/>
          </p:nvPr>
        </p:nvSpPr>
        <p:spPr>
          <a:xfrm>
            <a:off x="6999781" y="1624728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5" name="Google Shape;455;p36"/>
          <p:cNvSpPr txBox="1"/>
          <p:nvPr>
            <p:ph idx="4" type="title"/>
          </p:nvPr>
        </p:nvSpPr>
        <p:spPr>
          <a:xfrm>
            <a:off x="1540843" y="3340097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6" name="Google Shape;456;p36"/>
          <p:cNvSpPr txBox="1"/>
          <p:nvPr>
            <p:ph idx="5" type="title"/>
          </p:nvPr>
        </p:nvSpPr>
        <p:spPr>
          <a:xfrm>
            <a:off x="6117825" y="3337560"/>
            <a:ext cx="14391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7" name="Google Shape;457;p36"/>
          <p:cNvSpPr txBox="1"/>
          <p:nvPr>
            <p:ph idx="1" type="body"/>
          </p:nvPr>
        </p:nvSpPr>
        <p:spPr>
          <a:xfrm>
            <a:off x="365525" y="18597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8" name="Google Shape;458;p36"/>
          <p:cNvSpPr txBox="1"/>
          <p:nvPr>
            <p:ph idx="6" type="body"/>
          </p:nvPr>
        </p:nvSpPr>
        <p:spPr>
          <a:xfrm>
            <a:off x="1242643" y="356616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9" name="Google Shape;459;p36"/>
          <p:cNvSpPr txBox="1"/>
          <p:nvPr>
            <p:ph idx="7" type="body"/>
          </p:nvPr>
        </p:nvSpPr>
        <p:spPr>
          <a:xfrm>
            <a:off x="6999781" y="18597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0" name="Google Shape;460;p36"/>
          <p:cNvSpPr txBox="1"/>
          <p:nvPr>
            <p:ph idx="8" type="body"/>
          </p:nvPr>
        </p:nvSpPr>
        <p:spPr>
          <a:xfrm>
            <a:off x="6117825" y="356616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1" name="Google Shape;461;p36"/>
          <p:cNvSpPr/>
          <p:nvPr/>
        </p:nvSpPr>
        <p:spPr>
          <a:xfrm>
            <a:off x="2261926" y="1598945"/>
            <a:ext cx="4620146" cy="2591993"/>
          </a:xfrm>
          <a:custGeom>
            <a:rect b="b" l="l" r="r" t="t"/>
            <a:pathLst>
              <a:path extrusionOk="0" h="8978" w="16003">
                <a:moveTo>
                  <a:pt x="8001" y="1"/>
                </a:moveTo>
                <a:cubicBezTo>
                  <a:pt x="7680" y="1"/>
                  <a:pt x="7382" y="84"/>
                  <a:pt x="7108" y="239"/>
                </a:cubicBezTo>
                <a:cubicBezTo>
                  <a:pt x="6942" y="334"/>
                  <a:pt x="6775" y="465"/>
                  <a:pt x="6656" y="620"/>
                </a:cubicBezTo>
                <a:cubicBezTo>
                  <a:pt x="6113" y="1234"/>
                  <a:pt x="5504" y="1541"/>
                  <a:pt x="4895" y="1541"/>
                </a:cubicBezTo>
                <a:cubicBezTo>
                  <a:pt x="4289" y="1541"/>
                  <a:pt x="3684" y="1237"/>
                  <a:pt x="3143" y="632"/>
                </a:cubicBezTo>
                <a:cubicBezTo>
                  <a:pt x="3012" y="477"/>
                  <a:pt x="2858" y="346"/>
                  <a:pt x="2679" y="263"/>
                </a:cubicBezTo>
                <a:cubicBezTo>
                  <a:pt x="2417" y="108"/>
                  <a:pt x="2120" y="24"/>
                  <a:pt x="1786" y="24"/>
                </a:cubicBezTo>
                <a:cubicBezTo>
                  <a:pt x="1477" y="24"/>
                  <a:pt x="1179" y="96"/>
                  <a:pt x="893" y="263"/>
                </a:cubicBezTo>
                <a:cubicBezTo>
                  <a:pt x="631" y="405"/>
                  <a:pt x="405" y="632"/>
                  <a:pt x="238" y="917"/>
                </a:cubicBezTo>
                <a:cubicBezTo>
                  <a:pt x="95" y="1179"/>
                  <a:pt x="0" y="1477"/>
                  <a:pt x="0" y="1810"/>
                </a:cubicBezTo>
                <a:cubicBezTo>
                  <a:pt x="0" y="2120"/>
                  <a:pt x="84" y="2418"/>
                  <a:pt x="238" y="2703"/>
                </a:cubicBezTo>
                <a:cubicBezTo>
                  <a:pt x="393" y="2965"/>
                  <a:pt x="619" y="3191"/>
                  <a:pt x="893" y="3358"/>
                </a:cubicBezTo>
                <a:cubicBezTo>
                  <a:pt x="1167" y="3501"/>
                  <a:pt x="1465" y="3596"/>
                  <a:pt x="1786" y="3596"/>
                </a:cubicBezTo>
                <a:cubicBezTo>
                  <a:pt x="2108" y="3596"/>
                  <a:pt x="2405" y="3513"/>
                  <a:pt x="2679" y="3358"/>
                </a:cubicBezTo>
                <a:cubicBezTo>
                  <a:pt x="2846" y="3251"/>
                  <a:pt x="3012" y="3132"/>
                  <a:pt x="3143" y="2977"/>
                </a:cubicBezTo>
                <a:cubicBezTo>
                  <a:pt x="3686" y="2372"/>
                  <a:pt x="4302" y="2060"/>
                  <a:pt x="4912" y="2060"/>
                </a:cubicBezTo>
                <a:cubicBezTo>
                  <a:pt x="5118" y="2060"/>
                  <a:pt x="5323" y="2095"/>
                  <a:pt x="5525" y="2168"/>
                </a:cubicBezTo>
                <a:cubicBezTo>
                  <a:pt x="6191" y="2406"/>
                  <a:pt x="6596" y="3072"/>
                  <a:pt x="6465" y="3787"/>
                </a:cubicBezTo>
                <a:cubicBezTo>
                  <a:pt x="6299" y="4620"/>
                  <a:pt x="5644" y="5216"/>
                  <a:pt x="4572" y="5442"/>
                </a:cubicBezTo>
                <a:cubicBezTo>
                  <a:pt x="4382" y="5466"/>
                  <a:pt x="4191" y="5537"/>
                  <a:pt x="4013" y="5644"/>
                </a:cubicBezTo>
                <a:cubicBezTo>
                  <a:pt x="3739" y="5799"/>
                  <a:pt x="3513" y="6013"/>
                  <a:pt x="3358" y="6299"/>
                </a:cubicBezTo>
                <a:cubicBezTo>
                  <a:pt x="3203" y="6561"/>
                  <a:pt x="3120" y="6859"/>
                  <a:pt x="3120" y="7192"/>
                </a:cubicBezTo>
                <a:cubicBezTo>
                  <a:pt x="3120" y="7502"/>
                  <a:pt x="3191" y="7799"/>
                  <a:pt x="3358" y="8085"/>
                </a:cubicBezTo>
                <a:cubicBezTo>
                  <a:pt x="3501" y="8347"/>
                  <a:pt x="3727" y="8573"/>
                  <a:pt x="4013" y="8740"/>
                </a:cubicBezTo>
                <a:cubicBezTo>
                  <a:pt x="4275" y="8883"/>
                  <a:pt x="4572" y="8978"/>
                  <a:pt x="4906" y="8978"/>
                </a:cubicBezTo>
                <a:cubicBezTo>
                  <a:pt x="5215" y="8978"/>
                  <a:pt x="5513" y="8906"/>
                  <a:pt x="5799" y="8740"/>
                </a:cubicBezTo>
                <a:cubicBezTo>
                  <a:pt x="6060" y="8585"/>
                  <a:pt x="6287" y="8371"/>
                  <a:pt x="6453" y="8085"/>
                </a:cubicBezTo>
                <a:cubicBezTo>
                  <a:pt x="6596" y="7823"/>
                  <a:pt x="6692" y="7525"/>
                  <a:pt x="6692" y="7192"/>
                </a:cubicBezTo>
                <a:cubicBezTo>
                  <a:pt x="6692" y="7001"/>
                  <a:pt x="6656" y="6799"/>
                  <a:pt x="6596" y="6609"/>
                </a:cubicBezTo>
                <a:cubicBezTo>
                  <a:pt x="6239" y="5573"/>
                  <a:pt x="6430" y="4692"/>
                  <a:pt x="7084" y="4144"/>
                </a:cubicBezTo>
                <a:cubicBezTo>
                  <a:pt x="7352" y="3912"/>
                  <a:pt x="7686" y="3796"/>
                  <a:pt x="8019" y="3796"/>
                </a:cubicBezTo>
                <a:cubicBezTo>
                  <a:pt x="8352" y="3796"/>
                  <a:pt x="8686" y="3912"/>
                  <a:pt x="8954" y="4144"/>
                </a:cubicBezTo>
                <a:cubicBezTo>
                  <a:pt x="9585" y="4692"/>
                  <a:pt x="9787" y="5549"/>
                  <a:pt x="9430" y="6597"/>
                </a:cubicBezTo>
                <a:cubicBezTo>
                  <a:pt x="9370" y="6775"/>
                  <a:pt x="9323" y="6990"/>
                  <a:pt x="9323" y="7192"/>
                </a:cubicBezTo>
                <a:cubicBezTo>
                  <a:pt x="9323" y="7502"/>
                  <a:pt x="9394" y="7799"/>
                  <a:pt x="9561" y="8085"/>
                </a:cubicBezTo>
                <a:cubicBezTo>
                  <a:pt x="9704" y="8347"/>
                  <a:pt x="9930" y="8573"/>
                  <a:pt x="10216" y="8740"/>
                </a:cubicBezTo>
                <a:cubicBezTo>
                  <a:pt x="10478" y="8883"/>
                  <a:pt x="10775" y="8978"/>
                  <a:pt x="11109" y="8978"/>
                </a:cubicBezTo>
                <a:cubicBezTo>
                  <a:pt x="11418" y="8978"/>
                  <a:pt x="11716" y="8906"/>
                  <a:pt x="12002" y="8740"/>
                </a:cubicBezTo>
                <a:cubicBezTo>
                  <a:pt x="12264" y="8585"/>
                  <a:pt x="12490" y="8371"/>
                  <a:pt x="12657" y="8085"/>
                </a:cubicBezTo>
                <a:cubicBezTo>
                  <a:pt x="12799" y="7823"/>
                  <a:pt x="12895" y="7525"/>
                  <a:pt x="12895" y="7192"/>
                </a:cubicBezTo>
                <a:cubicBezTo>
                  <a:pt x="12895" y="6882"/>
                  <a:pt x="12823" y="6585"/>
                  <a:pt x="12657" y="6299"/>
                </a:cubicBezTo>
                <a:cubicBezTo>
                  <a:pt x="12502" y="6037"/>
                  <a:pt x="12287" y="5811"/>
                  <a:pt x="12002" y="5644"/>
                </a:cubicBezTo>
                <a:cubicBezTo>
                  <a:pt x="11835" y="5537"/>
                  <a:pt x="11645" y="5477"/>
                  <a:pt x="11454" y="5442"/>
                </a:cubicBezTo>
                <a:cubicBezTo>
                  <a:pt x="10359" y="5216"/>
                  <a:pt x="9704" y="4620"/>
                  <a:pt x="9549" y="3763"/>
                </a:cubicBezTo>
                <a:cubicBezTo>
                  <a:pt x="9430" y="3072"/>
                  <a:pt x="9811" y="2394"/>
                  <a:pt x="10478" y="2168"/>
                </a:cubicBezTo>
                <a:cubicBezTo>
                  <a:pt x="10688" y="2093"/>
                  <a:pt x="10901" y="2056"/>
                  <a:pt x="11112" y="2056"/>
                </a:cubicBezTo>
                <a:cubicBezTo>
                  <a:pt x="11714" y="2056"/>
                  <a:pt x="12310" y="2357"/>
                  <a:pt x="12847" y="2965"/>
                </a:cubicBezTo>
                <a:cubicBezTo>
                  <a:pt x="12978" y="3120"/>
                  <a:pt x="13133" y="3251"/>
                  <a:pt x="13311" y="3358"/>
                </a:cubicBezTo>
                <a:cubicBezTo>
                  <a:pt x="13573" y="3501"/>
                  <a:pt x="13871" y="3596"/>
                  <a:pt x="14204" y="3596"/>
                </a:cubicBezTo>
                <a:cubicBezTo>
                  <a:pt x="14514" y="3596"/>
                  <a:pt x="14812" y="3513"/>
                  <a:pt x="15097" y="3358"/>
                </a:cubicBezTo>
                <a:cubicBezTo>
                  <a:pt x="15359" y="3203"/>
                  <a:pt x="15585" y="2977"/>
                  <a:pt x="15752" y="2703"/>
                </a:cubicBezTo>
                <a:cubicBezTo>
                  <a:pt x="15895" y="2429"/>
                  <a:pt x="15990" y="2132"/>
                  <a:pt x="15990" y="1810"/>
                </a:cubicBezTo>
                <a:cubicBezTo>
                  <a:pt x="16002" y="1489"/>
                  <a:pt x="15931" y="1179"/>
                  <a:pt x="15764" y="894"/>
                </a:cubicBezTo>
                <a:cubicBezTo>
                  <a:pt x="15621" y="632"/>
                  <a:pt x="15395" y="405"/>
                  <a:pt x="15109" y="239"/>
                </a:cubicBezTo>
                <a:cubicBezTo>
                  <a:pt x="14847" y="96"/>
                  <a:pt x="14550" y="1"/>
                  <a:pt x="14216" y="1"/>
                </a:cubicBezTo>
                <a:cubicBezTo>
                  <a:pt x="13907" y="1"/>
                  <a:pt x="13609" y="84"/>
                  <a:pt x="13323" y="239"/>
                </a:cubicBezTo>
                <a:cubicBezTo>
                  <a:pt x="13157" y="346"/>
                  <a:pt x="13002" y="465"/>
                  <a:pt x="12859" y="620"/>
                </a:cubicBezTo>
                <a:cubicBezTo>
                  <a:pt x="12317" y="1233"/>
                  <a:pt x="11713" y="1539"/>
                  <a:pt x="11107" y="1539"/>
                </a:cubicBezTo>
                <a:cubicBezTo>
                  <a:pt x="10502" y="1539"/>
                  <a:pt x="9894" y="1233"/>
                  <a:pt x="9347" y="620"/>
                </a:cubicBezTo>
                <a:cubicBezTo>
                  <a:pt x="9216" y="465"/>
                  <a:pt x="9073" y="334"/>
                  <a:pt x="8894" y="239"/>
                </a:cubicBezTo>
                <a:cubicBezTo>
                  <a:pt x="8620" y="96"/>
                  <a:pt x="8323" y="1"/>
                  <a:pt x="80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36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463" name="Google Shape;463;p36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 - Three Circles with Text">
  <p:cSld name="CUSTOM_4_1_1_1_1_1_1_1_1_2">
    <p:bg>
      <p:bgPr>
        <a:solidFill>
          <a:schemeClr val="accent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67" name="Google Shape;467;p3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37"/>
          <p:cNvSpPr txBox="1"/>
          <p:nvPr>
            <p:ph idx="2" type="title"/>
          </p:nvPr>
        </p:nvSpPr>
        <p:spPr>
          <a:xfrm>
            <a:off x="1252728" y="3108960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9" name="Google Shape;469;p37"/>
          <p:cNvSpPr txBox="1"/>
          <p:nvPr>
            <p:ph idx="3" type="title"/>
          </p:nvPr>
        </p:nvSpPr>
        <p:spPr>
          <a:xfrm>
            <a:off x="6492240" y="3124028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0" name="Google Shape;470;p37"/>
          <p:cNvSpPr txBox="1"/>
          <p:nvPr>
            <p:ph idx="4" type="title"/>
          </p:nvPr>
        </p:nvSpPr>
        <p:spPr>
          <a:xfrm>
            <a:off x="3867912" y="3108960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1" name="Google Shape;471;p37"/>
          <p:cNvSpPr txBox="1"/>
          <p:nvPr>
            <p:ph idx="1" type="body"/>
          </p:nvPr>
        </p:nvSpPr>
        <p:spPr>
          <a:xfrm>
            <a:off x="1252728" y="33590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2" name="Google Shape;472;p37"/>
          <p:cNvSpPr txBox="1"/>
          <p:nvPr>
            <p:ph idx="5" type="body"/>
          </p:nvPr>
        </p:nvSpPr>
        <p:spPr>
          <a:xfrm>
            <a:off x="3867912" y="3350085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3" name="Google Shape;473;p37"/>
          <p:cNvSpPr txBox="1"/>
          <p:nvPr>
            <p:ph idx="6" type="body"/>
          </p:nvPr>
        </p:nvSpPr>
        <p:spPr>
          <a:xfrm>
            <a:off x="6492240" y="3359044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4" name="Google Shape;474;p37"/>
          <p:cNvSpPr/>
          <p:nvPr/>
        </p:nvSpPr>
        <p:spPr>
          <a:xfrm>
            <a:off x="1102875" y="1112525"/>
            <a:ext cx="1719300" cy="1719300"/>
          </a:xfrm>
          <a:prstGeom prst="ellipse">
            <a:avLst/>
          </a:pr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7"/>
          <p:cNvSpPr/>
          <p:nvPr/>
        </p:nvSpPr>
        <p:spPr>
          <a:xfrm>
            <a:off x="6330050" y="1112525"/>
            <a:ext cx="1719300" cy="1719300"/>
          </a:xfrm>
          <a:prstGeom prst="ellipse">
            <a:avLst/>
          </a:prstGeom>
          <a:solidFill>
            <a:srgbClr val="90CB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3716463" y="1112525"/>
            <a:ext cx="1719300" cy="1719300"/>
          </a:xfrm>
          <a:prstGeom prst="ellipse">
            <a:avLst/>
          </a:prstGeom>
          <a:solidFill>
            <a:srgbClr val="FFD0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7"/>
          <p:cNvSpPr txBox="1"/>
          <p:nvPr>
            <p:ph idx="7" type="subTitle"/>
          </p:nvPr>
        </p:nvSpPr>
        <p:spPr>
          <a:xfrm>
            <a:off x="1103200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7"/>
          <p:cNvSpPr txBox="1"/>
          <p:nvPr>
            <p:ph idx="8" type="subTitle"/>
          </p:nvPr>
        </p:nvSpPr>
        <p:spPr>
          <a:xfrm>
            <a:off x="3716613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7"/>
          <p:cNvSpPr txBox="1"/>
          <p:nvPr>
            <p:ph idx="9" type="subTitle"/>
          </p:nvPr>
        </p:nvSpPr>
        <p:spPr>
          <a:xfrm>
            <a:off x="6330038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0" name="Google Shape;480;p37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481" name="Google Shape;481;p37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 - Four Circles with text">
  <p:cSld name="CUSTOM_4_1_1_1_1_1_1_1_1_1_1">
    <p:bg>
      <p:bgPr>
        <a:solidFill>
          <a:schemeClr val="accent2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414"/>
              </a:buClr>
              <a:buSzPts val="2800"/>
              <a:buNone/>
              <a:defRPr>
                <a:solidFill>
                  <a:srgbClr val="181414"/>
                </a:solidFill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38"/>
          <p:cNvSpPr txBox="1"/>
          <p:nvPr>
            <p:ph idx="2" type="title"/>
          </p:nvPr>
        </p:nvSpPr>
        <p:spPr>
          <a:xfrm>
            <a:off x="749808" y="3108960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3" type="title"/>
          </p:nvPr>
        </p:nvSpPr>
        <p:spPr>
          <a:xfrm>
            <a:off x="4718304" y="3124028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8" name="Google Shape;488;p38"/>
          <p:cNvSpPr txBox="1"/>
          <p:nvPr>
            <p:ph idx="4" type="title"/>
          </p:nvPr>
        </p:nvSpPr>
        <p:spPr>
          <a:xfrm>
            <a:off x="2734056" y="3108960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9" name="Google Shape;489;p38"/>
          <p:cNvSpPr txBox="1"/>
          <p:nvPr>
            <p:ph idx="1" type="body"/>
          </p:nvPr>
        </p:nvSpPr>
        <p:spPr>
          <a:xfrm>
            <a:off x="749808" y="338870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90" name="Google Shape;490;p38"/>
          <p:cNvSpPr txBox="1"/>
          <p:nvPr>
            <p:ph idx="5" type="body"/>
          </p:nvPr>
        </p:nvSpPr>
        <p:spPr>
          <a:xfrm>
            <a:off x="2734056" y="338870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91" name="Google Shape;491;p38"/>
          <p:cNvSpPr txBox="1"/>
          <p:nvPr>
            <p:ph idx="6" type="body"/>
          </p:nvPr>
        </p:nvSpPr>
        <p:spPr>
          <a:xfrm>
            <a:off x="4718304" y="338870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92" name="Google Shape;492;p38"/>
          <p:cNvSpPr/>
          <p:nvPr/>
        </p:nvSpPr>
        <p:spPr>
          <a:xfrm>
            <a:off x="594360" y="1112525"/>
            <a:ext cx="1719300" cy="1719300"/>
          </a:xfrm>
          <a:prstGeom prst="ellipse">
            <a:avLst/>
          </a:pr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8"/>
          <p:cNvSpPr/>
          <p:nvPr/>
        </p:nvSpPr>
        <p:spPr>
          <a:xfrm>
            <a:off x="4572000" y="1112525"/>
            <a:ext cx="1719300" cy="1719300"/>
          </a:xfrm>
          <a:prstGeom prst="ellipse">
            <a:avLst/>
          </a:prstGeom>
          <a:solidFill>
            <a:srgbClr val="90CB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8"/>
          <p:cNvSpPr/>
          <p:nvPr/>
        </p:nvSpPr>
        <p:spPr>
          <a:xfrm>
            <a:off x="2578608" y="1112525"/>
            <a:ext cx="1719300" cy="1719300"/>
          </a:xfrm>
          <a:prstGeom prst="ellipse">
            <a:avLst/>
          </a:prstGeom>
          <a:solidFill>
            <a:srgbClr val="FFD0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8"/>
          <p:cNvSpPr txBox="1"/>
          <p:nvPr>
            <p:ph idx="7" type="subTitle"/>
          </p:nvPr>
        </p:nvSpPr>
        <p:spPr>
          <a:xfrm>
            <a:off x="594360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38"/>
          <p:cNvSpPr txBox="1"/>
          <p:nvPr>
            <p:ph idx="8" type="subTitle"/>
          </p:nvPr>
        </p:nvSpPr>
        <p:spPr>
          <a:xfrm>
            <a:off x="2578738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38"/>
          <p:cNvSpPr txBox="1"/>
          <p:nvPr>
            <p:ph idx="9" type="subTitle"/>
          </p:nvPr>
        </p:nvSpPr>
        <p:spPr>
          <a:xfrm>
            <a:off x="4567563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8" name="Google Shape;498;p38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499" name="Google Shape;499;p38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501" name="Google Shape;501;p38"/>
          <p:cNvSpPr txBox="1"/>
          <p:nvPr>
            <p:ph idx="13" type="title"/>
          </p:nvPr>
        </p:nvSpPr>
        <p:spPr>
          <a:xfrm>
            <a:off x="6711696" y="3124028"/>
            <a:ext cx="1719000" cy="3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None/>
              <a:defRPr sz="1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02" name="Google Shape;502;p38"/>
          <p:cNvSpPr txBox="1"/>
          <p:nvPr>
            <p:ph idx="14" type="body"/>
          </p:nvPr>
        </p:nvSpPr>
        <p:spPr>
          <a:xfrm>
            <a:off x="6711696" y="3388700"/>
            <a:ext cx="17373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03" name="Google Shape;503;p38"/>
          <p:cNvSpPr/>
          <p:nvPr/>
        </p:nvSpPr>
        <p:spPr>
          <a:xfrm>
            <a:off x="6556248" y="1112525"/>
            <a:ext cx="1719300" cy="1719300"/>
          </a:xfrm>
          <a:prstGeom prst="ellipse">
            <a:avLst/>
          </a:prstGeom>
          <a:solidFill>
            <a:srgbClr val="90CB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8"/>
          <p:cNvSpPr txBox="1"/>
          <p:nvPr>
            <p:ph idx="15" type="subTitle"/>
          </p:nvPr>
        </p:nvSpPr>
        <p:spPr>
          <a:xfrm>
            <a:off x="6556248" y="1353312"/>
            <a:ext cx="1719000" cy="1252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 - Three Nodes with text aligned">
  <p:cSld name="CUSTOM_5_2"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7" name="Google Shape;507;p3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8" name="Google Shape;508;p39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09" name="Google Shape;509;p39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511" name="Google Shape;511;p39"/>
          <p:cNvSpPr/>
          <p:nvPr/>
        </p:nvSpPr>
        <p:spPr>
          <a:xfrm>
            <a:off x="2160042" y="1442233"/>
            <a:ext cx="515771" cy="515770"/>
          </a:xfrm>
          <a:custGeom>
            <a:rect b="b" l="l" r="r" t="t"/>
            <a:pathLst>
              <a:path extrusionOk="0" h="3572" w="3573">
                <a:moveTo>
                  <a:pt x="1786" y="0"/>
                </a:moveTo>
                <a:cubicBezTo>
                  <a:pt x="1477" y="0"/>
                  <a:pt x="1179" y="72"/>
                  <a:pt x="893" y="238"/>
                </a:cubicBezTo>
                <a:cubicBezTo>
                  <a:pt x="631" y="381"/>
                  <a:pt x="405" y="607"/>
                  <a:pt x="239" y="893"/>
                </a:cubicBezTo>
                <a:cubicBezTo>
                  <a:pt x="96" y="1155"/>
                  <a:pt x="0" y="1453"/>
                  <a:pt x="0" y="1786"/>
                </a:cubicBezTo>
                <a:cubicBezTo>
                  <a:pt x="0" y="2096"/>
                  <a:pt x="72" y="2393"/>
                  <a:pt x="239" y="2679"/>
                </a:cubicBezTo>
                <a:cubicBezTo>
                  <a:pt x="393" y="2941"/>
                  <a:pt x="608" y="3167"/>
                  <a:pt x="893" y="3334"/>
                </a:cubicBezTo>
                <a:cubicBezTo>
                  <a:pt x="1143" y="3477"/>
                  <a:pt x="1465" y="3572"/>
                  <a:pt x="1786" y="3572"/>
                </a:cubicBezTo>
                <a:cubicBezTo>
                  <a:pt x="2096" y="3572"/>
                  <a:pt x="2394" y="3489"/>
                  <a:pt x="2679" y="3334"/>
                </a:cubicBezTo>
                <a:cubicBezTo>
                  <a:pt x="2953" y="3179"/>
                  <a:pt x="3168" y="2953"/>
                  <a:pt x="3334" y="2679"/>
                </a:cubicBezTo>
                <a:cubicBezTo>
                  <a:pt x="3477" y="2405"/>
                  <a:pt x="3572" y="2107"/>
                  <a:pt x="3572" y="1786"/>
                </a:cubicBezTo>
                <a:cubicBezTo>
                  <a:pt x="3572" y="1465"/>
                  <a:pt x="3501" y="1167"/>
                  <a:pt x="3334" y="893"/>
                </a:cubicBezTo>
                <a:cubicBezTo>
                  <a:pt x="3179" y="619"/>
                  <a:pt x="2965" y="393"/>
                  <a:pt x="2679" y="238"/>
                </a:cubicBezTo>
                <a:cubicBezTo>
                  <a:pt x="2417" y="83"/>
                  <a:pt x="2120" y="0"/>
                  <a:pt x="1786" y="0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9"/>
          <p:cNvSpPr/>
          <p:nvPr/>
        </p:nvSpPr>
        <p:spPr>
          <a:xfrm>
            <a:off x="1261139" y="2491246"/>
            <a:ext cx="1414654" cy="515771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9"/>
          <p:cNvSpPr/>
          <p:nvPr/>
        </p:nvSpPr>
        <p:spPr>
          <a:xfrm>
            <a:off x="365741" y="3532080"/>
            <a:ext cx="2310073" cy="515771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9"/>
          <p:cNvSpPr txBox="1"/>
          <p:nvPr>
            <p:ph idx="1" type="subTitle"/>
          </p:nvPr>
        </p:nvSpPr>
        <p:spPr>
          <a:xfrm>
            <a:off x="3153550" y="1471518"/>
            <a:ext cx="45720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39"/>
          <p:cNvSpPr txBox="1"/>
          <p:nvPr>
            <p:ph idx="2" type="subTitle"/>
          </p:nvPr>
        </p:nvSpPr>
        <p:spPr>
          <a:xfrm>
            <a:off x="3153550" y="2520532"/>
            <a:ext cx="45720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39"/>
          <p:cNvSpPr txBox="1"/>
          <p:nvPr>
            <p:ph idx="3" type="subTitle"/>
          </p:nvPr>
        </p:nvSpPr>
        <p:spPr>
          <a:xfrm>
            <a:off x="3153550" y="3561366"/>
            <a:ext cx="45720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 - Three Nodes with text">
  <p:cSld name="CUSTOM_5_1_1"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0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9" name="Google Shape;519;p4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20" name="Google Shape;520;p4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21" name="Google Shape;521;p4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523" name="Google Shape;523;p40"/>
          <p:cNvSpPr txBox="1"/>
          <p:nvPr>
            <p:ph idx="1" type="subTitle"/>
          </p:nvPr>
        </p:nvSpPr>
        <p:spPr>
          <a:xfrm>
            <a:off x="1709928" y="1499616"/>
            <a:ext cx="45720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40"/>
          <p:cNvSpPr txBox="1"/>
          <p:nvPr>
            <p:ph idx="2" type="subTitle"/>
          </p:nvPr>
        </p:nvSpPr>
        <p:spPr>
          <a:xfrm>
            <a:off x="2606040" y="2532888"/>
            <a:ext cx="45720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40"/>
          <p:cNvSpPr txBox="1"/>
          <p:nvPr>
            <p:ph idx="3" type="subTitle"/>
          </p:nvPr>
        </p:nvSpPr>
        <p:spPr>
          <a:xfrm>
            <a:off x="3502152" y="3584448"/>
            <a:ext cx="45720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40"/>
          <p:cNvSpPr/>
          <p:nvPr/>
        </p:nvSpPr>
        <p:spPr>
          <a:xfrm>
            <a:off x="1039241" y="1450466"/>
            <a:ext cx="515771" cy="515770"/>
          </a:xfrm>
          <a:custGeom>
            <a:rect b="b" l="l" r="r" t="t"/>
            <a:pathLst>
              <a:path extrusionOk="0" h="3572" w="3573">
                <a:moveTo>
                  <a:pt x="1786" y="0"/>
                </a:moveTo>
                <a:cubicBezTo>
                  <a:pt x="1477" y="0"/>
                  <a:pt x="1179" y="72"/>
                  <a:pt x="893" y="238"/>
                </a:cubicBezTo>
                <a:cubicBezTo>
                  <a:pt x="631" y="381"/>
                  <a:pt x="405" y="607"/>
                  <a:pt x="239" y="893"/>
                </a:cubicBezTo>
                <a:cubicBezTo>
                  <a:pt x="96" y="1155"/>
                  <a:pt x="0" y="1453"/>
                  <a:pt x="0" y="1786"/>
                </a:cubicBezTo>
                <a:cubicBezTo>
                  <a:pt x="0" y="2096"/>
                  <a:pt x="72" y="2393"/>
                  <a:pt x="239" y="2679"/>
                </a:cubicBezTo>
                <a:cubicBezTo>
                  <a:pt x="393" y="2941"/>
                  <a:pt x="608" y="3167"/>
                  <a:pt x="893" y="3334"/>
                </a:cubicBezTo>
                <a:cubicBezTo>
                  <a:pt x="1143" y="3477"/>
                  <a:pt x="1465" y="3572"/>
                  <a:pt x="1786" y="3572"/>
                </a:cubicBezTo>
                <a:cubicBezTo>
                  <a:pt x="2096" y="3572"/>
                  <a:pt x="2394" y="3489"/>
                  <a:pt x="2679" y="3334"/>
                </a:cubicBezTo>
                <a:cubicBezTo>
                  <a:pt x="2953" y="3179"/>
                  <a:pt x="3168" y="2953"/>
                  <a:pt x="3334" y="2679"/>
                </a:cubicBezTo>
                <a:cubicBezTo>
                  <a:pt x="3477" y="2405"/>
                  <a:pt x="3572" y="2107"/>
                  <a:pt x="3572" y="1786"/>
                </a:cubicBezTo>
                <a:cubicBezTo>
                  <a:pt x="3572" y="1465"/>
                  <a:pt x="3501" y="1167"/>
                  <a:pt x="3334" y="893"/>
                </a:cubicBezTo>
                <a:cubicBezTo>
                  <a:pt x="3179" y="619"/>
                  <a:pt x="2965" y="393"/>
                  <a:pt x="2679" y="238"/>
                </a:cubicBezTo>
                <a:cubicBezTo>
                  <a:pt x="2417" y="83"/>
                  <a:pt x="2120" y="0"/>
                  <a:pt x="1786" y="0"/>
                </a:cubicBezTo>
                <a:close/>
              </a:path>
            </a:pathLst>
          </a:custGeom>
          <a:solidFill>
            <a:srgbClr val="0A61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0"/>
          <p:cNvSpPr/>
          <p:nvPr/>
        </p:nvSpPr>
        <p:spPr>
          <a:xfrm>
            <a:off x="1039241" y="2491246"/>
            <a:ext cx="1414654" cy="515771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0A61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0"/>
          <p:cNvSpPr/>
          <p:nvPr/>
        </p:nvSpPr>
        <p:spPr>
          <a:xfrm>
            <a:off x="1039241" y="3532080"/>
            <a:ext cx="2310073" cy="515771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rgbClr val="0A61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0"/>
          <p:cNvSpPr txBox="1"/>
          <p:nvPr>
            <p:ph idx="4" type="title"/>
          </p:nvPr>
        </p:nvSpPr>
        <p:spPr>
          <a:xfrm>
            <a:off x="1092090" y="1396822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Syne Medium"/>
              <a:buNone/>
              <a:defRPr b="0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30" name="Google Shape;530;p40"/>
          <p:cNvSpPr txBox="1"/>
          <p:nvPr>
            <p:ph idx="5" type="title"/>
          </p:nvPr>
        </p:nvSpPr>
        <p:spPr>
          <a:xfrm>
            <a:off x="1989228" y="2423974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Syne Medium"/>
              <a:buNone/>
              <a:defRPr b="0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31" name="Google Shape;531;p40"/>
          <p:cNvSpPr txBox="1"/>
          <p:nvPr>
            <p:ph idx="6" type="title"/>
          </p:nvPr>
        </p:nvSpPr>
        <p:spPr>
          <a:xfrm>
            <a:off x="2890224" y="3445373"/>
            <a:ext cx="410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Syne Medium"/>
              <a:buNone/>
              <a:defRPr b="0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Headline, text and square image">
  <p:cSld name="CUSTOM_3_3_2"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1"/>
          <p:cNvSpPr/>
          <p:nvPr>
            <p:ph idx="2" type="pic"/>
          </p:nvPr>
        </p:nvSpPr>
        <p:spPr>
          <a:xfrm>
            <a:off x="2684325" y="989600"/>
            <a:ext cx="6139800" cy="31668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41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41"/>
          <p:cNvSpPr txBox="1"/>
          <p:nvPr>
            <p:ph idx="1" type="body"/>
          </p:nvPr>
        </p:nvSpPr>
        <p:spPr>
          <a:xfrm>
            <a:off x="365750" y="960125"/>
            <a:ext cx="22197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537" name="Google Shape;537;p41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38" name="Google Shape;538;p41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39" name="Google Shape;539;p41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Headline, text and rounded image">
  <p:cSld name="CUSTOM_3_3_1_2"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2" name="Google Shape;542;p42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42"/>
          <p:cNvSpPr txBox="1"/>
          <p:nvPr>
            <p:ph idx="1" type="body"/>
          </p:nvPr>
        </p:nvSpPr>
        <p:spPr>
          <a:xfrm>
            <a:off x="365750" y="960125"/>
            <a:ext cx="22197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544" name="Google Shape;544;p42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45" name="Google Shape;545;p42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547" name="Google Shape;547;p42"/>
          <p:cNvSpPr/>
          <p:nvPr>
            <p:ph idx="2" type="pic"/>
          </p:nvPr>
        </p:nvSpPr>
        <p:spPr>
          <a:xfrm>
            <a:off x="2684325" y="1001975"/>
            <a:ext cx="6139800" cy="31545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 - Four images square tan">
  <p:cSld name="CUSTOM_3_3_1_1_1_1_2_1">
    <p:bg>
      <p:bgPr>
        <a:solidFill>
          <a:schemeClr val="dk2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ublic Sans"/>
              <a:buNone/>
              <a:defRPr b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0" name="Google Shape;550;p4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43"/>
          <p:cNvSpPr txBox="1"/>
          <p:nvPr>
            <p:ph idx="1" type="body"/>
          </p:nvPr>
        </p:nvSpPr>
        <p:spPr>
          <a:xfrm>
            <a:off x="365750" y="960125"/>
            <a:ext cx="22197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2" name="Google Shape;552;p43"/>
          <p:cNvSpPr/>
          <p:nvPr>
            <p:ph idx="2" type="pic"/>
          </p:nvPr>
        </p:nvSpPr>
        <p:spPr>
          <a:xfrm>
            <a:off x="2697480" y="1001975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grpSp>
        <p:nvGrpSpPr>
          <p:cNvPr id="553" name="Google Shape;553;p43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54" name="Google Shape;554;p43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55" name="Google Shape;555;p43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556" name="Google Shape;556;p43"/>
          <p:cNvSpPr/>
          <p:nvPr>
            <p:ph idx="3" type="pic"/>
          </p:nvPr>
        </p:nvSpPr>
        <p:spPr>
          <a:xfrm>
            <a:off x="2697480" y="2999232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sp>
        <p:nvSpPr>
          <p:cNvPr id="557" name="Google Shape;557;p43"/>
          <p:cNvSpPr/>
          <p:nvPr>
            <p:ph idx="4" type="pic"/>
          </p:nvPr>
        </p:nvSpPr>
        <p:spPr>
          <a:xfrm>
            <a:off x="5943600" y="1001975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sp>
        <p:nvSpPr>
          <p:cNvPr id="558" name="Google Shape;558;p43"/>
          <p:cNvSpPr/>
          <p:nvPr>
            <p:ph idx="5" type="pic"/>
          </p:nvPr>
        </p:nvSpPr>
        <p:spPr>
          <a:xfrm>
            <a:off x="5943600" y="2999232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 - Four images rounded green">
  <p:cSld name="CUSTOM_3_3_1_1_1_1_1_2_1">
    <p:bg>
      <p:bgPr>
        <a:solidFill>
          <a:schemeClr val="accent3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1" name="Google Shape;561;p4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44"/>
          <p:cNvSpPr txBox="1"/>
          <p:nvPr>
            <p:ph idx="1" type="body"/>
          </p:nvPr>
        </p:nvSpPr>
        <p:spPr>
          <a:xfrm>
            <a:off x="365750" y="960125"/>
            <a:ext cx="22197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3" name="Google Shape;563;p44"/>
          <p:cNvSpPr/>
          <p:nvPr>
            <p:ph idx="2" type="pic"/>
          </p:nvPr>
        </p:nvSpPr>
        <p:spPr>
          <a:xfrm>
            <a:off x="2697480" y="1001975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sp>
        <p:nvSpPr>
          <p:cNvPr id="564" name="Google Shape;564;p44"/>
          <p:cNvSpPr/>
          <p:nvPr>
            <p:ph idx="3" type="pic"/>
          </p:nvPr>
        </p:nvSpPr>
        <p:spPr>
          <a:xfrm>
            <a:off x="2697480" y="2999232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sp>
        <p:nvSpPr>
          <p:cNvPr id="565" name="Google Shape;565;p44"/>
          <p:cNvSpPr/>
          <p:nvPr>
            <p:ph idx="4" type="pic"/>
          </p:nvPr>
        </p:nvSpPr>
        <p:spPr>
          <a:xfrm>
            <a:off x="5943600" y="1001975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sp>
        <p:nvSpPr>
          <p:cNvPr id="566" name="Google Shape;566;p44"/>
          <p:cNvSpPr/>
          <p:nvPr>
            <p:ph idx="5" type="pic"/>
          </p:nvPr>
        </p:nvSpPr>
        <p:spPr>
          <a:xfrm>
            <a:off x="5943600" y="2999232"/>
            <a:ext cx="2834700" cy="1600200"/>
          </a:xfrm>
          <a:prstGeom prst="roundRect">
            <a:avLst>
              <a:gd fmla="val 9803" name="adj"/>
            </a:avLst>
          </a:prstGeom>
          <a:noFill/>
          <a:ln>
            <a:noFill/>
          </a:ln>
        </p:spPr>
      </p:sp>
      <p:grpSp>
        <p:nvGrpSpPr>
          <p:cNvPr id="567" name="Google Shape;567;p44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68" name="Google Shape;568;p44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 - Four images square green">
  <p:cSld name="CUSTOM_3_3_1_1_1_1_1_1_2_1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5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2" name="Google Shape;572;p45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3" name="Google Shape;573;p45"/>
          <p:cNvSpPr txBox="1"/>
          <p:nvPr>
            <p:ph idx="1" type="body"/>
          </p:nvPr>
        </p:nvSpPr>
        <p:spPr>
          <a:xfrm>
            <a:off x="365750" y="960125"/>
            <a:ext cx="22197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4" name="Google Shape;574;p45"/>
          <p:cNvSpPr/>
          <p:nvPr>
            <p:ph idx="2" type="pic"/>
          </p:nvPr>
        </p:nvSpPr>
        <p:spPr>
          <a:xfrm>
            <a:off x="2697480" y="1001975"/>
            <a:ext cx="2834700" cy="16002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75" name="Google Shape;575;p45"/>
          <p:cNvSpPr/>
          <p:nvPr>
            <p:ph idx="3" type="pic"/>
          </p:nvPr>
        </p:nvSpPr>
        <p:spPr>
          <a:xfrm>
            <a:off x="2697480" y="2999232"/>
            <a:ext cx="2834700" cy="16002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76" name="Google Shape;576;p45"/>
          <p:cNvSpPr/>
          <p:nvPr>
            <p:ph idx="4" type="pic"/>
          </p:nvPr>
        </p:nvSpPr>
        <p:spPr>
          <a:xfrm>
            <a:off x="5943600" y="1001975"/>
            <a:ext cx="2834700" cy="16002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77" name="Google Shape;577;p45"/>
          <p:cNvSpPr/>
          <p:nvPr>
            <p:ph idx="5" type="pic"/>
          </p:nvPr>
        </p:nvSpPr>
        <p:spPr>
          <a:xfrm>
            <a:off x="5943600" y="2999232"/>
            <a:ext cx="2834700" cy="16002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grpSp>
        <p:nvGrpSpPr>
          <p:cNvPr id="578" name="Google Shape;578;p45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79" name="Google Shape;579;p45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80" name="Google Shape;580;p45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 - Quote Slide White">
  <p:cSld name="BLANK_4">
    <p:bg>
      <p:bgPr>
        <a:solidFill>
          <a:srgbClr val="FFFF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3" name="Google Shape;583;p46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84" name="Google Shape;584;p46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85" name="Google Shape;585;p46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586" name="Google Shape;586;p46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6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6"/>
          <p:cNvSpPr txBox="1"/>
          <p:nvPr>
            <p:ph idx="1" type="subTitle"/>
          </p:nvPr>
        </p:nvSpPr>
        <p:spPr>
          <a:xfrm>
            <a:off x="1554480" y="1188720"/>
            <a:ext cx="6126600" cy="301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 - Quote Slide Blue">
  <p:cSld name="BLANK_1_2_1">
    <p:bg>
      <p:bgPr>
        <a:solidFill>
          <a:schemeClr val="accent2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47"/>
          <p:cNvSpPr txBox="1"/>
          <p:nvPr>
            <p:ph idx="1" type="subTitle"/>
          </p:nvPr>
        </p:nvSpPr>
        <p:spPr>
          <a:xfrm>
            <a:off x="1554480" y="1188720"/>
            <a:ext cx="6126600" cy="301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92" name="Google Shape;592;p47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7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47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595" name="Google Shape;595;p47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 - 1/3 Picture and Quote">
  <p:cSld name="BLANK_2_2"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/>
          <p:nvPr>
            <p:ph idx="2" type="pic"/>
          </p:nvPr>
        </p:nvSpPr>
        <p:spPr>
          <a:xfrm>
            <a:off x="0" y="0"/>
            <a:ext cx="341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4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00" name="Google Shape;600;p48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01" name="Google Shape;601;p48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02" name="Google Shape;602;p48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603" name="Google Shape;603;p48"/>
          <p:cNvSpPr txBox="1"/>
          <p:nvPr>
            <p:ph idx="1" type="subTitle"/>
          </p:nvPr>
        </p:nvSpPr>
        <p:spPr>
          <a:xfrm>
            <a:off x="3657600" y="1188720"/>
            <a:ext cx="4206300" cy="301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04" name="Google Shape;604;p48"/>
          <p:cNvSpPr/>
          <p:nvPr/>
        </p:nvSpPr>
        <p:spPr>
          <a:xfrm flipH="1" rot="5400000">
            <a:off x="3397048" y="-14265"/>
            <a:ext cx="1326869" cy="921255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noFill/>
          <a:ln cap="flat" cmpd="sng" w="19050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8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 - Side Node with Boxes 1">
  <p:cSld name="BLANK_2_1_2"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08" name="Google Shape;608;p49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09" name="Google Shape;609;p49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10" name="Google Shape;610;p49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611" name="Google Shape;611;p49"/>
          <p:cNvSpPr/>
          <p:nvPr/>
        </p:nvSpPr>
        <p:spPr>
          <a:xfrm rot="2101277">
            <a:off x="-4473819" y="2230042"/>
            <a:ext cx="13865999" cy="5055423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19050">
            <a:solidFill>
              <a:srgbClr val="8F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-4693915" y="974021"/>
            <a:ext cx="8709922" cy="3175575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014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9"/>
          <p:cNvSpPr/>
          <p:nvPr/>
        </p:nvSpPr>
        <p:spPr>
          <a:xfrm>
            <a:off x="4189275" y="2163100"/>
            <a:ext cx="4589700" cy="1001100"/>
          </a:xfrm>
          <a:prstGeom prst="roundRect">
            <a:avLst>
              <a:gd fmla="val 16667" name="adj"/>
            </a:avLst>
          </a:prstGeom>
          <a:solidFill>
            <a:srgbClr val="8F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14" name="Google Shape;614;p49"/>
          <p:cNvSpPr/>
          <p:nvPr/>
        </p:nvSpPr>
        <p:spPr>
          <a:xfrm>
            <a:off x="4189275" y="3401175"/>
            <a:ext cx="4589700" cy="1001100"/>
          </a:xfrm>
          <a:prstGeom prst="roundRect">
            <a:avLst>
              <a:gd fmla="val 16667" name="adj"/>
            </a:avLst>
          </a:prstGeom>
          <a:solidFill>
            <a:srgbClr val="8F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15" name="Google Shape;615;p49"/>
          <p:cNvSpPr/>
          <p:nvPr/>
        </p:nvSpPr>
        <p:spPr>
          <a:xfrm>
            <a:off x="4189275" y="925025"/>
            <a:ext cx="4589700" cy="1001100"/>
          </a:xfrm>
          <a:prstGeom prst="roundRect">
            <a:avLst>
              <a:gd fmla="val 16667" name="adj"/>
            </a:avLst>
          </a:prstGeom>
          <a:solidFill>
            <a:srgbClr val="8F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14063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sp>
        <p:nvSpPr>
          <p:cNvPr id="616" name="Google Shape;616;p49"/>
          <p:cNvSpPr txBox="1"/>
          <p:nvPr>
            <p:ph type="title"/>
          </p:nvPr>
        </p:nvSpPr>
        <p:spPr>
          <a:xfrm>
            <a:off x="4330617" y="1114476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7" name="Google Shape;617;p49"/>
          <p:cNvSpPr txBox="1"/>
          <p:nvPr>
            <p:ph idx="2" type="title"/>
          </p:nvPr>
        </p:nvSpPr>
        <p:spPr>
          <a:xfrm>
            <a:off x="4330617" y="2352551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8" name="Google Shape;618;p49"/>
          <p:cNvSpPr txBox="1"/>
          <p:nvPr>
            <p:ph idx="3" type="title"/>
          </p:nvPr>
        </p:nvSpPr>
        <p:spPr>
          <a:xfrm>
            <a:off x="4330617" y="3590626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9" name="Google Shape;619;p49"/>
          <p:cNvSpPr txBox="1"/>
          <p:nvPr>
            <p:ph idx="1" type="body"/>
          </p:nvPr>
        </p:nvSpPr>
        <p:spPr>
          <a:xfrm>
            <a:off x="6096000" y="920225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20" name="Google Shape;620;p49"/>
          <p:cNvSpPr txBox="1"/>
          <p:nvPr>
            <p:ph idx="4" type="body"/>
          </p:nvPr>
        </p:nvSpPr>
        <p:spPr>
          <a:xfrm>
            <a:off x="6096000" y="2160700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21" name="Google Shape;621;p49"/>
          <p:cNvSpPr txBox="1"/>
          <p:nvPr>
            <p:ph idx="5" type="body"/>
          </p:nvPr>
        </p:nvSpPr>
        <p:spPr>
          <a:xfrm>
            <a:off x="6096000" y="3401175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22" name="Google Shape;622;p49"/>
          <p:cNvSpPr txBox="1"/>
          <p:nvPr>
            <p:ph idx="6" type="title"/>
          </p:nvPr>
        </p:nvSpPr>
        <p:spPr>
          <a:xfrm>
            <a:off x="1091562" y="1785250"/>
            <a:ext cx="2681700" cy="93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"/>
              <a:buNone/>
              <a:defRPr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3" name="Google Shape;623;p49"/>
          <p:cNvSpPr txBox="1"/>
          <p:nvPr>
            <p:ph idx="7" type="subTitle"/>
          </p:nvPr>
        </p:nvSpPr>
        <p:spPr>
          <a:xfrm>
            <a:off x="1091562" y="2571850"/>
            <a:ext cx="26817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 Light"/>
              <a:buNone/>
              <a:defRPr>
                <a:solidFill>
                  <a:srgbClr val="FFFFFF"/>
                </a:solidFill>
                <a:latin typeface="Public Sans Light"/>
                <a:ea typeface="Public Sans Light"/>
                <a:cs typeface="Public Sans Light"/>
                <a:sym typeface="Public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 - Side Node with Boxes 2">
  <p:cSld name="BLANK_2_1_1_2">
    <p:bg>
      <p:bgPr>
        <a:solidFill>
          <a:schemeClr val="dk2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26" name="Google Shape;626;p5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27" name="Google Shape;627;p5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28" name="Google Shape;628;p5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629" name="Google Shape;629;p50"/>
          <p:cNvSpPr/>
          <p:nvPr/>
        </p:nvSpPr>
        <p:spPr>
          <a:xfrm rot="2101277">
            <a:off x="-4473819" y="2230042"/>
            <a:ext cx="13865999" cy="5055423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19050">
            <a:solidFill>
              <a:srgbClr val="FF8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0"/>
          <p:cNvSpPr/>
          <p:nvPr/>
        </p:nvSpPr>
        <p:spPr>
          <a:xfrm>
            <a:off x="-4693915" y="974021"/>
            <a:ext cx="8709922" cy="3175575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0"/>
          <p:cNvSpPr/>
          <p:nvPr/>
        </p:nvSpPr>
        <p:spPr>
          <a:xfrm>
            <a:off x="4189275" y="2163100"/>
            <a:ext cx="4589700" cy="100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32" name="Google Shape;632;p50"/>
          <p:cNvSpPr/>
          <p:nvPr/>
        </p:nvSpPr>
        <p:spPr>
          <a:xfrm>
            <a:off x="4189275" y="3401175"/>
            <a:ext cx="4589700" cy="100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4189275" y="925025"/>
            <a:ext cx="4589700" cy="100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14063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sp>
        <p:nvSpPr>
          <p:cNvPr id="634" name="Google Shape;634;p50"/>
          <p:cNvSpPr txBox="1"/>
          <p:nvPr>
            <p:ph type="title"/>
          </p:nvPr>
        </p:nvSpPr>
        <p:spPr>
          <a:xfrm>
            <a:off x="4330617" y="1114476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5" name="Google Shape;635;p50"/>
          <p:cNvSpPr txBox="1"/>
          <p:nvPr>
            <p:ph idx="2" type="title"/>
          </p:nvPr>
        </p:nvSpPr>
        <p:spPr>
          <a:xfrm>
            <a:off x="4330617" y="2352551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6" name="Google Shape;636;p50"/>
          <p:cNvSpPr txBox="1"/>
          <p:nvPr>
            <p:ph idx="3" type="title"/>
          </p:nvPr>
        </p:nvSpPr>
        <p:spPr>
          <a:xfrm>
            <a:off x="4330617" y="3590626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7" name="Google Shape;637;p50"/>
          <p:cNvSpPr txBox="1"/>
          <p:nvPr>
            <p:ph idx="1" type="body"/>
          </p:nvPr>
        </p:nvSpPr>
        <p:spPr>
          <a:xfrm>
            <a:off x="6096000" y="920225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38" name="Google Shape;638;p50"/>
          <p:cNvSpPr txBox="1"/>
          <p:nvPr>
            <p:ph idx="4" type="body"/>
          </p:nvPr>
        </p:nvSpPr>
        <p:spPr>
          <a:xfrm>
            <a:off x="6096000" y="2160700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39" name="Google Shape;639;p50"/>
          <p:cNvSpPr txBox="1"/>
          <p:nvPr>
            <p:ph idx="5" type="body"/>
          </p:nvPr>
        </p:nvSpPr>
        <p:spPr>
          <a:xfrm>
            <a:off x="6096000" y="3401175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40" name="Google Shape;640;p50"/>
          <p:cNvSpPr txBox="1"/>
          <p:nvPr>
            <p:ph idx="6" type="title"/>
          </p:nvPr>
        </p:nvSpPr>
        <p:spPr>
          <a:xfrm>
            <a:off x="1091562" y="1785250"/>
            <a:ext cx="2681700" cy="93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"/>
              <a:buNone/>
              <a:defRPr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1" name="Google Shape;641;p50"/>
          <p:cNvSpPr txBox="1"/>
          <p:nvPr>
            <p:ph idx="7" type="subTitle"/>
          </p:nvPr>
        </p:nvSpPr>
        <p:spPr>
          <a:xfrm>
            <a:off x="1091562" y="2571850"/>
            <a:ext cx="26817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 Light"/>
              <a:buNone/>
              <a:defRPr>
                <a:solidFill>
                  <a:srgbClr val="FFFFFF"/>
                </a:solidFill>
                <a:latin typeface="Public Sans Light"/>
                <a:ea typeface="Public Sans Light"/>
                <a:cs typeface="Public Sans Light"/>
                <a:sym typeface="Public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Side Node with Boxes 3">
  <p:cSld name="BLANK_2_1_1_1_1">
    <p:bg>
      <p:bgPr>
        <a:solidFill>
          <a:schemeClr val="accent3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1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4" name="Google Shape;644;p51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45" name="Google Shape;645;p51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46" name="Google Shape;646;p51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647" name="Google Shape;647;p51"/>
          <p:cNvSpPr/>
          <p:nvPr/>
        </p:nvSpPr>
        <p:spPr>
          <a:xfrm rot="2101277">
            <a:off x="-4473819" y="2230042"/>
            <a:ext cx="13865999" cy="5055423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1"/>
          <p:cNvSpPr/>
          <p:nvPr/>
        </p:nvSpPr>
        <p:spPr>
          <a:xfrm>
            <a:off x="-4693915" y="974021"/>
            <a:ext cx="8709922" cy="3175575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1"/>
          <p:cNvSpPr/>
          <p:nvPr/>
        </p:nvSpPr>
        <p:spPr>
          <a:xfrm>
            <a:off x="4189275" y="2163100"/>
            <a:ext cx="4589700" cy="1001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50" name="Google Shape;650;p51"/>
          <p:cNvSpPr/>
          <p:nvPr/>
        </p:nvSpPr>
        <p:spPr>
          <a:xfrm>
            <a:off x="4189275" y="3401175"/>
            <a:ext cx="4589700" cy="1001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51" name="Google Shape;651;p51"/>
          <p:cNvSpPr/>
          <p:nvPr/>
        </p:nvSpPr>
        <p:spPr>
          <a:xfrm>
            <a:off x="4189275" y="925025"/>
            <a:ext cx="4589700" cy="1001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14063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sp>
        <p:nvSpPr>
          <p:cNvPr id="652" name="Google Shape;652;p51"/>
          <p:cNvSpPr txBox="1"/>
          <p:nvPr>
            <p:ph type="title"/>
          </p:nvPr>
        </p:nvSpPr>
        <p:spPr>
          <a:xfrm>
            <a:off x="4330617" y="1114476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53" name="Google Shape;653;p51"/>
          <p:cNvSpPr txBox="1"/>
          <p:nvPr>
            <p:ph idx="2" type="title"/>
          </p:nvPr>
        </p:nvSpPr>
        <p:spPr>
          <a:xfrm>
            <a:off x="4330617" y="2352551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54" name="Google Shape;654;p51"/>
          <p:cNvSpPr txBox="1"/>
          <p:nvPr>
            <p:ph idx="3" type="title"/>
          </p:nvPr>
        </p:nvSpPr>
        <p:spPr>
          <a:xfrm>
            <a:off x="4330617" y="3590626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ublic Sans"/>
              <a:buNone/>
              <a:defRPr b="0" sz="4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55" name="Google Shape;655;p51"/>
          <p:cNvSpPr txBox="1"/>
          <p:nvPr>
            <p:ph idx="1" type="body"/>
          </p:nvPr>
        </p:nvSpPr>
        <p:spPr>
          <a:xfrm>
            <a:off x="6096000" y="920225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56" name="Google Shape;656;p51"/>
          <p:cNvSpPr txBox="1"/>
          <p:nvPr>
            <p:ph idx="4" type="body"/>
          </p:nvPr>
        </p:nvSpPr>
        <p:spPr>
          <a:xfrm>
            <a:off x="6096000" y="2160700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57" name="Google Shape;657;p51"/>
          <p:cNvSpPr txBox="1"/>
          <p:nvPr>
            <p:ph idx="5" type="body"/>
          </p:nvPr>
        </p:nvSpPr>
        <p:spPr>
          <a:xfrm>
            <a:off x="6096000" y="3401175"/>
            <a:ext cx="2571900" cy="100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  <p:sp>
        <p:nvSpPr>
          <p:cNvPr id="658" name="Google Shape;658;p51"/>
          <p:cNvSpPr txBox="1"/>
          <p:nvPr>
            <p:ph idx="6" type="title"/>
          </p:nvPr>
        </p:nvSpPr>
        <p:spPr>
          <a:xfrm>
            <a:off x="1091562" y="1785250"/>
            <a:ext cx="2681700" cy="93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ublic Sans"/>
              <a:buNone/>
              <a:defRPr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9" name="Google Shape;659;p51"/>
          <p:cNvSpPr txBox="1"/>
          <p:nvPr>
            <p:ph idx="7" type="subTitle"/>
          </p:nvPr>
        </p:nvSpPr>
        <p:spPr>
          <a:xfrm>
            <a:off x="1091562" y="2571850"/>
            <a:ext cx="2681700" cy="81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 Light"/>
              <a:buNone/>
              <a:defRPr>
                <a:solidFill>
                  <a:srgbClr val="FFFFFF"/>
                </a:solidFill>
                <a:latin typeface="Public Sans Light"/>
                <a:ea typeface="Public Sans Light"/>
                <a:cs typeface="Public Sans Light"/>
                <a:sym typeface="Public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Nodes with Round Top 1">
  <p:cSld name="CUSTOM_6_2_1">
    <p:bg>
      <p:bgPr>
        <a:solidFill>
          <a:schemeClr val="lt2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2"/>
          <p:cNvSpPr/>
          <p:nvPr/>
        </p:nvSpPr>
        <p:spPr>
          <a:xfrm>
            <a:off x="-3218475" y="-13310575"/>
            <a:ext cx="15581100" cy="15581100"/>
          </a:xfrm>
          <a:prstGeom prst="chord">
            <a:avLst>
              <a:gd fmla="val 2202992" name="adj1"/>
              <a:gd fmla="val 8646146" name="adj2"/>
            </a:avLst>
          </a:prstGeom>
          <a:solidFill>
            <a:srgbClr val="F2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  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62" name="Google Shape;662;p52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3" name="Google Shape;663;p52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64" name="Google Shape;664;p52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65" name="Google Shape;665;p52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66" name="Google Shape;666;p52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667" name="Google Shape;667;p52"/>
          <p:cNvSpPr/>
          <p:nvPr/>
        </p:nvSpPr>
        <p:spPr>
          <a:xfrm>
            <a:off x="1121437" y="1295738"/>
            <a:ext cx="6901134" cy="1540829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rgbClr val="4C99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2"/>
          <p:cNvSpPr txBox="1"/>
          <p:nvPr>
            <p:ph idx="2" type="title"/>
          </p:nvPr>
        </p:nvSpPr>
        <p:spPr>
          <a:xfrm>
            <a:off x="1121417" y="1755063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ublic Sans"/>
              <a:buNone/>
              <a:defRPr b="0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69" name="Google Shape;669;p52"/>
          <p:cNvSpPr txBox="1"/>
          <p:nvPr>
            <p:ph idx="3" type="title"/>
          </p:nvPr>
        </p:nvSpPr>
        <p:spPr>
          <a:xfrm>
            <a:off x="3794692" y="1755063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ublic Sans"/>
              <a:buNone/>
              <a:defRPr b="0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70" name="Google Shape;670;p52"/>
          <p:cNvSpPr txBox="1"/>
          <p:nvPr>
            <p:ph idx="4" type="title"/>
          </p:nvPr>
        </p:nvSpPr>
        <p:spPr>
          <a:xfrm>
            <a:off x="6427146" y="1755063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ublic Sans"/>
              <a:buNone/>
              <a:defRPr b="0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1124712" y="2944368"/>
            <a:ext cx="1508700" cy="16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2" name="Google Shape;672;p52"/>
          <p:cNvSpPr txBox="1"/>
          <p:nvPr>
            <p:ph idx="5" type="body"/>
          </p:nvPr>
        </p:nvSpPr>
        <p:spPr>
          <a:xfrm>
            <a:off x="3817737" y="2944368"/>
            <a:ext cx="1508700" cy="16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3" name="Google Shape;673;p52"/>
          <p:cNvSpPr txBox="1"/>
          <p:nvPr>
            <p:ph idx="6" type="body"/>
          </p:nvPr>
        </p:nvSpPr>
        <p:spPr>
          <a:xfrm>
            <a:off x="6510762" y="2944368"/>
            <a:ext cx="1508700" cy="16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 - Nodes with Round Top 2">
  <p:cSld name="CUSTOM_6_1_1_1">
    <p:bg>
      <p:bgPr>
        <a:solidFill>
          <a:schemeClr val="accent4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3"/>
          <p:cNvSpPr/>
          <p:nvPr/>
        </p:nvSpPr>
        <p:spPr>
          <a:xfrm>
            <a:off x="-3218475" y="-13310575"/>
            <a:ext cx="15581100" cy="15581100"/>
          </a:xfrm>
          <a:prstGeom prst="chord">
            <a:avLst>
              <a:gd fmla="val 2202992" name="adj1"/>
              <a:gd fmla="val 8646146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  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76" name="Google Shape;676;p53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7" name="Google Shape;677;p5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78" name="Google Shape;678;p53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679" name="Google Shape;679;p53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681" name="Google Shape;681;p53"/>
          <p:cNvSpPr/>
          <p:nvPr/>
        </p:nvSpPr>
        <p:spPr>
          <a:xfrm>
            <a:off x="1121437" y="1295738"/>
            <a:ext cx="6901134" cy="1540829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3"/>
          <p:cNvSpPr txBox="1"/>
          <p:nvPr>
            <p:ph idx="2" type="title"/>
          </p:nvPr>
        </p:nvSpPr>
        <p:spPr>
          <a:xfrm>
            <a:off x="1121417" y="1755063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ublic Sans"/>
              <a:buNone/>
              <a:defRPr b="0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83" name="Google Shape;683;p53"/>
          <p:cNvSpPr txBox="1"/>
          <p:nvPr>
            <p:ph idx="3" type="title"/>
          </p:nvPr>
        </p:nvSpPr>
        <p:spPr>
          <a:xfrm>
            <a:off x="3794692" y="1755063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ublic Sans"/>
              <a:buNone/>
              <a:defRPr b="0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84" name="Google Shape;684;p53"/>
          <p:cNvSpPr txBox="1"/>
          <p:nvPr>
            <p:ph idx="4" type="title"/>
          </p:nvPr>
        </p:nvSpPr>
        <p:spPr>
          <a:xfrm>
            <a:off x="6427146" y="1755063"/>
            <a:ext cx="1554600" cy="62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ublic Sans"/>
              <a:buNone/>
              <a:defRPr b="0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4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85" name="Google Shape;685;p53"/>
          <p:cNvSpPr txBox="1"/>
          <p:nvPr>
            <p:ph idx="1" type="body"/>
          </p:nvPr>
        </p:nvSpPr>
        <p:spPr>
          <a:xfrm>
            <a:off x="1124712" y="2944368"/>
            <a:ext cx="1508700" cy="16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86" name="Google Shape;686;p53"/>
          <p:cNvSpPr txBox="1"/>
          <p:nvPr>
            <p:ph idx="5" type="body"/>
          </p:nvPr>
        </p:nvSpPr>
        <p:spPr>
          <a:xfrm>
            <a:off x="3817737" y="2944368"/>
            <a:ext cx="1508700" cy="16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87" name="Google Shape;687;p53"/>
          <p:cNvSpPr txBox="1"/>
          <p:nvPr>
            <p:ph idx="6" type="body"/>
          </p:nvPr>
        </p:nvSpPr>
        <p:spPr>
          <a:xfrm>
            <a:off x="6510762" y="2944368"/>
            <a:ext cx="1508700" cy="16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﹣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 - Closing Slide 1">
  <p:cSld name="CUSTOM_1_1_3_1">
    <p:bg>
      <p:bgPr>
        <a:solidFill>
          <a:schemeClr val="accent1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4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0" name="Google Shape;690;p54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691" name="Google Shape;691;p54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692" name="Google Shape;692;p54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693" name="Google Shape;693;p54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694" name="Google Shape;694;p54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4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 - Closing Slide 2">
  <p:cSld name="CUSTOM_1_1_2_2_1">
    <p:bg>
      <p:bgPr>
        <a:solidFill>
          <a:srgbClr val="214931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5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699" name="Google Shape;699;p55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700" name="Google Shape;700;p55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01" name="Google Shape;701;p55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702" name="Google Shape;702;p55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5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rgbClr val="FFC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 - Closing Slide 3">
  <p:cSld name="CUSTOM_1_1_2_1_1_1">
    <p:bg>
      <p:bgPr>
        <a:solidFill>
          <a:schemeClr val="accen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6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707" name="Google Shape;707;p56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708" name="Google Shape;708;p56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09" name="Google Shape;709;p56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710" name="Google Shape;710;p56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 - Blank Title or Closing Slide">
  <p:cSld name="CUSTOM_1_2">
    <p:bg>
      <p:bgPr>
        <a:solidFill>
          <a:schemeClr val="accent1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7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715" name="Google Shape;715;p57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716" name="Google Shape;716;p57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17" name="Google Shape;717;p57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one col dark deco">
  <p:cSld name="TITLE_AND_BODY_1_2_1">
    <p:bg>
      <p:bgPr>
        <a:solidFill>
          <a:schemeClr val="accent2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8"/>
          <p:cNvSpPr/>
          <p:nvPr/>
        </p:nvSpPr>
        <p:spPr>
          <a:xfrm rot="1793545">
            <a:off x="4426826" y="-1288239"/>
            <a:ext cx="7544827" cy="2750782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8"/>
          <p:cNvSpPr/>
          <p:nvPr/>
        </p:nvSpPr>
        <p:spPr>
          <a:xfrm>
            <a:off x="8367100" y="-47700"/>
            <a:ext cx="1116000" cy="269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8"/>
          <p:cNvSpPr/>
          <p:nvPr/>
        </p:nvSpPr>
        <p:spPr>
          <a:xfrm rot="1793710">
            <a:off x="-4105352" y="3244234"/>
            <a:ext cx="7544837" cy="2750778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8"/>
          <p:cNvSpPr txBox="1"/>
          <p:nvPr>
            <p:ph type="title"/>
          </p:nvPr>
        </p:nvSpPr>
        <p:spPr>
          <a:xfrm>
            <a:off x="365750" y="274325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 SemiBold"/>
              <a:buNone/>
              <a:defRPr b="0">
                <a:solidFill>
                  <a:srgbClr val="FFFFFF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3" name="Google Shape;723;p58"/>
          <p:cNvSpPr txBox="1"/>
          <p:nvPr>
            <p:ph idx="1" type="body"/>
          </p:nvPr>
        </p:nvSpPr>
        <p:spPr>
          <a:xfrm>
            <a:off x="365750" y="1188725"/>
            <a:ext cx="80466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>
                <a:solidFill>
                  <a:srgbClr val="FFFFFF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4" name="Google Shape;724;p58"/>
          <p:cNvSpPr txBox="1"/>
          <p:nvPr>
            <p:ph idx="12" type="sldNum"/>
          </p:nvPr>
        </p:nvSpPr>
        <p:spPr>
          <a:xfrm>
            <a:off x="360650" y="4880150"/>
            <a:ext cx="3667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Neo4j Inc. All rights reserved 2023	</a:t>
            </a:r>
            <a:endParaRPr/>
          </a:p>
        </p:txBody>
      </p:sp>
      <p:sp>
        <p:nvSpPr>
          <p:cNvPr id="725" name="Google Shape;725;p58"/>
          <p:cNvSpPr txBox="1"/>
          <p:nvPr>
            <p:ph idx="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49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_1_3">
    <p:bg>
      <p:bgPr>
        <a:solidFill>
          <a:schemeClr val="accent1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9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8" name="Google Shape;728;p59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729" name="Google Shape;729;p59"/>
          <p:cNvGrpSpPr/>
          <p:nvPr/>
        </p:nvGrpSpPr>
        <p:grpSpPr>
          <a:xfrm>
            <a:off x="914393" y="606369"/>
            <a:ext cx="914107" cy="308023"/>
            <a:chOff x="378568" y="306394"/>
            <a:chExt cx="914107" cy="308023"/>
          </a:xfrm>
        </p:grpSpPr>
        <p:sp>
          <p:nvSpPr>
            <p:cNvPr id="730" name="Google Shape;730;p59"/>
            <p:cNvSpPr/>
            <p:nvPr/>
          </p:nvSpPr>
          <p:spPr>
            <a:xfrm>
              <a:off x="378568" y="306394"/>
              <a:ext cx="914107" cy="308023"/>
            </a:xfrm>
            <a:custGeom>
              <a:rect b="b" l="l" r="r" t="t"/>
              <a:pathLst>
                <a:path extrusionOk="0" h="93624" w="284547">
                  <a:moveTo>
                    <a:pt x="275962" y="0"/>
                  </a:moveTo>
                  <a:cubicBezTo>
                    <a:pt x="274498" y="0"/>
                    <a:pt x="273035" y="390"/>
                    <a:pt x="271669" y="1171"/>
                  </a:cubicBezTo>
                  <a:cubicBezTo>
                    <a:pt x="270401" y="1886"/>
                    <a:pt x="269295" y="2959"/>
                    <a:pt x="268515" y="4293"/>
                  </a:cubicBezTo>
                  <a:cubicBezTo>
                    <a:pt x="267799" y="5561"/>
                    <a:pt x="267376" y="7024"/>
                    <a:pt x="267376" y="8585"/>
                  </a:cubicBezTo>
                  <a:cubicBezTo>
                    <a:pt x="267376" y="10049"/>
                    <a:pt x="267734" y="11544"/>
                    <a:pt x="268515" y="12878"/>
                  </a:cubicBezTo>
                  <a:cubicBezTo>
                    <a:pt x="269263" y="14146"/>
                    <a:pt x="270303" y="15252"/>
                    <a:pt x="271669" y="16032"/>
                  </a:cubicBezTo>
                  <a:cubicBezTo>
                    <a:pt x="272937" y="16780"/>
                    <a:pt x="274401" y="17170"/>
                    <a:pt x="275962" y="17170"/>
                  </a:cubicBezTo>
                  <a:cubicBezTo>
                    <a:pt x="277425" y="17170"/>
                    <a:pt x="278888" y="16813"/>
                    <a:pt x="280254" y="16032"/>
                  </a:cubicBezTo>
                  <a:cubicBezTo>
                    <a:pt x="281522" y="15317"/>
                    <a:pt x="282628" y="14244"/>
                    <a:pt x="283409" y="12878"/>
                  </a:cubicBezTo>
                  <a:cubicBezTo>
                    <a:pt x="284124" y="11642"/>
                    <a:pt x="284547" y="10179"/>
                    <a:pt x="284547" y="8585"/>
                  </a:cubicBezTo>
                  <a:cubicBezTo>
                    <a:pt x="284547" y="7154"/>
                    <a:pt x="284189" y="5658"/>
                    <a:pt x="283409" y="4293"/>
                  </a:cubicBezTo>
                  <a:cubicBezTo>
                    <a:pt x="282661" y="3024"/>
                    <a:pt x="281620" y="1951"/>
                    <a:pt x="280254" y="1171"/>
                  </a:cubicBezTo>
                  <a:cubicBezTo>
                    <a:pt x="278986" y="423"/>
                    <a:pt x="277523" y="0"/>
                    <a:pt x="275962" y="0"/>
                  </a:cubicBezTo>
                  <a:close/>
                  <a:moveTo>
                    <a:pt x="8585" y="46731"/>
                  </a:moveTo>
                  <a:cubicBezTo>
                    <a:pt x="7122" y="46731"/>
                    <a:pt x="5658" y="47088"/>
                    <a:pt x="4293" y="47869"/>
                  </a:cubicBezTo>
                  <a:cubicBezTo>
                    <a:pt x="3024" y="48584"/>
                    <a:pt x="1919" y="49657"/>
                    <a:pt x="1138" y="51023"/>
                  </a:cubicBezTo>
                  <a:cubicBezTo>
                    <a:pt x="423" y="52291"/>
                    <a:pt x="0" y="53755"/>
                    <a:pt x="0" y="55316"/>
                  </a:cubicBezTo>
                  <a:cubicBezTo>
                    <a:pt x="0" y="56779"/>
                    <a:pt x="358" y="58242"/>
                    <a:pt x="1138" y="59608"/>
                  </a:cubicBezTo>
                  <a:cubicBezTo>
                    <a:pt x="1886" y="60877"/>
                    <a:pt x="2927" y="61950"/>
                    <a:pt x="4293" y="62730"/>
                  </a:cubicBezTo>
                  <a:cubicBezTo>
                    <a:pt x="5561" y="63478"/>
                    <a:pt x="7024" y="63901"/>
                    <a:pt x="8585" y="63901"/>
                  </a:cubicBezTo>
                  <a:cubicBezTo>
                    <a:pt x="9528" y="63901"/>
                    <a:pt x="10471" y="63738"/>
                    <a:pt x="11349" y="63446"/>
                  </a:cubicBezTo>
                  <a:cubicBezTo>
                    <a:pt x="13037" y="62876"/>
                    <a:pt x="14625" y="62598"/>
                    <a:pt x="16090" y="62598"/>
                  </a:cubicBezTo>
                  <a:cubicBezTo>
                    <a:pt x="18971" y="62598"/>
                    <a:pt x="21375" y="63674"/>
                    <a:pt x="23121" y="65722"/>
                  </a:cubicBezTo>
                  <a:cubicBezTo>
                    <a:pt x="25365" y="68291"/>
                    <a:pt x="25365" y="72031"/>
                    <a:pt x="23154" y="74632"/>
                  </a:cubicBezTo>
                  <a:cubicBezTo>
                    <a:pt x="21372" y="76675"/>
                    <a:pt x="18952" y="77759"/>
                    <a:pt x="16057" y="77759"/>
                  </a:cubicBezTo>
                  <a:cubicBezTo>
                    <a:pt x="14620" y="77759"/>
                    <a:pt x="13065" y="77492"/>
                    <a:pt x="11414" y="76941"/>
                  </a:cubicBezTo>
                  <a:cubicBezTo>
                    <a:pt x="10536" y="76616"/>
                    <a:pt x="9561" y="76453"/>
                    <a:pt x="8585" y="76453"/>
                  </a:cubicBezTo>
                  <a:cubicBezTo>
                    <a:pt x="7122" y="76453"/>
                    <a:pt x="5658" y="76844"/>
                    <a:pt x="4293" y="77624"/>
                  </a:cubicBezTo>
                  <a:cubicBezTo>
                    <a:pt x="3024" y="78339"/>
                    <a:pt x="1919" y="79413"/>
                    <a:pt x="1138" y="80746"/>
                  </a:cubicBezTo>
                  <a:cubicBezTo>
                    <a:pt x="423" y="82014"/>
                    <a:pt x="0" y="83478"/>
                    <a:pt x="0" y="85038"/>
                  </a:cubicBezTo>
                  <a:cubicBezTo>
                    <a:pt x="0" y="86502"/>
                    <a:pt x="358" y="87998"/>
                    <a:pt x="1138" y="89331"/>
                  </a:cubicBezTo>
                  <a:cubicBezTo>
                    <a:pt x="1886" y="90599"/>
                    <a:pt x="2927" y="91705"/>
                    <a:pt x="4293" y="92485"/>
                  </a:cubicBezTo>
                  <a:cubicBezTo>
                    <a:pt x="5561" y="93201"/>
                    <a:pt x="7024" y="93624"/>
                    <a:pt x="8585" y="93624"/>
                  </a:cubicBezTo>
                  <a:cubicBezTo>
                    <a:pt x="10049" y="93624"/>
                    <a:pt x="11512" y="93266"/>
                    <a:pt x="12878" y="92485"/>
                  </a:cubicBezTo>
                  <a:cubicBezTo>
                    <a:pt x="14146" y="91770"/>
                    <a:pt x="15252" y="90697"/>
                    <a:pt x="16032" y="89331"/>
                  </a:cubicBezTo>
                  <a:cubicBezTo>
                    <a:pt x="16487" y="88551"/>
                    <a:pt x="16813" y="87640"/>
                    <a:pt x="17008" y="86697"/>
                  </a:cubicBezTo>
                  <a:cubicBezTo>
                    <a:pt x="18217" y="80726"/>
                    <a:pt x="21828" y="77468"/>
                    <a:pt x="26871" y="77468"/>
                  </a:cubicBezTo>
                  <a:cubicBezTo>
                    <a:pt x="28337" y="77468"/>
                    <a:pt x="29925" y="77743"/>
                    <a:pt x="31609" y="78307"/>
                  </a:cubicBezTo>
                  <a:cubicBezTo>
                    <a:pt x="32455" y="78600"/>
                    <a:pt x="33398" y="78762"/>
                    <a:pt x="34341" y="78762"/>
                  </a:cubicBezTo>
                  <a:cubicBezTo>
                    <a:pt x="35804" y="78762"/>
                    <a:pt x="37267" y="78372"/>
                    <a:pt x="38633" y="77592"/>
                  </a:cubicBezTo>
                  <a:cubicBezTo>
                    <a:pt x="39902" y="76876"/>
                    <a:pt x="41007" y="75835"/>
                    <a:pt x="41788" y="74470"/>
                  </a:cubicBezTo>
                  <a:cubicBezTo>
                    <a:pt x="42503" y="73201"/>
                    <a:pt x="42926" y="71738"/>
                    <a:pt x="42926" y="70177"/>
                  </a:cubicBezTo>
                  <a:cubicBezTo>
                    <a:pt x="42926" y="68714"/>
                    <a:pt x="42568" y="67250"/>
                    <a:pt x="41788" y="65885"/>
                  </a:cubicBezTo>
                  <a:cubicBezTo>
                    <a:pt x="41040" y="64616"/>
                    <a:pt x="39999" y="63511"/>
                    <a:pt x="38633" y="62730"/>
                  </a:cubicBezTo>
                  <a:cubicBezTo>
                    <a:pt x="37365" y="62015"/>
                    <a:pt x="35902" y="61592"/>
                    <a:pt x="34341" y="61592"/>
                  </a:cubicBezTo>
                  <a:cubicBezTo>
                    <a:pt x="33430" y="61592"/>
                    <a:pt x="32487" y="61722"/>
                    <a:pt x="31577" y="62047"/>
                  </a:cubicBezTo>
                  <a:cubicBezTo>
                    <a:pt x="29899" y="62611"/>
                    <a:pt x="28320" y="62886"/>
                    <a:pt x="26860" y="62886"/>
                  </a:cubicBezTo>
                  <a:cubicBezTo>
                    <a:pt x="21839" y="62886"/>
                    <a:pt x="18242" y="59629"/>
                    <a:pt x="17008" y="53657"/>
                  </a:cubicBezTo>
                  <a:cubicBezTo>
                    <a:pt x="16845" y="52747"/>
                    <a:pt x="16520" y="51869"/>
                    <a:pt x="16032" y="51023"/>
                  </a:cubicBezTo>
                  <a:cubicBezTo>
                    <a:pt x="15284" y="49755"/>
                    <a:pt x="14244" y="48649"/>
                    <a:pt x="12878" y="47869"/>
                  </a:cubicBezTo>
                  <a:cubicBezTo>
                    <a:pt x="11610" y="47153"/>
                    <a:pt x="10146" y="46731"/>
                    <a:pt x="8585" y="467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31" name="Google Shape;731;p59"/>
            <p:cNvSpPr/>
            <p:nvPr/>
          </p:nvSpPr>
          <p:spPr>
            <a:xfrm>
              <a:off x="473006" y="347013"/>
              <a:ext cx="808178" cy="263338"/>
            </a:xfrm>
            <a:custGeom>
              <a:rect b="b" l="l" r="r" t="t"/>
              <a:pathLst>
                <a:path extrusionOk="0" h="80042" w="251573">
                  <a:moveTo>
                    <a:pt x="85007" y="16531"/>
                  </a:moveTo>
                  <a:cubicBezTo>
                    <a:pt x="93430" y="16531"/>
                    <a:pt x="100291" y="21052"/>
                    <a:pt x="102275" y="29507"/>
                  </a:cubicBezTo>
                  <a:lnTo>
                    <a:pt x="67837" y="29507"/>
                  </a:lnTo>
                  <a:cubicBezTo>
                    <a:pt x="69853" y="21182"/>
                    <a:pt x="76584" y="16531"/>
                    <a:pt x="85007" y="16531"/>
                  </a:cubicBezTo>
                  <a:close/>
                  <a:moveTo>
                    <a:pt x="213850" y="9800"/>
                  </a:moveTo>
                  <a:cubicBezTo>
                    <a:pt x="214273" y="9800"/>
                    <a:pt x="214598" y="9800"/>
                    <a:pt x="214793" y="9897"/>
                  </a:cubicBezTo>
                  <a:cubicBezTo>
                    <a:pt x="215346" y="9995"/>
                    <a:pt x="216581" y="10645"/>
                    <a:pt x="216581" y="12336"/>
                  </a:cubicBezTo>
                  <a:lnTo>
                    <a:pt x="216581" y="44661"/>
                  </a:lnTo>
                  <a:lnTo>
                    <a:pt x="191509" y="44661"/>
                  </a:lnTo>
                  <a:cubicBezTo>
                    <a:pt x="190143" y="44661"/>
                    <a:pt x="189005" y="43490"/>
                    <a:pt x="189005" y="42124"/>
                  </a:cubicBezTo>
                  <a:cubicBezTo>
                    <a:pt x="189005" y="41604"/>
                    <a:pt x="189102" y="41084"/>
                    <a:pt x="189428" y="40661"/>
                  </a:cubicBezTo>
                  <a:lnTo>
                    <a:pt x="211866" y="10840"/>
                  </a:lnTo>
                  <a:cubicBezTo>
                    <a:pt x="212484" y="9995"/>
                    <a:pt x="213232" y="9800"/>
                    <a:pt x="213850" y="9800"/>
                  </a:cubicBezTo>
                  <a:close/>
                  <a:moveTo>
                    <a:pt x="146339" y="16531"/>
                  </a:moveTo>
                  <a:cubicBezTo>
                    <a:pt x="157071" y="16531"/>
                    <a:pt x="164225" y="24108"/>
                    <a:pt x="164225" y="34742"/>
                  </a:cubicBezTo>
                  <a:cubicBezTo>
                    <a:pt x="164225" y="45409"/>
                    <a:pt x="156973" y="52986"/>
                    <a:pt x="146339" y="52986"/>
                  </a:cubicBezTo>
                  <a:cubicBezTo>
                    <a:pt x="135575" y="52986"/>
                    <a:pt x="128421" y="45409"/>
                    <a:pt x="128421" y="34742"/>
                  </a:cubicBezTo>
                  <a:cubicBezTo>
                    <a:pt x="128421" y="24108"/>
                    <a:pt x="135575" y="16531"/>
                    <a:pt x="146339" y="16531"/>
                  </a:cubicBezTo>
                  <a:close/>
                  <a:moveTo>
                    <a:pt x="25691" y="7263"/>
                  </a:moveTo>
                  <a:cubicBezTo>
                    <a:pt x="10309" y="7263"/>
                    <a:pt x="1" y="16304"/>
                    <a:pt x="1" y="33799"/>
                  </a:cubicBezTo>
                  <a:lnTo>
                    <a:pt x="1" y="45929"/>
                  </a:lnTo>
                  <a:cubicBezTo>
                    <a:pt x="1594" y="45279"/>
                    <a:pt x="3285" y="44953"/>
                    <a:pt x="4944" y="44953"/>
                  </a:cubicBezTo>
                  <a:cubicBezTo>
                    <a:pt x="6732" y="44953"/>
                    <a:pt x="8456" y="45311"/>
                    <a:pt x="10017" y="45994"/>
                  </a:cubicBezTo>
                  <a:lnTo>
                    <a:pt x="10017" y="33702"/>
                  </a:lnTo>
                  <a:cubicBezTo>
                    <a:pt x="10017" y="22320"/>
                    <a:pt x="16228" y="16531"/>
                    <a:pt x="25691" y="16531"/>
                  </a:cubicBezTo>
                  <a:cubicBezTo>
                    <a:pt x="35187" y="16531"/>
                    <a:pt x="41398" y="22320"/>
                    <a:pt x="41398" y="33702"/>
                  </a:cubicBezTo>
                  <a:lnTo>
                    <a:pt x="41398" y="60985"/>
                  </a:lnTo>
                  <a:lnTo>
                    <a:pt x="51414" y="60985"/>
                  </a:lnTo>
                  <a:lnTo>
                    <a:pt x="51414" y="33702"/>
                  </a:lnTo>
                  <a:cubicBezTo>
                    <a:pt x="51512" y="16109"/>
                    <a:pt x="41073" y="7263"/>
                    <a:pt x="25691" y="7263"/>
                  </a:cubicBezTo>
                  <a:close/>
                  <a:moveTo>
                    <a:pt x="84910" y="7166"/>
                  </a:moveTo>
                  <a:cubicBezTo>
                    <a:pt x="68487" y="7166"/>
                    <a:pt x="56878" y="18840"/>
                    <a:pt x="56878" y="34742"/>
                  </a:cubicBezTo>
                  <a:cubicBezTo>
                    <a:pt x="56878" y="50677"/>
                    <a:pt x="68585" y="62351"/>
                    <a:pt x="85007" y="62351"/>
                  </a:cubicBezTo>
                  <a:cubicBezTo>
                    <a:pt x="97137" y="62351"/>
                    <a:pt x="106600" y="56140"/>
                    <a:pt x="110600" y="46352"/>
                  </a:cubicBezTo>
                  <a:lnTo>
                    <a:pt x="99543" y="46352"/>
                  </a:lnTo>
                  <a:cubicBezTo>
                    <a:pt x="96487" y="50872"/>
                    <a:pt x="91771" y="52986"/>
                    <a:pt x="85007" y="52986"/>
                  </a:cubicBezTo>
                  <a:cubicBezTo>
                    <a:pt x="75967" y="52986"/>
                    <a:pt x="69007" y="47815"/>
                    <a:pt x="67544" y="38449"/>
                  </a:cubicBezTo>
                  <a:lnTo>
                    <a:pt x="112714" y="38449"/>
                  </a:lnTo>
                  <a:lnTo>
                    <a:pt x="112714" y="34742"/>
                  </a:lnTo>
                  <a:cubicBezTo>
                    <a:pt x="112714" y="18840"/>
                    <a:pt x="101332" y="7166"/>
                    <a:pt x="84910" y="7166"/>
                  </a:cubicBezTo>
                  <a:close/>
                  <a:moveTo>
                    <a:pt x="146209" y="7166"/>
                  </a:moveTo>
                  <a:cubicBezTo>
                    <a:pt x="129787" y="7166"/>
                    <a:pt x="118210" y="18840"/>
                    <a:pt x="118210" y="34742"/>
                  </a:cubicBezTo>
                  <a:cubicBezTo>
                    <a:pt x="118210" y="50677"/>
                    <a:pt x="129787" y="62351"/>
                    <a:pt x="146209" y="62351"/>
                  </a:cubicBezTo>
                  <a:cubicBezTo>
                    <a:pt x="162664" y="62351"/>
                    <a:pt x="174241" y="50677"/>
                    <a:pt x="174241" y="34742"/>
                  </a:cubicBezTo>
                  <a:cubicBezTo>
                    <a:pt x="174241" y="18840"/>
                    <a:pt x="162664" y="7166"/>
                    <a:pt x="146209" y="7166"/>
                  </a:cubicBezTo>
                  <a:close/>
                  <a:moveTo>
                    <a:pt x="214056" y="0"/>
                  </a:moveTo>
                  <a:cubicBezTo>
                    <a:pt x="210153" y="0"/>
                    <a:pt x="206401" y="1835"/>
                    <a:pt x="203964" y="5150"/>
                  </a:cubicBezTo>
                  <a:lnTo>
                    <a:pt x="181103" y="35165"/>
                  </a:lnTo>
                  <a:cubicBezTo>
                    <a:pt x="178338" y="38872"/>
                    <a:pt x="177818" y="43295"/>
                    <a:pt x="179704" y="47100"/>
                  </a:cubicBezTo>
                  <a:cubicBezTo>
                    <a:pt x="181720" y="51100"/>
                    <a:pt x="186143" y="53604"/>
                    <a:pt x="191216" y="53604"/>
                  </a:cubicBezTo>
                  <a:lnTo>
                    <a:pt x="216581" y="53604"/>
                  </a:lnTo>
                  <a:lnTo>
                    <a:pt x="216581" y="66059"/>
                  </a:lnTo>
                  <a:lnTo>
                    <a:pt x="226598" y="66059"/>
                  </a:lnTo>
                  <a:lnTo>
                    <a:pt x="226598" y="53734"/>
                  </a:lnTo>
                  <a:lnTo>
                    <a:pt x="234175" y="53734"/>
                  </a:lnTo>
                  <a:lnTo>
                    <a:pt x="234175" y="44758"/>
                  </a:lnTo>
                  <a:lnTo>
                    <a:pt x="226598" y="44758"/>
                  </a:lnTo>
                  <a:lnTo>
                    <a:pt x="226598" y="12629"/>
                  </a:lnTo>
                  <a:cubicBezTo>
                    <a:pt x="226598" y="7036"/>
                    <a:pt x="223248" y="2320"/>
                    <a:pt x="217980" y="629"/>
                  </a:cubicBezTo>
                  <a:cubicBezTo>
                    <a:pt x="216684" y="206"/>
                    <a:pt x="215362" y="0"/>
                    <a:pt x="214056" y="0"/>
                  </a:cubicBezTo>
                  <a:close/>
                  <a:moveTo>
                    <a:pt x="241557" y="8954"/>
                  </a:moveTo>
                  <a:lnTo>
                    <a:pt x="241557" y="61083"/>
                  </a:lnTo>
                  <a:cubicBezTo>
                    <a:pt x="241557" y="68563"/>
                    <a:pt x="239150" y="71424"/>
                    <a:pt x="232711" y="71424"/>
                  </a:cubicBezTo>
                  <a:lnTo>
                    <a:pt x="231541" y="71424"/>
                  </a:lnTo>
                  <a:lnTo>
                    <a:pt x="231541" y="80042"/>
                  </a:lnTo>
                  <a:lnTo>
                    <a:pt x="233654" y="80042"/>
                  </a:lnTo>
                  <a:cubicBezTo>
                    <a:pt x="246500" y="80042"/>
                    <a:pt x="251573" y="73408"/>
                    <a:pt x="251573" y="60465"/>
                  </a:cubicBezTo>
                  <a:lnTo>
                    <a:pt x="251573" y="895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576">
          <p15:clr>
            <a:srgbClr val="E46962"/>
          </p15:clr>
        </p15:guide>
        <p15:guide id="2" pos="230">
          <p15:clr>
            <a:srgbClr val="E46962"/>
          </p15:clr>
        </p15:guide>
        <p15:guide id="3" pos="4032">
          <p15:clr>
            <a:srgbClr val="E46962"/>
          </p15:clr>
        </p15:guide>
        <p15:guide id="4" pos="2880">
          <p15:clr>
            <a:srgbClr val="E46962"/>
          </p15:clr>
        </p15:guide>
        <p15:guide id="5" orient="horz" pos="2066">
          <p15:clr>
            <a:srgbClr val="E46962"/>
          </p15:clr>
        </p15:guide>
        <p15:guide id="6" pos="5184">
          <p15:clr>
            <a:srgbClr val="E46962"/>
          </p15:clr>
        </p15:guide>
        <p15:guide id="7" orient="horz" pos="2592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headline only">
  <p:cSld name="CUSTOM_4_4">
    <p:bg>
      <p:bgPr>
        <a:solidFill>
          <a:schemeClr val="accent2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0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4" name="Google Shape;734;p6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35" name="Google Shape;735;p6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736" name="Google Shape;736;p6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737" name="Google Shape;737;p6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4 columns">
  <p:cSld name="CUSTOM_2_1_1">
    <p:bg>
      <p:bgPr>
        <a:solidFill>
          <a:srgbClr val="FFFFF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1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0" name="Google Shape;740;p61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61"/>
          <p:cNvSpPr txBox="1"/>
          <p:nvPr>
            <p:ph idx="1" type="body"/>
          </p:nvPr>
        </p:nvSpPr>
        <p:spPr>
          <a:xfrm>
            <a:off x="36575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42" name="Google Shape;742;p61"/>
          <p:cNvSpPr txBox="1"/>
          <p:nvPr>
            <p:ph idx="2" type="body"/>
          </p:nvPr>
        </p:nvSpPr>
        <p:spPr>
          <a:xfrm>
            <a:off x="473190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43" name="Google Shape;743;p61"/>
          <p:cNvSpPr txBox="1"/>
          <p:nvPr>
            <p:ph idx="3" type="body"/>
          </p:nvPr>
        </p:nvSpPr>
        <p:spPr>
          <a:xfrm>
            <a:off x="254885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44" name="Google Shape;744;p61"/>
          <p:cNvSpPr txBox="1"/>
          <p:nvPr>
            <p:ph idx="4" type="body"/>
          </p:nvPr>
        </p:nvSpPr>
        <p:spPr>
          <a:xfrm>
            <a:off x="6915000" y="960120"/>
            <a:ext cx="15888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745" name="Google Shape;745;p61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746" name="Google Shape;746;p61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747" name="Google Shape;747;p61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231">
          <p15:clr>
            <a:srgbClr val="E46962"/>
          </p15:clr>
        </p15:guide>
        <p15:guide id="4" pos="1606">
          <p15:clr>
            <a:srgbClr val="E46962"/>
          </p15:clr>
        </p15:guide>
        <p15:guide id="5" pos="3982">
          <p15:clr>
            <a:srgbClr val="E46962"/>
          </p15:clr>
        </p15:guide>
        <p15:guide id="6" pos="4356">
          <p15:clr>
            <a:srgbClr val="E46962"/>
          </p15:clr>
        </p15:guide>
        <p15:guide id="7" pos="2606">
          <p15:clr>
            <a:srgbClr val="E46962"/>
          </p15:clr>
        </p15:guide>
        <p15:guide id="8" pos="2981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3 columns w eyebrow and headline">
  <p:cSld name="CUSTOM_2_1_3_1">
    <p:bg>
      <p:bgPr>
        <a:solidFill>
          <a:schemeClr val="lt2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2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2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62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2" name="Google Shape;752;p62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53" name="Google Shape;753;p62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54" name="Google Shape;754;p62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755" name="Google Shape;755;p62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756" name="Google Shape;756;p62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757" name="Google Shape;757;p62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758" name="Google Shape;758;p62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  <p:sp>
        <p:nvSpPr>
          <p:cNvPr id="759" name="Google Shape;759;p62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  <p:sp>
        <p:nvSpPr>
          <p:cNvPr id="760" name="Google Shape;760;p62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613">
          <p15:clr>
            <a:srgbClr val="E46962"/>
          </p15:clr>
        </p15:guide>
        <p15:guide id="4" pos="2102">
          <p15:clr>
            <a:srgbClr val="E46962"/>
          </p15:clr>
        </p15:guide>
        <p15:guide id="5" pos="3485">
          <p15:clr>
            <a:srgbClr val="E46962"/>
          </p15:clr>
        </p15:guide>
        <p15:guide id="6" pos="3974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1 column w eyebrow and headlines">
  <p:cSld name="CUSTOM_3_2_1">
    <p:bg>
      <p:bgPr>
        <a:solidFill>
          <a:schemeClr val="lt2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3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3" name="Google Shape;763;p63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6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5" name="Google Shape;765;p63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766" name="Google Shape;766;p63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767" name="Google Shape;767;p63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768" name="Google Shape;768;p63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769" name="Google Shape;769;p63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 b="1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2 columns w eyebrow and headline">
  <p:cSld name="CUSTOM_2_2_2_1">
    <p:bg>
      <p:bgPr>
        <a:solidFill>
          <a:schemeClr val="lt2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4"/>
          <p:cNvSpPr txBox="1"/>
          <p:nvPr>
            <p:ph type="title"/>
          </p:nvPr>
        </p:nvSpPr>
        <p:spPr>
          <a:xfrm>
            <a:off x="365750" y="54865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2" name="Google Shape;772;p64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6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64"/>
          <p:cNvSpPr txBox="1"/>
          <p:nvPr>
            <p:ph idx="2" type="body"/>
          </p:nvPr>
        </p:nvSpPr>
        <p:spPr>
          <a:xfrm>
            <a:off x="36575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75" name="Google Shape;775;p64"/>
          <p:cNvSpPr txBox="1"/>
          <p:nvPr>
            <p:ph idx="3" type="body"/>
          </p:nvPr>
        </p:nvSpPr>
        <p:spPr>
          <a:xfrm>
            <a:off x="502920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776" name="Google Shape;776;p64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777" name="Google Shape;777;p64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778" name="Google Shape;778;p64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779" name="Google Shape;779;p64"/>
          <p:cNvSpPr txBox="1"/>
          <p:nvPr>
            <p:ph idx="4" type="body"/>
          </p:nvPr>
        </p:nvSpPr>
        <p:spPr>
          <a:xfrm>
            <a:off x="36575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  <p:sp>
        <p:nvSpPr>
          <p:cNvPr id="780" name="Google Shape;780;p64"/>
          <p:cNvSpPr txBox="1"/>
          <p:nvPr>
            <p:ph idx="5" type="body"/>
          </p:nvPr>
        </p:nvSpPr>
        <p:spPr>
          <a:xfrm>
            <a:off x="502920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4 columns w eyebrow and headlines">
  <p:cSld name="CUSTOM_2_1_1_2_1">
    <p:bg>
      <p:bgPr>
        <a:solidFill>
          <a:schemeClr val="lt2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5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3" name="Google Shape;783;p65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65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65"/>
          <p:cNvSpPr txBox="1"/>
          <p:nvPr>
            <p:ph idx="2" type="body"/>
          </p:nvPr>
        </p:nvSpPr>
        <p:spPr>
          <a:xfrm>
            <a:off x="365750" y="1737369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86" name="Google Shape;786;p65"/>
          <p:cNvSpPr txBox="1"/>
          <p:nvPr>
            <p:ph idx="3" type="body"/>
          </p:nvPr>
        </p:nvSpPr>
        <p:spPr>
          <a:xfrm>
            <a:off x="4731900" y="1737360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87" name="Google Shape;787;p65"/>
          <p:cNvSpPr txBox="1"/>
          <p:nvPr>
            <p:ph idx="4" type="body"/>
          </p:nvPr>
        </p:nvSpPr>
        <p:spPr>
          <a:xfrm>
            <a:off x="2548850" y="1737360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sp>
        <p:nvSpPr>
          <p:cNvPr id="788" name="Google Shape;788;p65"/>
          <p:cNvSpPr txBox="1"/>
          <p:nvPr>
            <p:ph idx="5" type="body"/>
          </p:nvPr>
        </p:nvSpPr>
        <p:spPr>
          <a:xfrm>
            <a:off x="6915000" y="1737360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789" name="Google Shape;789;p65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790" name="Google Shape;790;p65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792" name="Google Shape;792;p65"/>
          <p:cNvSpPr txBox="1"/>
          <p:nvPr>
            <p:ph idx="6" type="body"/>
          </p:nvPr>
        </p:nvSpPr>
        <p:spPr>
          <a:xfrm>
            <a:off x="365750" y="1280150"/>
            <a:ext cx="15888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  <p:sp>
        <p:nvSpPr>
          <p:cNvPr id="793" name="Google Shape;793;p65"/>
          <p:cNvSpPr txBox="1"/>
          <p:nvPr>
            <p:ph idx="7" type="body"/>
          </p:nvPr>
        </p:nvSpPr>
        <p:spPr>
          <a:xfrm>
            <a:off x="2548825" y="1280160"/>
            <a:ext cx="1588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  <p:sp>
        <p:nvSpPr>
          <p:cNvPr id="794" name="Google Shape;794;p65"/>
          <p:cNvSpPr txBox="1"/>
          <p:nvPr>
            <p:ph idx="8" type="body"/>
          </p:nvPr>
        </p:nvSpPr>
        <p:spPr>
          <a:xfrm>
            <a:off x="4731925" y="1280160"/>
            <a:ext cx="1588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  <p:sp>
        <p:nvSpPr>
          <p:cNvPr id="795" name="Google Shape;795;p65"/>
          <p:cNvSpPr txBox="1"/>
          <p:nvPr>
            <p:ph idx="9" type="body"/>
          </p:nvPr>
        </p:nvSpPr>
        <p:spPr>
          <a:xfrm>
            <a:off x="6915000" y="1280160"/>
            <a:ext cx="1588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﹣"/>
              <a:defRPr b="1"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231">
          <p15:clr>
            <a:srgbClr val="E46962"/>
          </p15:clr>
        </p15:guide>
        <p15:guide id="4" pos="1606">
          <p15:clr>
            <a:srgbClr val="E46962"/>
          </p15:clr>
        </p15:guide>
        <p15:guide id="5" pos="3982">
          <p15:clr>
            <a:srgbClr val="E46962"/>
          </p15:clr>
        </p15:guide>
        <p15:guide id="6" pos="4356">
          <p15:clr>
            <a:srgbClr val="E46962"/>
          </p15:clr>
        </p15:guide>
        <p15:guide id="7" pos="2606">
          <p15:clr>
            <a:srgbClr val="E46962"/>
          </p15:clr>
        </p15:guide>
        <p15:guide id="8" pos="2981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split 1/2">
  <p:cSld name="CUSTOM_2_3">
    <p:bg>
      <p:bgPr>
        <a:solidFill>
          <a:schemeClr val="accent2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6"/>
          <p:cNvSpPr/>
          <p:nvPr/>
        </p:nvSpPr>
        <p:spPr>
          <a:xfrm>
            <a:off x="0" y="0"/>
            <a:ext cx="4434900" cy="515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8" name="Google Shape;798;p66"/>
          <p:cNvSpPr txBox="1"/>
          <p:nvPr>
            <p:ph type="title"/>
          </p:nvPr>
        </p:nvSpPr>
        <p:spPr>
          <a:xfrm>
            <a:off x="365750" y="228600"/>
            <a:ext cx="34746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0" name="Google Shape;800;p66"/>
          <p:cNvSpPr txBox="1"/>
          <p:nvPr>
            <p:ph idx="1" type="body"/>
          </p:nvPr>
        </p:nvSpPr>
        <p:spPr>
          <a:xfrm>
            <a:off x="365750" y="960120"/>
            <a:ext cx="34746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  <p:grpSp>
        <p:nvGrpSpPr>
          <p:cNvPr id="801" name="Google Shape;801;p66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802" name="Google Shape;802;p66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803" name="Google Shape;803;p66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2419">
          <p15:clr>
            <a:srgbClr val="E46962"/>
          </p15:clr>
        </p15:guide>
        <p15:guide id="4" pos="3168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split 1/3">
  <p:cSld name="CUSTOM_2_4">
    <p:bg>
      <p:bgPr>
        <a:solidFill>
          <a:schemeClr val="accen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7"/>
          <p:cNvSpPr/>
          <p:nvPr/>
        </p:nvSpPr>
        <p:spPr>
          <a:xfrm>
            <a:off x="-175" y="0"/>
            <a:ext cx="2962800" cy="515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6" name="Google Shape;806;p67"/>
          <p:cNvSpPr txBox="1"/>
          <p:nvPr>
            <p:ph type="title"/>
          </p:nvPr>
        </p:nvSpPr>
        <p:spPr>
          <a:xfrm>
            <a:off x="365750" y="228600"/>
            <a:ext cx="21945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7" name="Google Shape;807;p6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8" name="Google Shape;808;p67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809" name="Google Shape;809;p67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810" name="Google Shape;810;p67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  <p:sp>
        <p:nvSpPr>
          <p:cNvPr id="811" name="Google Shape;811;p67"/>
          <p:cNvSpPr txBox="1"/>
          <p:nvPr>
            <p:ph idx="1" type="body"/>
          </p:nvPr>
        </p:nvSpPr>
        <p:spPr>
          <a:xfrm>
            <a:off x="365750" y="960120"/>
            <a:ext cx="21945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﹣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  <p15:guide id="3" pos="1613">
          <p15:clr>
            <a:srgbClr val="E46962"/>
          </p15:clr>
        </p15:guide>
        <p15:guide id="4" pos="3974">
          <p15:clr>
            <a:srgbClr val="E46962"/>
          </p15:clr>
        </p15:guide>
        <p15:guide id="5" pos="2102">
          <p15:clr>
            <a:srgbClr val="E46962"/>
          </p15:clr>
        </p15:guide>
        <p15:guide id="6" pos="3485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1 column">
  <p:cSld name="CUSTOM_3_1">
    <p:bg>
      <p:bgPr>
        <a:solidFill>
          <a:schemeClr val="accent2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8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4" name="Google Shape;814;p6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5" name="Google Shape;815;p68"/>
          <p:cNvSpPr txBox="1"/>
          <p:nvPr>
            <p:ph idx="1" type="body"/>
          </p:nvPr>
        </p:nvSpPr>
        <p:spPr>
          <a:xfrm>
            <a:off x="365750" y="960120"/>
            <a:ext cx="8138100" cy="3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﹣"/>
              <a:defRPr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816" name="Google Shape;816;p68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817" name="Google Shape;817;p68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818" name="Google Shape;818;p68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30">
          <p15:clr>
            <a:srgbClr val="E46962"/>
          </p15:clr>
        </p15:guide>
        <p15:guide id="2" pos="5357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ank">
  <p:cSld name="BLANK_1">
    <p:bg>
      <p:bgPr>
        <a:solidFill>
          <a:schemeClr val="accent2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21" name="Google Shape;821;p69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822" name="Google Shape;822;p69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823" name="Google Shape;823;p69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ight blank">
  <p:cSld name="BLANK_5">
    <p:bg>
      <p:bgPr>
        <a:solidFill>
          <a:srgbClr val="FFFFFF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26" name="Google Shape;826;p70"/>
          <p:cNvGrpSpPr/>
          <p:nvPr/>
        </p:nvGrpSpPr>
        <p:grpSpPr>
          <a:xfrm>
            <a:off x="8595658" y="390532"/>
            <a:ext cx="228568" cy="209092"/>
            <a:chOff x="238125" y="2160750"/>
            <a:chExt cx="2022725" cy="1850375"/>
          </a:xfrm>
        </p:grpSpPr>
        <p:sp>
          <p:nvSpPr>
            <p:cNvPr id="827" name="Google Shape;827;p70"/>
            <p:cNvSpPr/>
            <p:nvPr/>
          </p:nvSpPr>
          <p:spPr>
            <a:xfrm>
              <a:off x="238125" y="2838775"/>
              <a:ext cx="1073150" cy="1172350"/>
            </a:xfrm>
            <a:custGeom>
              <a:rect b="b" l="l" r="r" t="t"/>
              <a:pathLst>
                <a:path extrusionOk="0" h="46894" w="42926">
                  <a:moveTo>
                    <a:pt x="8585" y="1"/>
                  </a:moveTo>
                  <a:cubicBezTo>
                    <a:pt x="7122" y="1"/>
                    <a:pt x="5658" y="358"/>
                    <a:pt x="4293" y="1139"/>
                  </a:cubicBezTo>
                  <a:cubicBezTo>
                    <a:pt x="3024" y="1854"/>
                    <a:pt x="1919" y="2927"/>
                    <a:pt x="1138" y="4293"/>
                  </a:cubicBezTo>
                  <a:cubicBezTo>
                    <a:pt x="423" y="5561"/>
                    <a:pt x="0" y="7025"/>
                    <a:pt x="0" y="8586"/>
                  </a:cubicBezTo>
                  <a:cubicBezTo>
                    <a:pt x="0" y="10049"/>
                    <a:pt x="358" y="11512"/>
                    <a:pt x="1138" y="12878"/>
                  </a:cubicBezTo>
                  <a:cubicBezTo>
                    <a:pt x="1886" y="14147"/>
                    <a:pt x="2927" y="15220"/>
                    <a:pt x="4293" y="16000"/>
                  </a:cubicBezTo>
                  <a:cubicBezTo>
                    <a:pt x="5561" y="16748"/>
                    <a:pt x="7024" y="17171"/>
                    <a:pt x="8585" y="17171"/>
                  </a:cubicBezTo>
                  <a:cubicBezTo>
                    <a:pt x="9528" y="17171"/>
                    <a:pt x="10471" y="17008"/>
                    <a:pt x="11349" y="16716"/>
                  </a:cubicBezTo>
                  <a:cubicBezTo>
                    <a:pt x="13037" y="16146"/>
                    <a:pt x="14625" y="15868"/>
                    <a:pt x="16090" y="15868"/>
                  </a:cubicBezTo>
                  <a:cubicBezTo>
                    <a:pt x="18971" y="15868"/>
                    <a:pt x="21375" y="16944"/>
                    <a:pt x="23121" y="18992"/>
                  </a:cubicBezTo>
                  <a:cubicBezTo>
                    <a:pt x="25365" y="21561"/>
                    <a:pt x="25365" y="25301"/>
                    <a:pt x="23154" y="27902"/>
                  </a:cubicBezTo>
                  <a:cubicBezTo>
                    <a:pt x="21372" y="29945"/>
                    <a:pt x="18952" y="31029"/>
                    <a:pt x="16057" y="31029"/>
                  </a:cubicBezTo>
                  <a:cubicBezTo>
                    <a:pt x="14620" y="31029"/>
                    <a:pt x="13065" y="30762"/>
                    <a:pt x="11414" y="30211"/>
                  </a:cubicBezTo>
                  <a:cubicBezTo>
                    <a:pt x="10536" y="29886"/>
                    <a:pt x="9561" y="29723"/>
                    <a:pt x="8585" y="29723"/>
                  </a:cubicBezTo>
                  <a:cubicBezTo>
                    <a:pt x="7122" y="29723"/>
                    <a:pt x="5658" y="30114"/>
                    <a:pt x="4293" y="30894"/>
                  </a:cubicBezTo>
                  <a:cubicBezTo>
                    <a:pt x="3024" y="31609"/>
                    <a:pt x="1919" y="32683"/>
                    <a:pt x="1138" y="34016"/>
                  </a:cubicBezTo>
                  <a:cubicBezTo>
                    <a:pt x="423" y="35284"/>
                    <a:pt x="0" y="36748"/>
                    <a:pt x="0" y="38308"/>
                  </a:cubicBezTo>
                  <a:cubicBezTo>
                    <a:pt x="0" y="39772"/>
                    <a:pt x="358" y="41268"/>
                    <a:pt x="1138" y="42601"/>
                  </a:cubicBezTo>
                  <a:cubicBezTo>
                    <a:pt x="1886" y="43869"/>
                    <a:pt x="2927" y="44975"/>
                    <a:pt x="4293" y="45755"/>
                  </a:cubicBezTo>
                  <a:cubicBezTo>
                    <a:pt x="5561" y="46471"/>
                    <a:pt x="7024" y="46894"/>
                    <a:pt x="8585" y="46894"/>
                  </a:cubicBezTo>
                  <a:cubicBezTo>
                    <a:pt x="10049" y="46894"/>
                    <a:pt x="11512" y="46536"/>
                    <a:pt x="12878" y="45755"/>
                  </a:cubicBezTo>
                  <a:cubicBezTo>
                    <a:pt x="14146" y="45040"/>
                    <a:pt x="15252" y="43967"/>
                    <a:pt x="16032" y="42601"/>
                  </a:cubicBezTo>
                  <a:cubicBezTo>
                    <a:pt x="16487" y="41821"/>
                    <a:pt x="16813" y="40910"/>
                    <a:pt x="17008" y="39967"/>
                  </a:cubicBezTo>
                  <a:cubicBezTo>
                    <a:pt x="18217" y="33996"/>
                    <a:pt x="21828" y="30738"/>
                    <a:pt x="26871" y="30738"/>
                  </a:cubicBezTo>
                  <a:cubicBezTo>
                    <a:pt x="28337" y="30738"/>
                    <a:pt x="29925" y="31013"/>
                    <a:pt x="31609" y="31577"/>
                  </a:cubicBezTo>
                  <a:cubicBezTo>
                    <a:pt x="32455" y="31870"/>
                    <a:pt x="33398" y="32032"/>
                    <a:pt x="34341" y="32032"/>
                  </a:cubicBezTo>
                  <a:cubicBezTo>
                    <a:pt x="35804" y="32032"/>
                    <a:pt x="37267" y="31642"/>
                    <a:pt x="38633" y="30862"/>
                  </a:cubicBezTo>
                  <a:cubicBezTo>
                    <a:pt x="39902" y="30146"/>
                    <a:pt x="41007" y="29105"/>
                    <a:pt x="41788" y="27740"/>
                  </a:cubicBezTo>
                  <a:cubicBezTo>
                    <a:pt x="42503" y="26471"/>
                    <a:pt x="42926" y="25008"/>
                    <a:pt x="42926" y="23447"/>
                  </a:cubicBezTo>
                  <a:cubicBezTo>
                    <a:pt x="42926" y="21984"/>
                    <a:pt x="42568" y="20520"/>
                    <a:pt x="41788" y="19155"/>
                  </a:cubicBezTo>
                  <a:cubicBezTo>
                    <a:pt x="41040" y="17886"/>
                    <a:pt x="39999" y="16781"/>
                    <a:pt x="38633" y="16000"/>
                  </a:cubicBezTo>
                  <a:cubicBezTo>
                    <a:pt x="37365" y="15285"/>
                    <a:pt x="35902" y="14862"/>
                    <a:pt x="34341" y="14862"/>
                  </a:cubicBezTo>
                  <a:cubicBezTo>
                    <a:pt x="33430" y="14862"/>
                    <a:pt x="32487" y="14992"/>
                    <a:pt x="31577" y="15317"/>
                  </a:cubicBezTo>
                  <a:cubicBezTo>
                    <a:pt x="29899" y="15881"/>
                    <a:pt x="28320" y="16156"/>
                    <a:pt x="26860" y="16156"/>
                  </a:cubicBezTo>
                  <a:cubicBezTo>
                    <a:pt x="21839" y="16156"/>
                    <a:pt x="18242" y="12899"/>
                    <a:pt x="17008" y="6927"/>
                  </a:cubicBezTo>
                  <a:cubicBezTo>
                    <a:pt x="16845" y="6017"/>
                    <a:pt x="16520" y="5139"/>
                    <a:pt x="16032" y="4293"/>
                  </a:cubicBezTo>
                  <a:cubicBezTo>
                    <a:pt x="15284" y="3025"/>
                    <a:pt x="14244" y="1919"/>
                    <a:pt x="12878" y="1139"/>
                  </a:cubicBezTo>
                  <a:cubicBezTo>
                    <a:pt x="11610" y="423"/>
                    <a:pt x="10146" y="1"/>
                    <a:pt x="8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  <p:sp>
          <p:nvSpPr>
            <p:cNvPr id="828" name="Google Shape;828;p70"/>
            <p:cNvSpPr/>
            <p:nvPr/>
          </p:nvSpPr>
          <p:spPr>
            <a:xfrm>
              <a:off x="973050" y="2160750"/>
              <a:ext cx="1287800" cy="1343075"/>
            </a:xfrm>
            <a:custGeom>
              <a:rect b="b" l="l" r="r" t="t"/>
              <a:pathLst>
                <a:path extrusionOk="0" h="53723" w="51512">
                  <a:moveTo>
                    <a:pt x="25691" y="0"/>
                  </a:moveTo>
                  <a:cubicBezTo>
                    <a:pt x="10309" y="0"/>
                    <a:pt x="1" y="9041"/>
                    <a:pt x="1" y="26536"/>
                  </a:cubicBezTo>
                  <a:lnTo>
                    <a:pt x="1" y="38666"/>
                  </a:lnTo>
                  <a:cubicBezTo>
                    <a:pt x="1594" y="38016"/>
                    <a:pt x="3285" y="37690"/>
                    <a:pt x="4944" y="37690"/>
                  </a:cubicBezTo>
                  <a:cubicBezTo>
                    <a:pt x="6732" y="37690"/>
                    <a:pt x="8456" y="38048"/>
                    <a:pt x="10017" y="38731"/>
                  </a:cubicBezTo>
                  <a:lnTo>
                    <a:pt x="10017" y="26439"/>
                  </a:lnTo>
                  <a:cubicBezTo>
                    <a:pt x="10017" y="15057"/>
                    <a:pt x="16228" y="9268"/>
                    <a:pt x="25691" y="9268"/>
                  </a:cubicBezTo>
                  <a:cubicBezTo>
                    <a:pt x="35187" y="9268"/>
                    <a:pt x="41398" y="15057"/>
                    <a:pt x="41398" y="26439"/>
                  </a:cubicBezTo>
                  <a:lnTo>
                    <a:pt x="41398" y="53722"/>
                  </a:lnTo>
                  <a:lnTo>
                    <a:pt x="51414" y="53722"/>
                  </a:lnTo>
                  <a:lnTo>
                    <a:pt x="51414" y="26439"/>
                  </a:lnTo>
                  <a:cubicBezTo>
                    <a:pt x="51512" y="8846"/>
                    <a:pt x="41073" y="0"/>
                    <a:pt x="2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81414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1" sz="28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5760" y="1188720"/>
            <a:ext cx="81381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﹣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8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8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8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94.xml"/></Relationships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3" name="Google Shape;833;p71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Vibe Coding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Agentic Engineering</a:t>
            </a:r>
            <a:endParaRPr/>
          </a:p>
        </p:txBody>
      </p:sp>
      <p:sp>
        <p:nvSpPr>
          <p:cNvPr id="834" name="Google Shape;834;p71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engineering practices matter more, not less</a:t>
            </a:r>
            <a:endParaRPr/>
          </a:p>
        </p:txBody>
      </p:sp>
      <p:sp>
        <p:nvSpPr>
          <p:cNvPr id="835" name="Google Shape;835;p71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71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1"/>
          <p:cNvSpPr/>
          <p:nvPr/>
        </p:nvSpPr>
        <p:spPr>
          <a:xfrm>
            <a:off x="8967625" y="1680075"/>
            <a:ext cx="542700" cy="1428900"/>
          </a:xfrm>
          <a:prstGeom prst="rect">
            <a:avLst/>
          </a:pr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3" name="Google Shape;883;p73"/>
          <p:cNvSpPr txBox="1"/>
          <p:nvPr>
            <p:ph type="title"/>
          </p:nvPr>
        </p:nvSpPr>
        <p:spPr>
          <a:xfrm>
            <a:off x="1082800" y="228600"/>
            <a:ext cx="7146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up — quick read of the room</a:t>
            </a:r>
            <a:endParaRPr/>
          </a:p>
        </p:txBody>
      </p:sp>
      <p:sp>
        <p:nvSpPr>
          <p:cNvPr id="884" name="Google Shape;884;p73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5" name="Google Shape;885;p73"/>
          <p:cNvSpPr txBox="1"/>
          <p:nvPr/>
        </p:nvSpPr>
        <p:spPr>
          <a:xfrm>
            <a:off x="3238098" y="1393380"/>
            <a:ext cx="38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rPr>
              <a:t>First time</a:t>
            </a:r>
            <a:endParaRPr>
              <a:solidFill>
                <a:schemeClr val="lt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6" name="Google Shape;886;p73"/>
          <p:cNvSpPr txBox="1"/>
          <p:nvPr/>
        </p:nvSpPr>
        <p:spPr>
          <a:xfrm>
            <a:off x="2655348" y="1493524"/>
            <a:ext cx="4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1</a:t>
            </a:r>
            <a:endParaRPr sz="4200">
              <a:solidFill>
                <a:schemeClr val="accent6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sp>
        <p:nvSpPr>
          <p:cNvPr id="887" name="Google Shape;887;p73"/>
          <p:cNvSpPr txBox="1"/>
          <p:nvPr/>
        </p:nvSpPr>
        <p:spPr>
          <a:xfrm>
            <a:off x="3238099" y="3613630"/>
            <a:ext cx="38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rPr>
              <a:t>Got burned</a:t>
            </a:r>
            <a:endParaRPr sz="1200">
              <a:solidFill>
                <a:schemeClr val="lt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8" name="Google Shape;888;p73"/>
          <p:cNvSpPr txBox="1"/>
          <p:nvPr/>
        </p:nvSpPr>
        <p:spPr>
          <a:xfrm>
            <a:off x="2655348" y="3713774"/>
            <a:ext cx="4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4</a:t>
            </a:r>
            <a:endParaRPr sz="4200">
              <a:solidFill>
                <a:schemeClr val="accent6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sp>
        <p:nvSpPr>
          <p:cNvPr id="889" name="Google Shape;889;p73"/>
          <p:cNvSpPr txBox="1"/>
          <p:nvPr/>
        </p:nvSpPr>
        <p:spPr>
          <a:xfrm>
            <a:off x="3238098" y="2147580"/>
            <a:ext cx="38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rPr>
              <a:t>This week</a:t>
            </a:r>
            <a:endParaRPr sz="1200">
              <a:solidFill>
                <a:schemeClr val="lt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0" name="Google Shape;890;p73"/>
          <p:cNvSpPr txBox="1"/>
          <p:nvPr/>
        </p:nvSpPr>
        <p:spPr>
          <a:xfrm>
            <a:off x="2655348" y="2247724"/>
            <a:ext cx="4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2</a:t>
            </a:r>
            <a:endParaRPr sz="4200">
              <a:solidFill>
                <a:schemeClr val="accent6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sp>
        <p:nvSpPr>
          <p:cNvPr id="891" name="Google Shape;891;p73"/>
          <p:cNvSpPr txBox="1"/>
          <p:nvPr/>
        </p:nvSpPr>
        <p:spPr>
          <a:xfrm>
            <a:off x="3238098" y="2880605"/>
            <a:ext cx="38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rPr>
              <a:t>Shipped it</a:t>
            </a:r>
            <a:endParaRPr sz="1200">
              <a:solidFill>
                <a:schemeClr val="lt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2" name="Google Shape;892;p73"/>
          <p:cNvSpPr txBox="1"/>
          <p:nvPr/>
        </p:nvSpPr>
        <p:spPr>
          <a:xfrm>
            <a:off x="2655348" y="2980727"/>
            <a:ext cx="4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200">
                <a:solidFill>
                  <a:schemeClr val="accent6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3</a:t>
            </a:r>
            <a:endParaRPr sz="4200">
              <a:solidFill>
                <a:schemeClr val="accent6"/>
              </a:solidFill>
              <a:latin typeface="Public Sans Thin"/>
              <a:ea typeface="Public Sans Thin"/>
              <a:cs typeface="Public Sans Thin"/>
              <a:sym typeface="Public Sans Thin"/>
            </a:endParaRPr>
          </a:p>
        </p:txBody>
      </p:sp>
      <p:grpSp>
        <p:nvGrpSpPr>
          <p:cNvPr id="893" name="Google Shape;893;p73"/>
          <p:cNvGrpSpPr/>
          <p:nvPr/>
        </p:nvGrpSpPr>
        <p:grpSpPr>
          <a:xfrm>
            <a:off x="-700549" y="-429547"/>
            <a:ext cx="1783349" cy="5717641"/>
            <a:chOff x="-700549" y="-429547"/>
            <a:chExt cx="1783349" cy="5717641"/>
          </a:xfrm>
        </p:grpSpPr>
        <p:sp>
          <p:nvSpPr>
            <p:cNvPr id="894" name="Google Shape;894;p73"/>
            <p:cNvSpPr/>
            <p:nvPr/>
          </p:nvSpPr>
          <p:spPr>
            <a:xfrm rot="5400000">
              <a:off x="324149" y="235961"/>
              <a:ext cx="575709" cy="40013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73"/>
            <p:cNvSpPr/>
            <p:nvPr/>
          </p:nvSpPr>
          <p:spPr>
            <a:xfrm rot="5400000">
              <a:off x="-230247" y="2817535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3"/>
            <p:cNvSpPr/>
            <p:nvPr/>
          </p:nvSpPr>
          <p:spPr>
            <a:xfrm rot="5400000">
              <a:off x="203576" y="2068362"/>
              <a:ext cx="576782" cy="642785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73"/>
            <p:cNvSpPr/>
            <p:nvPr/>
          </p:nvSpPr>
          <p:spPr>
            <a:xfrm flipH="1" rot="5400000">
              <a:off x="-472882" y="2401322"/>
              <a:ext cx="715134" cy="400132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3"/>
            <p:cNvSpPr/>
            <p:nvPr/>
          </p:nvSpPr>
          <p:spPr>
            <a:xfrm rot="-5400000">
              <a:off x="392790" y="-237107"/>
              <a:ext cx="438449" cy="400109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73"/>
            <p:cNvSpPr/>
            <p:nvPr/>
          </p:nvSpPr>
          <p:spPr>
            <a:xfrm rot="-1799936">
              <a:off x="-32482" y="-346736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73"/>
            <p:cNvSpPr/>
            <p:nvPr/>
          </p:nvSpPr>
          <p:spPr>
            <a:xfrm rot="1799936">
              <a:off x="-152576" y="74570"/>
              <a:ext cx="438463" cy="400122"/>
            </a:xfrm>
            <a:custGeom>
              <a:rect b="b" l="l" r="r" t="t"/>
              <a:pathLst>
                <a:path extrusionOk="0" h="8954" w="9812">
                  <a:moveTo>
                    <a:pt x="8025" y="0"/>
                  </a:moveTo>
                  <a:cubicBezTo>
                    <a:pt x="7716" y="0"/>
                    <a:pt x="7418" y="72"/>
                    <a:pt x="7132" y="238"/>
                  </a:cubicBezTo>
                  <a:cubicBezTo>
                    <a:pt x="6966" y="322"/>
                    <a:pt x="6799" y="465"/>
                    <a:pt x="6680" y="607"/>
                  </a:cubicBezTo>
                  <a:cubicBezTo>
                    <a:pt x="6137" y="1228"/>
                    <a:pt x="5531" y="1538"/>
                    <a:pt x="4924" y="1538"/>
                  </a:cubicBezTo>
                  <a:cubicBezTo>
                    <a:pt x="4319" y="1538"/>
                    <a:pt x="3714" y="1231"/>
                    <a:pt x="3168" y="619"/>
                  </a:cubicBezTo>
                  <a:cubicBezTo>
                    <a:pt x="3037" y="476"/>
                    <a:pt x="2894" y="346"/>
                    <a:pt x="2715" y="250"/>
                  </a:cubicBezTo>
                  <a:cubicBezTo>
                    <a:pt x="2441" y="107"/>
                    <a:pt x="2144" y="12"/>
                    <a:pt x="1822" y="12"/>
                  </a:cubicBezTo>
                  <a:cubicBezTo>
                    <a:pt x="1501" y="12"/>
                    <a:pt x="1203" y="84"/>
                    <a:pt x="929" y="250"/>
                  </a:cubicBezTo>
                  <a:cubicBezTo>
                    <a:pt x="655" y="405"/>
                    <a:pt x="429" y="619"/>
                    <a:pt x="274" y="905"/>
                  </a:cubicBezTo>
                  <a:cubicBezTo>
                    <a:pt x="120" y="1179"/>
                    <a:pt x="36" y="1477"/>
                    <a:pt x="36" y="1798"/>
                  </a:cubicBezTo>
                  <a:cubicBezTo>
                    <a:pt x="0" y="2084"/>
                    <a:pt x="84" y="2393"/>
                    <a:pt x="239" y="2679"/>
                  </a:cubicBezTo>
                  <a:cubicBezTo>
                    <a:pt x="393" y="2941"/>
                    <a:pt x="620" y="3167"/>
                    <a:pt x="893" y="3334"/>
                  </a:cubicBezTo>
                  <a:cubicBezTo>
                    <a:pt x="1167" y="3477"/>
                    <a:pt x="1465" y="3572"/>
                    <a:pt x="1786" y="3572"/>
                  </a:cubicBezTo>
                  <a:cubicBezTo>
                    <a:pt x="2108" y="3572"/>
                    <a:pt x="2406" y="3501"/>
                    <a:pt x="2679" y="3334"/>
                  </a:cubicBezTo>
                  <a:cubicBezTo>
                    <a:pt x="2846" y="3227"/>
                    <a:pt x="3013" y="3108"/>
                    <a:pt x="3144" y="2965"/>
                  </a:cubicBezTo>
                  <a:cubicBezTo>
                    <a:pt x="3687" y="2350"/>
                    <a:pt x="4304" y="2036"/>
                    <a:pt x="4914" y="2036"/>
                  </a:cubicBezTo>
                  <a:cubicBezTo>
                    <a:pt x="5119" y="2036"/>
                    <a:pt x="5324" y="2071"/>
                    <a:pt x="5525" y="2143"/>
                  </a:cubicBezTo>
                  <a:cubicBezTo>
                    <a:pt x="6192" y="2381"/>
                    <a:pt x="6597" y="3048"/>
                    <a:pt x="6466" y="3763"/>
                  </a:cubicBezTo>
                  <a:cubicBezTo>
                    <a:pt x="6299" y="4596"/>
                    <a:pt x="5644" y="5191"/>
                    <a:pt x="4572" y="5418"/>
                  </a:cubicBezTo>
                  <a:cubicBezTo>
                    <a:pt x="4382" y="5441"/>
                    <a:pt x="4180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3" y="6549"/>
                    <a:pt x="3108" y="6846"/>
                    <a:pt x="3108" y="7168"/>
                  </a:cubicBezTo>
                  <a:cubicBezTo>
                    <a:pt x="3108" y="7477"/>
                    <a:pt x="3191" y="7775"/>
                    <a:pt x="3358" y="8061"/>
                  </a:cubicBezTo>
                  <a:cubicBezTo>
                    <a:pt x="3501" y="8335"/>
                    <a:pt x="3727" y="8549"/>
                    <a:pt x="4001" y="8716"/>
                  </a:cubicBezTo>
                  <a:cubicBezTo>
                    <a:pt x="4275" y="8870"/>
                    <a:pt x="4572" y="8954"/>
                    <a:pt x="4894" y="8954"/>
                  </a:cubicBezTo>
                  <a:cubicBezTo>
                    <a:pt x="5215" y="8954"/>
                    <a:pt x="5513" y="8882"/>
                    <a:pt x="5787" y="8716"/>
                  </a:cubicBezTo>
                  <a:cubicBezTo>
                    <a:pt x="6061" y="8573"/>
                    <a:pt x="6287" y="8347"/>
                    <a:pt x="6442" y="8061"/>
                  </a:cubicBezTo>
                  <a:cubicBezTo>
                    <a:pt x="6597" y="7799"/>
                    <a:pt x="6680" y="7501"/>
                    <a:pt x="6680" y="7168"/>
                  </a:cubicBezTo>
                  <a:cubicBezTo>
                    <a:pt x="6680" y="6977"/>
                    <a:pt x="6656" y="6787"/>
                    <a:pt x="6597" y="6584"/>
                  </a:cubicBezTo>
                  <a:cubicBezTo>
                    <a:pt x="6073" y="5025"/>
                    <a:pt x="6739" y="3870"/>
                    <a:pt x="8371" y="3536"/>
                  </a:cubicBezTo>
                  <a:cubicBezTo>
                    <a:pt x="8561" y="3489"/>
                    <a:pt x="8740" y="3441"/>
                    <a:pt x="8918" y="3334"/>
                  </a:cubicBezTo>
                  <a:cubicBezTo>
                    <a:pt x="9180" y="3179"/>
                    <a:pt x="9406" y="2965"/>
                    <a:pt x="9573" y="2679"/>
                  </a:cubicBezTo>
                  <a:cubicBezTo>
                    <a:pt x="9716" y="2405"/>
                    <a:pt x="9811" y="2108"/>
                    <a:pt x="9811" y="1786"/>
                  </a:cubicBezTo>
                  <a:cubicBezTo>
                    <a:pt x="9811" y="1477"/>
                    <a:pt x="9740" y="1179"/>
                    <a:pt x="9573" y="893"/>
                  </a:cubicBezTo>
                  <a:cubicBezTo>
                    <a:pt x="9418" y="619"/>
                    <a:pt x="9204" y="405"/>
                    <a:pt x="8918" y="238"/>
                  </a:cubicBezTo>
                  <a:cubicBezTo>
                    <a:pt x="8656" y="84"/>
                    <a:pt x="8359" y="0"/>
                    <a:pt x="8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3"/>
            <p:cNvSpPr/>
            <p:nvPr/>
          </p:nvSpPr>
          <p:spPr>
            <a:xfrm rot="8999897">
              <a:off x="-41417" y="734235"/>
              <a:ext cx="575711" cy="40013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3"/>
            <p:cNvSpPr/>
            <p:nvPr/>
          </p:nvSpPr>
          <p:spPr>
            <a:xfrm rot="-9000064">
              <a:off x="324154" y="1218816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73"/>
            <p:cNvSpPr/>
            <p:nvPr/>
          </p:nvSpPr>
          <p:spPr>
            <a:xfrm rot="-5400000">
              <a:off x="78478" y="386084"/>
              <a:ext cx="575677" cy="400109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73"/>
            <p:cNvSpPr/>
            <p:nvPr/>
          </p:nvSpPr>
          <p:spPr>
            <a:xfrm rot="-1799936">
              <a:off x="204132" y="1707618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73"/>
            <p:cNvSpPr/>
            <p:nvPr/>
          </p:nvSpPr>
          <p:spPr>
            <a:xfrm rot="1799936">
              <a:off x="-160512" y="1212567"/>
              <a:ext cx="575695" cy="400122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73"/>
            <p:cNvSpPr/>
            <p:nvPr/>
          </p:nvSpPr>
          <p:spPr>
            <a:xfrm rot="8999897">
              <a:off x="-101650" y="1622636"/>
              <a:ext cx="576784" cy="642788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73"/>
            <p:cNvSpPr/>
            <p:nvPr/>
          </p:nvSpPr>
          <p:spPr>
            <a:xfrm rot="-9000064">
              <a:off x="383978" y="2664955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73"/>
            <p:cNvSpPr/>
            <p:nvPr/>
          </p:nvSpPr>
          <p:spPr>
            <a:xfrm rot="-5400000">
              <a:off x="203601" y="3324189"/>
              <a:ext cx="576749" cy="642749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73"/>
            <p:cNvSpPr/>
            <p:nvPr/>
          </p:nvSpPr>
          <p:spPr>
            <a:xfrm rot="-1799936">
              <a:off x="262507" y="3911506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73"/>
            <p:cNvSpPr/>
            <p:nvPr/>
          </p:nvSpPr>
          <p:spPr>
            <a:xfrm rot="1799936">
              <a:off x="262492" y="4544192"/>
              <a:ext cx="576768" cy="642770"/>
            </a:xfrm>
            <a:custGeom>
              <a:rect b="b" l="l" r="r" t="t"/>
              <a:pathLst>
                <a:path extrusionOk="0" h="14384" w="12907">
                  <a:moveTo>
                    <a:pt x="8001" y="0"/>
                  </a:moveTo>
                  <a:cubicBezTo>
                    <a:pt x="7692" y="0"/>
                    <a:pt x="7394" y="84"/>
                    <a:pt x="7108" y="238"/>
                  </a:cubicBezTo>
                  <a:cubicBezTo>
                    <a:pt x="6954" y="334"/>
                    <a:pt x="6799" y="465"/>
                    <a:pt x="6668" y="619"/>
                  </a:cubicBezTo>
                  <a:cubicBezTo>
                    <a:pt x="6125" y="1234"/>
                    <a:pt x="5516" y="1541"/>
                    <a:pt x="4906" y="1541"/>
                  </a:cubicBezTo>
                  <a:cubicBezTo>
                    <a:pt x="4299" y="1541"/>
                    <a:pt x="3690" y="1237"/>
                    <a:pt x="3144" y="631"/>
                  </a:cubicBezTo>
                  <a:cubicBezTo>
                    <a:pt x="3001" y="477"/>
                    <a:pt x="2858" y="358"/>
                    <a:pt x="2679" y="262"/>
                  </a:cubicBezTo>
                  <a:cubicBezTo>
                    <a:pt x="2405" y="107"/>
                    <a:pt x="2108" y="24"/>
                    <a:pt x="1786" y="24"/>
                  </a:cubicBezTo>
                  <a:cubicBezTo>
                    <a:pt x="1477" y="24"/>
                    <a:pt x="1179" y="96"/>
                    <a:pt x="893" y="262"/>
                  </a:cubicBezTo>
                  <a:cubicBezTo>
                    <a:pt x="619" y="405"/>
                    <a:pt x="405" y="631"/>
                    <a:pt x="238" y="917"/>
                  </a:cubicBezTo>
                  <a:cubicBezTo>
                    <a:pt x="84" y="1179"/>
                    <a:pt x="0" y="1477"/>
                    <a:pt x="0" y="1810"/>
                  </a:cubicBezTo>
                  <a:cubicBezTo>
                    <a:pt x="0" y="2120"/>
                    <a:pt x="72" y="2417"/>
                    <a:pt x="238" y="2703"/>
                  </a:cubicBezTo>
                  <a:cubicBezTo>
                    <a:pt x="381" y="2965"/>
                    <a:pt x="608" y="3191"/>
                    <a:pt x="893" y="3358"/>
                  </a:cubicBezTo>
                  <a:cubicBezTo>
                    <a:pt x="1155" y="3501"/>
                    <a:pt x="1453" y="3596"/>
                    <a:pt x="1786" y="3596"/>
                  </a:cubicBezTo>
                  <a:cubicBezTo>
                    <a:pt x="2096" y="3596"/>
                    <a:pt x="2394" y="3513"/>
                    <a:pt x="2679" y="3358"/>
                  </a:cubicBezTo>
                  <a:cubicBezTo>
                    <a:pt x="2846" y="3251"/>
                    <a:pt x="3001" y="3132"/>
                    <a:pt x="3144" y="2977"/>
                  </a:cubicBezTo>
                  <a:cubicBezTo>
                    <a:pt x="3685" y="2364"/>
                    <a:pt x="4290" y="2057"/>
                    <a:pt x="4895" y="2057"/>
                  </a:cubicBezTo>
                  <a:cubicBezTo>
                    <a:pt x="5501" y="2057"/>
                    <a:pt x="6108" y="2364"/>
                    <a:pt x="6656" y="2977"/>
                  </a:cubicBezTo>
                  <a:cubicBezTo>
                    <a:pt x="6787" y="3132"/>
                    <a:pt x="6930" y="3263"/>
                    <a:pt x="7108" y="3370"/>
                  </a:cubicBezTo>
                  <a:cubicBezTo>
                    <a:pt x="7275" y="3477"/>
                    <a:pt x="7466" y="3536"/>
                    <a:pt x="7668" y="3572"/>
                  </a:cubicBezTo>
                  <a:cubicBezTo>
                    <a:pt x="9275" y="3906"/>
                    <a:pt x="9942" y="5060"/>
                    <a:pt x="9418" y="6608"/>
                  </a:cubicBezTo>
                  <a:cubicBezTo>
                    <a:pt x="9359" y="6787"/>
                    <a:pt x="9311" y="7001"/>
                    <a:pt x="9311" y="7204"/>
                  </a:cubicBezTo>
                  <a:cubicBezTo>
                    <a:pt x="9311" y="7406"/>
                    <a:pt x="9347" y="7596"/>
                    <a:pt x="9406" y="7787"/>
                  </a:cubicBezTo>
                  <a:cubicBezTo>
                    <a:pt x="9930" y="9347"/>
                    <a:pt x="9252" y="10514"/>
                    <a:pt x="7644" y="10835"/>
                  </a:cubicBezTo>
                  <a:cubicBezTo>
                    <a:pt x="7454" y="10871"/>
                    <a:pt x="7275" y="10942"/>
                    <a:pt x="7096" y="11049"/>
                  </a:cubicBezTo>
                  <a:cubicBezTo>
                    <a:pt x="6835" y="11192"/>
                    <a:pt x="6608" y="11418"/>
                    <a:pt x="6442" y="11704"/>
                  </a:cubicBezTo>
                  <a:cubicBezTo>
                    <a:pt x="6299" y="11966"/>
                    <a:pt x="6204" y="12264"/>
                    <a:pt x="6204" y="12597"/>
                  </a:cubicBezTo>
                  <a:cubicBezTo>
                    <a:pt x="6204" y="12907"/>
                    <a:pt x="6275" y="13204"/>
                    <a:pt x="6442" y="13490"/>
                  </a:cubicBezTo>
                  <a:cubicBezTo>
                    <a:pt x="6596" y="13752"/>
                    <a:pt x="6811" y="13978"/>
                    <a:pt x="7096" y="14145"/>
                  </a:cubicBezTo>
                  <a:cubicBezTo>
                    <a:pt x="7370" y="14288"/>
                    <a:pt x="7668" y="14383"/>
                    <a:pt x="7989" y="14383"/>
                  </a:cubicBezTo>
                  <a:cubicBezTo>
                    <a:pt x="8299" y="14383"/>
                    <a:pt x="8597" y="14312"/>
                    <a:pt x="8882" y="14145"/>
                  </a:cubicBezTo>
                  <a:cubicBezTo>
                    <a:pt x="9168" y="13966"/>
                    <a:pt x="9406" y="13740"/>
                    <a:pt x="9573" y="13454"/>
                  </a:cubicBezTo>
                  <a:cubicBezTo>
                    <a:pt x="9716" y="13192"/>
                    <a:pt x="9811" y="12895"/>
                    <a:pt x="9811" y="12561"/>
                  </a:cubicBezTo>
                  <a:cubicBezTo>
                    <a:pt x="9811" y="12371"/>
                    <a:pt x="9775" y="12180"/>
                    <a:pt x="9704" y="11990"/>
                  </a:cubicBezTo>
                  <a:cubicBezTo>
                    <a:pt x="9180" y="10418"/>
                    <a:pt x="9847" y="9263"/>
                    <a:pt x="11454" y="8930"/>
                  </a:cubicBezTo>
                  <a:cubicBezTo>
                    <a:pt x="11657" y="8906"/>
                    <a:pt x="11835" y="8823"/>
                    <a:pt x="12014" y="8728"/>
                  </a:cubicBezTo>
                  <a:cubicBezTo>
                    <a:pt x="12276" y="8573"/>
                    <a:pt x="12502" y="8358"/>
                    <a:pt x="12669" y="8073"/>
                  </a:cubicBezTo>
                  <a:cubicBezTo>
                    <a:pt x="12811" y="7799"/>
                    <a:pt x="12907" y="7501"/>
                    <a:pt x="12907" y="7180"/>
                  </a:cubicBezTo>
                  <a:cubicBezTo>
                    <a:pt x="12907" y="6870"/>
                    <a:pt x="12823" y="6573"/>
                    <a:pt x="12669" y="6287"/>
                  </a:cubicBezTo>
                  <a:cubicBezTo>
                    <a:pt x="12514" y="6013"/>
                    <a:pt x="12288" y="5799"/>
                    <a:pt x="12014" y="5632"/>
                  </a:cubicBezTo>
                  <a:cubicBezTo>
                    <a:pt x="11847" y="5525"/>
                    <a:pt x="11657" y="5465"/>
                    <a:pt x="11454" y="5418"/>
                  </a:cubicBezTo>
                  <a:cubicBezTo>
                    <a:pt x="9847" y="5096"/>
                    <a:pt x="9168" y="3929"/>
                    <a:pt x="9692" y="2370"/>
                  </a:cubicBezTo>
                  <a:cubicBezTo>
                    <a:pt x="9752" y="2191"/>
                    <a:pt x="9787" y="1989"/>
                    <a:pt x="9787" y="1786"/>
                  </a:cubicBezTo>
                  <a:cubicBezTo>
                    <a:pt x="9787" y="1477"/>
                    <a:pt x="9716" y="1179"/>
                    <a:pt x="9549" y="893"/>
                  </a:cubicBezTo>
                  <a:cubicBezTo>
                    <a:pt x="9406" y="631"/>
                    <a:pt x="9180" y="405"/>
                    <a:pt x="8894" y="238"/>
                  </a:cubicBezTo>
                  <a:cubicBezTo>
                    <a:pt x="8632" y="96"/>
                    <a:pt x="8335" y="0"/>
                    <a:pt x="8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73"/>
            <p:cNvSpPr/>
            <p:nvPr/>
          </p:nvSpPr>
          <p:spPr>
            <a:xfrm rot="8999897">
              <a:off x="-170840" y="4103279"/>
              <a:ext cx="715137" cy="400134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73"/>
            <p:cNvSpPr/>
            <p:nvPr/>
          </p:nvSpPr>
          <p:spPr>
            <a:xfrm rot="-1800033">
              <a:off x="-538781" y="375854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73"/>
            <p:cNvSpPr/>
            <p:nvPr/>
          </p:nvSpPr>
          <p:spPr>
            <a:xfrm rot="1800033">
              <a:off x="-648425" y="3192954"/>
              <a:ext cx="715082" cy="400103"/>
            </a:xfrm>
            <a:custGeom>
              <a:rect b="b" l="l" r="r" t="t"/>
              <a:pathLst>
                <a:path extrusionOk="0" h="8954" w="16003">
                  <a:moveTo>
                    <a:pt x="8025" y="1"/>
                  </a:moveTo>
                  <a:cubicBezTo>
                    <a:pt x="7692" y="1"/>
                    <a:pt x="7394" y="84"/>
                    <a:pt x="7132" y="239"/>
                  </a:cubicBezTo>
                  <a:cubicBezTo>
                    <a:pt x="6954" y="346"/>
                    <a:pt x="6799" y="477"/>
                    <a:pt x="6668" y="620"/>
                  </a:cubicBezTo>
                  <a:cubicBezTo>
                    <a:pt x="6126" y="1239"/>
                    <a:pt x="5519" y="1548"/>
                    <a:pt x="4912" y="1548"/>
                  </a:cubicBezTo>
                  <a:cubicBezTo>
                    <a:pt x="4305" y="1548"/>
                    <a:pt x="3697" y="1239"/>
                    <a:pt x="3156" y="620"/>
                  </a:cubicBezTo>
                  <a:cubicBezTo>
                    <a:pt x="3025" y="477"/>
                    <a:pt x="2858" y="358"/>
                    <a:pt x="2691" y="251"/>
                  </a:cubicBezTo>
                  <a:cubicBezTo>
                    <a:pt x="2418" y="84"/>
                    <a:pt x="2120" y="12"/>
                    <a:pt x="1798" y="12"/>
                  </a:cubicBezTo>
                  <a:cubicBezTo>
                    <a:pt x="1477" y="12"/>
                    <a:pt x="1179" y="108"/>
                    <a:pt x="905" y="251"/>
                  </a:cubicBezTo>
                  <a:cubicBezTo>
                    <a:pt x="632" y="417"/>
                    <a:pt x="405" y="643"/>
                    <a:pt x="251" y="905"/>
                  </a:cubicBezTo>
                  <a:cubicBezTo>
                    <a:pt x="96" y="1191"/>
                    <a:pt x="12" y="1489"/>
                    <a:pt x="1" y="1786"/>
                  </a:cubicBezTo>
                  <a:cubicBezTo>
                    <a:pt x="1" y="2108"/>
                    <a:pt x="96" y="2406"/>
                    <a:pt x="239" y="2679"/>
                  </a:cubicBezTo>
                  <a:cubicBezTo>
                    <a:pt x="405" y="2953"/>
                    <a:pt x="632" y="3179"/>
                    <a:pt x="894" y="3334"/>
                  </a:cubicBezTo>
                  <a:cubicBezTo>
                    <a:pt x="1179" y="3489"/>
                    <a:pt x="1477" y="3572"/>
                    <a:pt x="1786" y="3572"/>
                  </a:cubicBezTo>
                  <a:cubicBezTo>
                    <a:pt x="2120" y="3572"/>
                    <a:pt x="2418" y="3477"/>
                    <a:pt x="2679" y="3334"/>
                  </a:cubicBezTo>
                  <a:cubicBezTo>
                    <a:pt x="2858" y="3239"/>
                    <a:pt x="3013" y="3108"/>
                    <a:pt x="3144" y="2953"/>
                  </a:cubicBezTo>
                  <a:cubicBezTo>
                    <a:pt x="3686" y="2340"/>
                    <a:pt x="4293" y="2033"/>
                    <a:pt x="4900" y="2033"/>
                  </a:cubicBezTo>
                  <a:cubicBezTo>
                    <a:pt x="5507" y="2033"/>
                    <a:pt x="6114" y="2340"/>
                    <a:pt x="6656" y="2953"/>
                  </a:cubicBezTo>
                  <a:cubicBezTo>
                    <a:pt x="6775" y="3108"/>
                    <a:pt x="6942" y="3239"/>
                    <a:pt x="7097" y="3334"/>
                  </a:cubicBezTo>
                  <a:cubicBezTo>
                    <a:pt x="7275" y="3430"/>
                    <a:pt x="7454" y="3513"/>
                    <a:pt x="7656" y="3537"/>
                  </a:cubicBezTo>
                  <a:cubicBezTo>
                    <a:pt x="9264" y="3870"/>
                    <a:pt x="9930" y="5025"/>
                    <a:pt x="9406" y="6585"/>
                  </a:cubicBezTo>
                  <a:cubicBezTo>
                    <a:pt x="9347" y="6787"/>
                    <a:pt x="9323" y="6978"/>
                    <a:pt x="9323" y="7168"/>
                  </a:cubicBezTo>
                  <a:cubicBezTo>
                    <a:pt x="9323" y="7501"/>
                    <a:pt x="9406" y="7799"/>
                    <a:pt x="9561" y="8061"/>
                  </a:cubicBezTo>
                  <a:cubicBezTo>
                    <a:pt x="9716" y="8347"/>
                    <a:pt x="9942" y="8573"/>
                    <a:pt x="10216" y="8716"/>
                  </a:cubicBezTo>
                  <a:cubicBezTo>
                    <a:pt x="10490" y="8883"/>
                    <a:pt x="10788" y="8954"/>
                    <a:pt x="11109" y="8954"/>
                  </a:cubicBezTo>
                  <a:cubicBezTo>
                    <a:pt x="11431" y="8954"/>
                    <a:pt x="11728" y="8871"/>
                    <a:pt x="12002" y="8716"/>
                  </a:cubicBezTo>
                  <a:cubicBezTo>
                    <a:pt x="12276" y="8549"/>
                    <a:pt x="12502" y="8335"/>
                    <a:pt x="12657" y="8061"/>
                  </a:cubicBezTo>
                  <a:cubicBezTo>
                    <a:pt x="12812" y="7775"/>
                    <a:pt x="12895" y="7478"/>
                    <a:pt x="12895" y="7168"/>
                  </a:cubicBezTo>
                  <a:cubicBezTo>
                    <a:pt x="12895" y="6966"/>
                    <a:pt x="12859" y="6763"/>
                    <a:pt x="12800" y="6585"/>
                  </a:cubicBezTo>
                  <a:cubicBezTo>
                    <a:pt x="12276" y="5025"/>
                    <a:pt x="12931" y="3870"/>
                    <a:pt x="14562" y="3537"/>
                  </a:cubicBezTo>
                  <a:cubicBezTo>
                    <a:pt x="14752" y="3489"/>
                    <a:pt x="14943" y="3441"/>
                    <a:pt x="15110" y="3334"/>
                  </a:cubicBezTo>
                  <a:cubicBezTo>
                    <a:pt x="15395" y="3168"/>
                    <a:pt x="15610" y="2941"/>
                    <a:pt x="15764" y="2679"/>
                  </a:cubicBezTo>
                  <a:cubicBezTo>
                    <a:pt x="15931" y="2394"/>
                    <a:pt x="16003" y="2096"/>
                    <a:pt x="16003" y="1786"/>
                  </a:cubicBezTo>
                  <a:cubicBezTo>
                    <a:pt x="16003" y="1453"/>
                    <a:pt x="15907" y="1155"/>
                    <a:pt x="15764" y="893"/>
                  </a:cubicBezTo>
                  <a:cubicBezTo>
                    <a:pt x="15598" y="608"/>
                    <a:pt x="15372" y="382"/>
                    <a:pt x="15110" y="239"/>
                  </a:cubicBezTo>
                  <a:cubicBezTo>
                    <a:pt x="14824" y="72"/>
                    <a:pt x="14526" y="1"/>
                    <a:pt x="14217" y="1"/>
                  </a:cubicBezTo>
                  <a:cubicBezTo>
                    <a:pt x="13883" y="1"/>
                    <a:pt x="13586" y="84"/>
                    <a:pt x="13324" y="239"/>
                  </a:cubicBezTo>
                  <a:cubicBezTo>
                    <a:pt x="13038" y="405"/>
                    <a:pt x="12812" y="620"/>
                    <a:pt x="12669" y="893"/>
                  </a:cubicBezTo>
                  <a:cubicBezTo>
                    <a:pt x="12502" y="1167"/>
                    <a:pt x="12431" y="1465"/>
                    <a:pt x="12431" y="1786"/>
                  </a:cubicBezTo>
                  <a:cubicBezTo>
                    <a:pt x="12431" y="1989"/>
                    <a:pt x="12478" y="2203"/>
                    <a:pt x="12538" y="2382"/>
                  </a:cubicBezTo>
                  <a:cubicBezTo>
                    <a:pt x="12895" y="3418"/>
                    <a:pt x="12693" y="4287"/>
                    <a:pt x="12062" y="4834"/>
                  </a:cubicBezTo>
                  <a:cubicBezTo>
                    <a:pt x="11794" y="5067"/>
                    <a:pt x="11460" y="5183"/>
                    <a:pt x="11127" y="5183"/>
                  </a:cubicBezTo>
                  <a:cubicBezTo>
                    <a:pt x="10794" y="5183"/>
                    <a:pt x="10460" y="5067"/>
                    <a:pt x="10192" y="4834"/>
                  </a:cubicBezTo>
                  <a:cubicBezTo>
                    <a:pt x="9561" y="4263"/>
                    <a:pt x="9383" y="3406"/>
                    <a:pt x="9716" y="2358"/>
                  </a:cubicBezTo>
                  <a:cubicBezTo>
                    <a:pt x="9776" y="2167"/>
                    <a:pt x="9811" y="1977"/>
                    <a:pt x="9811" y="1786"/>
                  </a:cubicBezTo>
                  <a:cubicBezTo>
                    <a:pt x="9811" y="1453"/>
                    <a:pt x="9716" y="1155"/>
                    <a:pt x="9573" y="893"/>
                  </a:cubicBezTo>
                  <a:cubicBezTo>
                    <a:pt x="9406" y="608"/>
                    <a:pt x="9180" y="382"/>
                    <a:pt x="8918" y="239"/>
                  </a:cubicBezTo>
                  <a:cubicBezTo>
                    <a:pt x="8633" y="72"/>
                    <a:pt x="8335" y="1"/>
                    <a:pt x="8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73"/>
            <p:cNvSpPr/>
            <p:nvPr/>
          </p:nvSpPr>
          <p:spPr>
            <a:xfrm rot="8999897">
              <a:off x="-518949" y="453536"/>
              <a:ext cx="576292" cy="400134"/>
            </a:xfrm>
            <a:custGeom>
              <a:rect b="b" l="l" r="r" t="t"/>
              <a:pathLst>
                <a:path extrusionOk="0" h="8954" w="12896">
                  <a:moveTo>
                    <a:pt x="8002" y="1"/>
                  </a:moveTo>
                  <a:cubicBezTo>
                    <a:pt x="7680" y="1"/>
                    <a:pt x="7383" y="72"/>
                    <a:pt x="7109" y="239"/>
                  </a:cubicBezTo>
                  <a:cubicBezTo>
                    <a:pt x="6942" y="322"/>
                    <a:pt x="6776" y="465"/>
                    <a:pt x="6656" y="608"/>
                  </a:cubicBezTo>
                  <a:cubicBezTo>
                    <a:pt x="6113" y="1228"/>
                    <a:pt x="5505" y="1538"/>
                    <a:pt x="4896" y="1538"/>
                  </a:cubicBezTo>
                  <a:cubicBezTo>
                    <a:pt x="4290" y="1538"/>
                    <a:pt x="3685" y="1231"/>
                    <a:pt x="3144" y="620"/>
                  </a:cubicBezTo>
                  <a:cubicBezTo>
                    <a:pt x="3013" y="477"/>
                    <a:pt x="2858" y="346"/>
                    <a:pt x="2680" y="251"/>
                  </a:cubicBezTo>
                  <a:cubicBezTo>
                    <a:pt x="2418" y="108"/>
                    <a:pt x="2120" y="12"/>
                    <a:pt x="1787" y="12"/>
                  </a:cubicBezTo>
                  <a:cubicBezTo>
                    <a:pt x="1477" y="12"/>
                    <a:pt x="1180" y="84"/>
                    <a:pt x="894" y="251"/>
                  </a:cubicBezTo>
                  <a:cubicBezTo>
                    <a:pt x="632" y="405"/>
                    <a:pt x="406" y="620"/>
                    <a:pt x="239" y="905"/>
                  </a:cubicBezTo>
                  <a:cubicBezTo>
                    <a:pt x="96" y="1167"/>
                    <a:pt x="1" y="1465"/>
                    <a:pt x="1" y="1798"/>
                  </a:cubicBezTo>
                  <a:cubicBezTo>
                    <a:pt x="1" y="2108"/>
                    <a:pt x="84" y="2406"/>
                    <a:pt x="239" y="2691"/>
                  </a:cubicBezTo>
                  <a:cubicBezTo>
                    <a:pt x="394" y="2953"/>
                    <a:pt x="620" y="3179"/>
                    <a:pt x="894" y="3346"/>
                  </a:cubicBezTo>
                  <a:cubicBezTo>
                    <a:pt x="1168" y="3489"/>
                    <a:pt x="1465" y="3584"/>
                    <a:pt x="1787" y="3584"/>
                  </a:cubicBezTo>
                  <a:cubicBezTo>
                    <a:pt x="2108" y="3584"/>
                    <a:pt x="2406" y="3513"/>
                    <a:pt x="2680" y="3346"/>
                  </a:cubicBezTo>
                  <a:cubicBezTo>
                    <a:pt x="2846" y="3239"/>
                    <a:pt x="3013" y="3120"/>
                    <a:pt x="3144" y="2977"/>
                  </a:cubicBezTo>
                  <a:cubicBezTo>
                    <a:pt x="3687" y="2363"/>
                    <a:pt x="4304" y="2048"/>
                    <a:pt x="4914" y="2048"/>
                  </a:cubicBezTo>
                  <a:cubicBezTo>
                    <a:pt x="5120" y="2048"/>
                    <a:pt x="5324" y="2084"/>
                    <a:pt x="5525" y="2156"/>
                  </a:cubicBezTo>
                  <a:cubicBezTo>
                    <a:pt x="6192" y="2394"/>
                    <a:pt x="6597" y="3060"/>
                    <a:pt x="6466" y="3763"/>
                  </a:cubicBezTo>
                  <a:cubicBezTo>
                    <a:pt x="6299" y="4596"/>
                    <a:pt x="5644" y="5192"/>
                    <a:pt x="4561" y="5418"/>
                  </a:cubicBezTo>
                  <a:cubicBezTo>
                    <a:pt x="4370" y="5454"/>
                    <a:pt x="4192" y="5525"/>
                    <a:pt x="4001" y="5620"/>
                  </a:cubicBezTo>
                  <a:cubicBezTo>
                    <a:pt x="3739" y="5775"/>
                    <a:pt x="3513" y="5989"/>
                    <a:pt x="3358" y="6275"/>
                  </a:cubicBezTo>
                  <a:cubicBezTo>
                    <a:pt x="3204" y="6549"/>
                    <a:pt x="3108" y="6847"/>
                    <a:pt x="3108" y="7168"/>
                  </a:cubicBezTo>
                  <a:cubicBezTo>
                    <a:pt x="3108" y="7478"/>
                    <a:pt x="3192" y="7775"/>
                    <a:pt x="3358" y="8061"/>
                  </a:cubicBezTo>
                  <a:cubicBezTo>
                    <a:pt x="3501" y="8335"/>
                    <a:pt x="3728" y="8549"/>
                    <a:pt x="4001" y="8716"/>
                  </a:cubicBezTo>
                  <a:cubicBezTo>
                    <a:pt x="4275" y="8871"/>
                    <a:pt x="4573" y="8954"/>
                    <a:pt x="4894" y="8954"/>
                  </a:cubicBezTo>
                  <a:cubicBezTo>
                    <a:pt x="5216" y="8954"/>
                    <a:pt x="5513" y="8883"/>
                    <a:pt x="5787" y="8716"/>
                  </a:cubicBezTo>
                  <a:cubicBezTo>
                    <a:pt x="5954" y="8633"/>
                    <a:pt x="6121" y="8490"/>
                    <a:pt x="6240" y="8347"/>
                  </a:cubicBezTo>
                  <a:cubicBezTo>
                    <a:pt x="6783" y="7726"/>
                    <a:pt x="7392" y="7417"/>
                    <a:pt x="8000" y="7417"/>
                  </a:cubicBezTo>
                  <a:cubicBezTo>
                    <a:pt x="8606" y="7417"/>
                    <a:pt x="9212" y="7723"/>
                    <a:pt x="9752" y="8335"/>
                  </a:cubicBezTo>
                  <a:cubicBezTo>
                    <a:pt x="9883" y="8478"/>
                    <a:pt x="10038" y="8609"/>
                    <a:pt x="10216" y="8704"/>
                  </a:cubicBezTo>
                  <a:cubicBezTo>
                    <a:pt x="10478" y="8847"/>
                    <a:pt x="10776" y="8942"/>
                    <a:pt x="11109" y="8942"/>
                  </a:cubicBezTo>
                  <a:cubicBezTo>
                    <a:pt x="11419" y="8942"/>
                    <a:pt x="11717" y="8871"/>
                    <a:pt x="12002" y="8704"/>
                  </a:cubicBezTo>
                  <a:cubicBezTo>
                    <a:pt x="12264" y="8549"/>
                    <a:pt x="12491" y="8335"/>
                    <a:pt x="12657" y="8049"/>
                  </a:cubicBezTo>
                  <a:cubicBezTo>
                    <a:pt x="12800" y="7775"/>
                    <a:pt x="12895" y="7478"/>
                    <a:pt x="12895" y="7156"/>
                  </a:cubicBezTo>
                  <a:cubicBezTo>
                    <a:pt x="12895" y="6847"/>
                    <a:pt x="12824" y="6549"/>
                    <a:pt x="12657" y="6263"/>
                  </a:cubicBezTo>
                  <a:cubicBezTo>
                    <a:pt x="12502" y="5989"/>
                    <a:pt x="12288" y="5775"/>
                    <a:pt x="12002" y="5608"/>
                  </a:cubicBezTo>
                  <a:cubicBezTo>
                    <a:pt x="11729" y="5454"/>
                    <a:pt x="11431" y="5370"/>
                    <a:pt x="11109" y="5370"/>
                  </a:cubicBezTo>
                  <a:cubicBezTo>
                    <a:pt x="10800" y="5370"/>
                    <a:pt x="10502" y="5442"/>
                    <a:pt x="10216" y="5608"/>
                  </a:cubicBezTo>
                  <a:cubicBezTo>
                    <a:pt x="10050" y="5715"/>
                    <a:pt x="9883" y="5835"/>
                    <a:pt x="9752" y="5977"/>
                  </a:cubicBezTo>
                  <a:cubicBezTo>
                    <a:pt x="9209" y="6592"/>
                    <a:pt x="8592" y="6907"/>
                    <a:pt x="7982" y="6907"/>
                  </a:cubicBezTo>
                  <a:cubicBezTo>
                    <a:pt x="7777" y="6907"/>
                    <a:pt x="7572" y="6871"/>
                    <a:pt x="7371" y="6799"/>
                  </a:cubicBezTo>
                  <a:cubicBezTo>
                    <a:pt x="6704" y="6561"/>
                    <a:pt x="6299" y="5894"/>
                    <a:pt x="6430" y="5180"/>
                  </a:cubicBezTo>
                  <a:cubicBezTo>
                    <a:pt x="6597" y="4346"/>
                    <a:pt x="7240" y="3751"/>
                    <a:pt x="8323" y="3525"/>
                  </a:cubicBezTo>
                  <a:lnTo>
                    <a:pt x="8335" y="3525"/>
                  </a:lnTo>
                  <a:cubicBezTo>
                    <a:pt x="8538" y="3477"/>
                    <a:pt x="8716" y="3418"/>
                    <a:pt x="8895" y="3310"/>
                  </a:cubicBezTo>
                  <a:cubicBezTo>
                    <a:pt x="9157" y="3168"/>
                    <a:pt x="9383" y="2941"/>
                    <a:pt x="9550" y="2656"/>
                  </a:cubicBezTo>
                  <a:cubicBezTo>
                    <a:pt x="9693" y="2394"/>
                    <a:pt x="9788" y="2096"/>
                    <a:pt x="9788" y="1763"/>
                  </a:cubicBezTo>
                  <a:cubicBezTo>
                    <a:pt x="9788" y="1453"/>
                    <a:pt x="9704" y="1155"/>
                    <a:pt x="9550" y="870"/>
                  </a:cubicBezTo>
                  <a:cubicBezTo>
                    <a:pt x="9395" y="608"/>
                    <a:pt x="9169" y="382"/>
                    <a:pt x="8895" y="215"/>
                  </a:cubicBezTo>
                  <a:cubicBezTo>
                    <a:pt x="8633" y="84"/>
                    <a:pt x="8323" y="1"/>
                    <a:pt x="8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73"/>
            <p:cNvSpPr/>
            <p:nvPr/>
          </p:nvSpPr>
          <p:spPr>
            <a:xfrm rot="8999827">
              <a:off x="-281544" y="4491824"/>
              <a:ext cx="575755" cy="400164"/>
            </a:xfrm>
            <a:custGeom>
              <a:rect b="b" l="l" r="r" t="t"/>
              <a:pathLst>
                <a:path extrusionOk="0" h="8954" w="12883">
                  <a:moveTo>
                    <a:pt x="7990" y="0"/>
                  </a:moveTo>
                  <a:cubicBezTo>
                    <a:pt x="7680" y="0"/>
                    <a:pt x="7382" y="72"/>
                    <a:pt x="7097" y="238"/>
                  </a:cubicBezTo>
                  <a:cubicBezTo>
                    <a:pt x="6930" y="322"/>
                    <a:pt x="6787" y="465"/>
                    <a:pt x="6644" y="607"/>
                  </a:cubicBezTo>
                  <a:cubicBezTo>
                    <a:pt x="6101" y="1228"/>
                    <a:pt x="5495" y="1538"/>
                    <a:pt x="4887" y="1538"/>
                  </a:cubicBezTo>
                  <a:cubicBezTo>
                    <a:pt x="4281" y="1538"/>
                    <a:pt x="3672" y="1231"/>
                    <a:pt x="3120" y="619"/>
                  </a:cubicBezTo>
                  <a:cubicBezTo>
                    <a:pt x="2989" y="476"/>
                    <a:pt x="2834" y="357"/>
                    <a:pt x="2656" y="250"/>
                  </a:cubicBezTo>
                  <a:cubicBezTo>
                    <a:pt x="2394" y="107"/>
                    <a:pt x="2096" y="12"/>
                    <a:pt x="1763" y="12"/>
                  </a:cubicBezTo>
                  <a:cubicBezTo>
                    <a:pt x="1453" y="12"/>
                    <a:pt x="1155" y="84"/>
                    <a:pt x="870" y="250"/>
                  </a:cubicBezTo>
                  <a:cubicBezTo>
                    <a:pt x="631" y="369"/>
                    <a:pt x="393" y="596"/>
                    <a:pt x="239" y="881"/>
                  </a:cubicBezTo>
                  <a:cubicBezTo>
                    <a:pt x="84" y="1143"/>
                    <a:pt x="0" y="1441"/>
                    <a:pt x="0" y="1774"/>
                  </a:cubicBezTo>
                  <a:cubicBezTo>
                    <a:pt x="0" y="2084"/>
                    <a:pt x="72" y="2381"/>
                    <a:pt x="239" y="2667"/>
                  </a:cubicBezTo>
                  <a:cubicBezTo>
                    <a:pt x="381" y="2929"/>
                    <a:pt x="608" y="3155"/>
                    <a:pt x="893" y="3310"/>
                  </a:cubicBezTo>
                  <a:cubicBezTo>
                    <a:pt x="1155" y="3465"/>
                    <a:pt x="1453" y="3560"/>
                    <a:pt x="1786" y="3560"/>
                  </a:cubicBezTo>
                  <a:cubicBezTo>
                    <a:pt x="2096" y="3560"/>
                    <a:pt x="2394" y="3477"/>
                    <a:pt x="2679" y="3310"/>
                  </a:cubicBezTo>
                  <a:cubicBezTo>
                    <a:pt x="2834" y="3215"/>
                    <a:pt x="3001" y="3096"/>
                    <a:pt x="3132" y="2941"/>
                  </a:cubicBezTo>
                  <a:cubicBezTo>
                    <a:pt x="3679" y="2322"/>
                    <a:pt x="4287" y="2012"/>
                    <a:pt x="4892" y="2012"/>
                  </a:cubicBezTo>
                  <a:cubicBezTo>
                    <a:pt x="5498" y="2012"/>
                    <a:pt x="6102" y="2322"/>
                    <a:pt x="6644" y="2941"/>
                  </a:cubicBezTo>
                  <a:cubicBezTo>
                    <a:pt x="6787" y="3096"/>
                    <a:pt x="6930" y="3227"/>
                    <a:pt x="7108" y="3334"/>
                  </a:cubicBezTo>
                  <a:cubicBezTo>
                    <a:pt x="7275" y="3441"/>
                    <a:pt x="7466" y="3501"/>
                    <a:pt x="7656" y="3536"/>
                  </a:cubicBezTo>
                  <a:cubicBezTo>
                    <a:pt x="9264" y="3870"/>
                    <a:pt x="9942" y="5025"/>
                    <a:pt x="9418" y="6572"/>
                  </a:cubicBezTo>
                  <a:cubicBezTo>
                    <a:pt x="9359" y="6751"/>
                    <a:pt x="9311" y="6965"/>
                    <a:pt x="9311" y="7168"/>
                  </a:cubicBezTo>
                  <a:cubicBezTo>
                    <a:pt x="9311" y="7477"/>
                    <a:pt x="9383" y="7775"/>
                    <a:pt x="9549" y="8061"/>
                  </a:cubicBezTo>
                  <a:cubicBezTo>
                    <a:pt x="9704" y="8335"/>
                    <a:pt x="9918" y="8549"/>
                    <a:pt x="10204" y="8716"/>
                  </a:cubicBezTo>
                  <a:cubicBezTo>
                    <a:pt x="10478" y="8870"/>
                    <a:pt x="10776" y="8954"/>
                    <a:pt x="11097" y="8954"/>
                  </a:cubicBezTo>
                  <a:cubicBezTo>
                    <a:pt x="11407" y="8954"/>
                    <a:pt x="11704" y="8882"/>
                    <a:pt x="11990" y="8716"/>
                  </a:cubicBezTo>
                  <a:cubicBezTo>
                    <a:pt x="12264" y="8573"/>
                    <a:pt x="12478" y="8347"/>
                    <a:pt x="12645" y="8061"/>
                  </a:cubicBezTo>
                  <a:cubicBezTo>
                    <a:pt x="12800" y="7799"/>
                    <a:pt x="12883" y="7501"/>
                    <a:pt x="12883" y="7168"/>
                  </a:cubicBezTo>
                  <a:cubicBezTo>
                    <a:pt x="12883" y="6858"/>
                    <a:pt x="12812" y="6561"/>
                    <a:pt x="12645" y="6275"/>
                  </a:cubicBezTo>
                  <a:cubicBezTo>
                    <a:pt x="12502" y="6013"/>
                    <a:pt x="12276" y="5787"/>
                    <a:pt x="11990" y="5620"/>
                  </a:cubicBezTo>
                  <a:cubicBezTo>
                    <a:pt x="11823" y="5525"/>
                    <a:pt x="11633" y="5453"/>
                    <a:pt x="11442" y="5418"/>
                  </a:cubicBezTo>
                  <a:cubicBezTo>
                    <a:pt x="9835" y="5084"/>
                    <a:pt x="9144" y="3929"/>
                    <a:pt x="9668" y="2370"/>
                  </a:cubicBezTo>
                  <a:cubicBezTo>
                    <a:pt x="9728" y="2191"/>
                    <a:pt x="9775" y="1977"/>
                    <a:pt x="9775" y="1786"/>
                  </a:cubicBezTo>
                  <a:cubicBezTo>
                    <a:pt x="9775" y="1477"/>
                    <a:pt x="9704" y="1179"/>
                    <a:pt x="9537" y="893"/>
                  </a:cubicBezTo>
                  <a:cubicBezTo>
                    <a:pt x="9383" y="619"/>
                    <a:pt x="9168" y="405"/>
                    <a:pt x="8883" y="238"/>
                  </a:cubicBezTo>
                  <a:cubicBezTo>
                    <a:pt x="8609" y="84"/>
                    <a:pt x="8311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WikiLinks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LIVE DEMO · 3 MIN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Wikipedia → graph viz. Single HTML file, vanilla JS, d3.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the prompt — six things specific. Watch what it produces.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prompt. Ninety seconds. Working tool.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3" name="Google Shape;953;p77"/>
          <p:cNvSpPr/>
          <p:nvPr/>
        </p:nvSpPr>
        <p:spPr>
          <a:xfrm rot="8993546">
            <a:off x="4604992" y="3639601"/>
            <a:ext cx="7544804" cy="2750779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7"/>
          <p:cNvSpPr txBox="1"/>
          <p:nvPr>
            <p:ph type="title"/>
          </p:nvPr>
        </p:nvSpPr>
        <p:spPr>
          <a:xfrm>
            <a:off x="365750" y="54865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new tool — bigger leverage than any before it</a:t>
            </a:r>
            <a:endParaRPr/>
          </a:p>
        </p:txBody>
      </p:sp>
      <p:sp>
        <p:nvSpPr>
          <p:cNvPr id="955" name="Google Shape;955;p77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WE'RE DOING THIS</a:t>
            </a:r>
            <a:endParaRPr/>
          </a:p>
        </p:txBody>
      </p:sp>
      <p:sp>
        <p:nvSpPr>
          <p:cNvPr id="956" name="Google Shape;956;p7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77"/>
          <p:cNvSpPr txBox="1"/>
          <p:nvPr>
            <p:ph idx="2" type="body"/>
          </p:nvPr>
        </p:nvSpPr>
        <p:spPr>
          <a:xfrm>
            <a:off x="36575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IDE / refactoring → code became malleable.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Testing / TDD → behavior became a contract.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CI/CD → shipping became continuous.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Linters / type systems → errors moved left.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8" name="Google Shape;958;p77"/>
          <p:cNvSpPr txBox="1"/>
          <p:nvPr>
            <p:ph idx="3" type="body"/>
          </p:nvPr>
        </p:nvSpPr>
        <p:spPr>
          <a:xfrm>
            <a:off x="502920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Leverage order-of-magnitude bigger than any prior tool.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Failure mode is new: confidently wrong, plausibly wrong, fast.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Mindset shift is "delegate, review, steer" — not "learn the tool."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skill is judgment, not typing.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9" name="Google Shape;959;p77"/>
          <p:cNvSpPr/>
          <p:nvPr/>
        </p:nvSpPr>
        <p:spPr>
          <a:xfrm>
            <a:off x="8437075" y="4920500"/>
            <a:ext cx="726900" cy="22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0" name="Google Shape;960;p77"/>
          <p:cNvSpPr txBox="1"/>
          <p:nvPr>
            <p:ph idx="4" type="body"/>
          </p:nvPr>
        </p:nvSpPr>
        <p:spPr>
          <a:xfrm>
            <a:off x="36575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lineage we know</a:t>
            </a:r>
            <a:endParaRPr/>
          </a:p>
        </p:txBody>
      </p:sp>
      <p:sp>
        <p:nvSpPr>
          <p:cNvPr id="961" name="Google Shape;961;p77"/>
          <p:cNvSpPr txBox="1"/>
          <p:nvPr>
            <p:ph idx="5" type="body"/>
          </p:nvPr>
        </p:nvSpPr>
        <p:spPr>
          <a:xfrm>
            <a:off x="502920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What's genuinely new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7" name="Google Shape;1177;p9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8" name="Google Shape;1178;p94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4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4"/>
          <p:cNvSpPr txBox="1"/>
          <p:nvPr/>
        </p:nvSpPr>
        <p:spPr>
          <a:xfrm>
            <a:off x="1554475" y="1188726"/>
            <a:ext cx="61266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“It’s not about getting work done faster.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It’s about being able to ship projects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 wouldn’t have been able to justify spending time on.”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— Simon Willison, Mar 2025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9" name="Google Shape;1219;p97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agent tsunami (April 2026)</a:t>
            </a:r>
            <a:endParaRPr/>
          </a:p>
        </p:txBody>
      </p:sp>
      <p:sp>
        <p:nvSpPr>
          <p:cNvPr id="1220" name="Google Shape;1220;p9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1" name="Google Shape;1221;p97"/>
          <p:cNvSpPr txBox="1"/>
          <p:nvPr/>
        </p:nvSpPr>
        <p:spPr>
          <a:xfrm>
            <a:off x="1774391" y="1139202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275M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Commits / week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2" name="Google Shape;1222;p97"/>
          <p:cNvSpPr txBox="1"/>
          <p:nvPr/>
        </p:nvSpPr>
        <p:spPr>
          <a:xfrm>
            <a:off x="4778641" y="1139202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14×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Annual growth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3" name="Google Shape;1223;p97"/>
          <p:cNvSpPr txBox="1"/>
          <p:nvPr/>
        </p:nvSpPr>
        <p:spPr>
          <a:xfrm>
            <a:off x="2307563" y="2296115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17M+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AI PRs / month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4" name="Google Shape;1224;p97"/>
          <p:cNvSpPr txBox="1"/>
          <p:nvPr/>
        </p:nvSpPr>
        <p:spPr>
          <a:xfrm>
            <a:off x="4596063" y="2296115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80%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New Neon DBs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5" name="Google Shape;1225;p97"/>
          <p:cNvSpPr txBox="1"/>
          <p:nvPr/>
        </p:nvSpPr>
        <p:spPr>
          <a:xfrm>
            <a:off x="2307563" y="3453040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2.1B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Actions min / wk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6" name="Google Shape;1226;p97"/>
          <p:cNvSpPr txBox="1"/>
          <p:nvPr/>
        </p:nvSpPr>
        <p:spPr>
          <a:xfrm>
            <a:off x="4596063" y="3453040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#1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TypeScript on GH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7" name="Google Shape;1227;p97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years, four phases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From "saving keystrokes" to "engineering with non-human teammates"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Completion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PHASE 1 · 2021 – 2024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Copilot. Tab. Single-file context. Line-to-block completions.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Shaved 20–30% off boilerplate. Engineer in the driver's seat at every 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broke: subtly wrong completions that compiled. The hallucinated import.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Saving keystrokes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Vibe coding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PHASE 2 · FEB 2025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Sonnet 3.5/3.7. Cursor. ChatGPT desktop with code execution.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Designers, PMs, scientists shipping working tools without engineers.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Mindset: "describe, accept, run." Code becomes throwaway, prompt is the artifact.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Forget the code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7" name="Google Shape;1177;p9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8" name="Google Shape;1178;p94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4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4"/>
          <p:cNvSpPr txBox="1"/>
          <p:nvPr/>
        </p:nvSpPr>
        <p:spPr>
          <a:xfrm>
            <a:off x="1554475" y="1188726"/>
            <a:ext cx="61266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“Give in to the vibes,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embrace exponentials,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and forget that the code even exists.”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— Andrej Karpathy, 2 February 2025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harnesses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PHASE 3 · SUMMER – FALL 2025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Code, Codex, Cursor agent, Aider, opencode, Cline.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Filesystem + shell + loop. Read, edit, run, test, iterate without a human in between.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 becomes director, not typist. Tasks of a week → an afternoon.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model gets a shell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7" name="Google Shape;1177;p9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8" name="Google Shape;1178;p94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4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4"/>
          <p:cNvSpPr txBox="1"/>
          <p:nvPr/>
        </p:nvSpPr>
        <p:spPr>
          <a:xfrm>
            <a:off x="1554475" y="1188726"/>
            <a:ext cx="61266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“Context engineering —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delicate art and science of filling the context window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with just the right information for the next step.”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— Andrej Karpathy, 18 June 2025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engineering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PHASE 4 · LATE 2025 →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Reasoning models — Sonnet 4.5, Opus 4.5/4.6/4.7. Plan, self-correct, hold long arcs.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Spec-driven dev. TDD. AGENTS.md. Hooks. Code review.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Old practices come back as leverage, not ceremony.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New teammates, old practices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domain runs ahead of every other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CODING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Compiles. Tests pass. Or they don't.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Code has a ground truth most domains lack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model can check itself.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Generate → run → observe → correct.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Densest reward signal in any LLM domain.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Reasoning models trained on this exact loop shape.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Bash, grep, git, make. Stable for 30 years.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Linux is the lingua franca, well-represented in training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This stability is doing work for 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Verifiable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Tight RL loop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Ancient tools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7" name="Google Shape;1177;p9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8" name="Google Shape;1178;p94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4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4"/>
          <p:cNvSpPr txBox="1"/>
          <p:nvPr/>
        </p:nvSpPr>
        <p:spPr>
          <a:xfrm>
            <a:off x="1554475" y="1188726"/>
            <a:ext cx="61266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“Building is now cheap.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Knowing whether what you built is correct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is the expensive part.”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— after Simon Willison, Lenny’s Newsletter (Apr 2026)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we'll do today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Hands-on. Craft. More hands-on. The harder conversation. Q&amp;A.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 · 30 minutes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Build the tool you wished existed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rules — make 30 minutes feasible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VIBE CODING DONE WELL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tests for edge cases you'll never hit.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accessibility audit. No README.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Works for YOU — you're the only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feature, Unix philosophy.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you're adding a second, that's a v2.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Narrower scope = better prompt = faster build.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One HTML file, OR one skill, OR one CLI script.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No monorepo, no build step, no scaffolding.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Reach for npm or cargo init = exited the exercise.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Personal use only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task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Single artifact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0" name="Google Shape;980;p79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build</a:t>
            </a:r>
            <a:endParaRPr/>
          </a:p>
        </p:txBody>
      </p:sp>
      <p:sp>
        <p:nvSpPr>
          <p:cNvPr id="981" name="Google Shape;981;p79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SIX CATEGORIES — PICK ONE, DON'T AGONIZE</a:t>
            </a:r>
            <a:endParaRPr/>
          </a:p>
        </p:txBody>
      </p:sp>
      <p:sp>
        <p:nvSpPr>
          <p:cNvPr id="982" name="Google Shape;982;p7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3" name="Google Shape;983;p79"/>
          <p:cNvSpPr txBox="1"/>
          <p:nvPr>
            <p:ph idx="2" type="body"/>
          </p:nvPr>
        </p:nvSpPr>
        <p:spPr>
          <a:xfrm>
            <a:off x="365750" y="1737369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CSV ↔ JSON. Time zones. Units.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Regex tester. A weekly 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do by hand right 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84" name="Google Shape;984;p79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79"/>
          <p:cNvSpPr txBox="1"/>
          <p:nvPr>
            <p:ph idx="4" type="body"/>
          </p:nvPr>
        </p:nvSpPr>
        <p:spPr>
          <a:xfrm>
            <a:off x="2548850" y="1737360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Drop in a file → see something useful.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Strava export. Markdown folder.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Screenshots, your podcast feed.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86" name="Google Shape;986;p79"/>
          <p:cNvSpPr txBox="1"/>
          <p:nvPr>
            <p:ph idx="5" type="body"/>
          </p:nvPr>
        </p:nvSpPr>
        <p:spPr>
          <a:xfrm>
            <a:off x="6915000" y="1737360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Names. Passwords. ASCII art.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Diagram scaffolder. Anything 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"give me ten of X" is the use case.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7" name="Google Shape;987;p79"/>
          <p:cNvSpPr txBox="1"/>
          <p:nvPr>
            <p:ph idx="3" type="body"/>
          </p:nvPr>
        </p:nvSpPr>
        <p:spPr>
          <a:xfrm>
            <a:off x="4731900" y="1737360"/>
            <a:ext cx="15888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Checklist. Scorer. Sliders.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"Should I do X?" tools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constraints and weights.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88" name="Google Shape;988;p79"/>
          <p:cNvSpPr txBox="1"/>
          <p:nvPr>
            <p:ph idx="6" type="body"/>
          </p:nvPr>
        </p:nvSpPr>
        <p:spPr>
          <a:xfrm>
            <a:off x="365750" y="1280150"/>
            <a:ext cx="15888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Format converter</a:t>
            </a:r>
            <a:endParaRPr/>
          </a:p>
        </p:txBody>
      </p:sp>
      <p:sp>
        <p:nvSpPr>
          <p:cNvPr id="989" name="Google Shape;989;p79"/>
          <p:cNvSpPr txBox="1"/>
          <p:nvPr>
            <p:ph idx="7" type="body"/>
          </p:nvPr>
        </p:nvSpPr>
        <p:spPr>
          <a:xfrm>
            <a:off x="2548825" y="1280160"/>
            <a:ext cx="1588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viewer</a:t>
            </a:r>
            <a:endParaRPr/>
          </a:p>
        </p:txBody>
      </p:sp>
      <p:sp>
        <p:nvSpPr>
          <p:cNvPr id="990" name="Google Shape;990;p79"/>
          <p:cNvSpPr txBox="1"/>
          <p:nvPr>
            <p:ph idx="8" type="body"/>
          </p:nvPr>
        </p:nvSpPr>
        <p:spPr>
          <a:xfrm>
            <a:off x="4731925" y="1280160"/>
            <a:ext cx="1588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Decision aid</a:t>
            </a:r>
            <a:endParaRPr/>
          </a:p>
        </p:txBody>
      </p:sp>
      <p:sp>
        <p:nvSpPr>
          <p:cNvPr id="991" name="Google Shape;991;p79"/>
          <p:cNvSpPr txBox="1"/>
          <p:nvPr>
            <p:ph idx="9" type="body"/>
          </p:nvPr>
        </p:nvSpPr>
        <p:spPr>
          <a:xfrm>
            <a:off x="6915000" y="1280160"/>
            <a:ext cx="1588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Content generator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9" name="Google Shape;1129;p90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every strong prompt names</a:t>
            </a:r>
            <a:endParaRPr/>
          </a:p>
        </p:txBody>
      </p:sp>
      <p:sp>
        <p:nvSpPr>
          <p:cNvPr id="1130" name="Google Shape;1130;p9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1" name="Google Shape;1131;p90"/>
          <p:cNvSpPr/>
          <p:nvPr/>
        </p:nvSpPr>
        <p:spPr>
          <a:xfrm>
            <a:off x="1039241" y="1450466"/>
            <a:ext cx="515771" cy="515770"/>
          </a:xfrm>
          <a:custGeom>
            <a:rect b="b" l="l" r="r" t="t"/>
            <a:pathLst>
              <a:path extrusionOk="0" h="3572" w="3573">
                <a:moveTo>
                  <a:pt x="1786" y="0"/>
                </a:moveTo>
                <a:cubicBezTo>
                  <a:pt x="1477" y="0"/>
                  <a:pt x="1179" y="72"/>
                  <a:pt x="893" y="238"/>
                </a:cubicBezTo>
                <a:cubicBezTo>
                  <a:pt x="631" y="381"/>
                  <a:pt x="405" y="607"/>
                  <a:pt x="239" y="893"/>
                </a:cubicBezTo>
                <a:cubicBezTo>
                  <a:pt x="96" y="1155"/>
                  <a:pt x="0" y="1453"/>
                  <a:pt x="0" y="1786"/>
                </a:cubicBezTo>
                <a:cubicBezTo>
                  <a:pt x="0" y="2096"/>
                  <a:pt x="72" y="2393"/>
                  <a:pt x="239" y="2679"/>
                </a:cubicBezTo>
                <a:cubicBezTo>
                  <a:pt x="393" y="2941"/>
                  <a:pt x="608" y="3167"/>
                  <a:pt x="893" y="3334"/>
                </a:cubicBezTo>
                <a:cubicBezTo>
                  <a:pt x="1143" y="3477"/>
                  <a:pt x="1465" y="3572"/>
                  <a:pt x="1786" y="3572"/>
                </a:cubicBezTo>
                <a:cubicBezTo>
                  <a:pt x="2096" y="3572"/>
                  <a:pt x="2394" y="3489"/>
                  <a:pt x="2679" y="3334"/>
                </a:cubicBezTo>
                <a:cubicBezTo>
                  <a:pt x="2953" y="3179"/>
                  <a:pt x="3168" y="2953"/>
                  <a:pt x="3334" y="2679"/>
                </a:cubicBezTo>
                <a:cubicBezTo>
                  <a:pt x="3477" y="2405"/>
                  <a:pt x="3572" y="2107"/>
                  <a:pt x="3572" y="1786"/>
                </a:cubicBezTo>
                <a:cubicBezTo>
                  <a:pt x="3572" y="1465"/>
                  <a:pt x="3501" y="1167"/>
                  <a:pt x="3334" y="893"/>
                </a:cubicBezTo>
                <a:cubicBezTo>
                  <a:pt x="3179" y="619"/>
                  <a:pt x="2965" y="393"/>
                  <a:pt x="2679" y="238"/>
                </a:cubicBezTo>
                <a:cubicBezTo>
                  <a:pt x="2417" y="83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90"/>
          <p:cNvSpPr/>
          <p:nvPr/>
        </p:nvSpPr>
        <p:spPr>
          <a:xfrm>
            <a:off x="1039241" y="2491246"/>
            <a:ext cx="1414654" cy="515771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90"/>
          <p:cNvSpPr/>
          <p:nvPr/>
        </p:nvSpPr>
        <p:spPr>
          <a:xfrm>
            <a:off x="1039241" y="3532080"/>
            <a:ext cx="2310073" cy="515771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90"/>
          <p:cNvSpPr txBox="1"/>
          <p:nvPr/>
        </p:nvSpPr>
        <p:spPr>
          <a:xfrm>
            <a:off x="1707425" y="1496150"/>
            <a:ext cx="67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Tech stack</a:t>
            </a:r>
            <a:endParaRPr b="1" sz="1600"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“single HTML file, vanilla JS, no build step”</a:t>
            </a:r>
            <a:endParaRPr b="1" sz="1600"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5" name="Google Shape;1135;p90"/>
          <p:cNvSpPr txBox="1"/>
          <p:nvPr/>
        </p:nvSpPr>
        <p:spPr>
          <a:xfrm>
            <a:off x="2606300" y="2536925"/>
            <a:ext cx="58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Inputs and outputs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“text area takes JSON, button copies output to clipboard”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6" name="Google Shape;1136;p90"/>
          <p:cNvSpPr txBox="1"/>
          <p:nvPr/>
        </p:nvSpPr>
        <p:spPr>
          <a:xfrm>
            <a:off x="3501725" y="3582125"/>
            <a:ext cx="50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Algorithm or rule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“parse with X, group by Y, sort descending”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7" name="Google Shape;1137;p90"/>
          <p:cNvSpPr txBox="1"/>
          <p:nvPr/>
        </p:nvSpPr>
        <p:spPr>
          <a:xfrm>
            <a:off x="1039250" y="1348975"/>
            <a:ext cx="515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rPr>
              <a:t>1</a:t>
            </a:r>
            <a:endParaRPr sz="3600">
              <a:solidFill>
                <a:schemeClr val="accent6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1138" name="Google Shape;1138;p90"/>
          <p:cNvSpPr txBox="1"/>
          <p:nvPr/>
        </p:nvSpPr>
        <p:spPr>
          <a:xfrm>
            <a:off x="1936438" y="2381525"/>
            <a:ext cx="515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rPr>
              <a:t>2</a:t>
            </a:r>
            <a:endParaRPr sz="3600">
              <a:solidFill>
                <a:schemeClr val="accent6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1139" name="Google Shape;1139;p90"/>
          <p:cNvSpPr txBox="1"/>
          <p:nvPr/>
        </p:nvSpPr>
        <p:spPr>
          <a:xfrm>
            <a:off x="2833613" y="3390917"/>
            <a:ext cx="515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rPr>
              <a:t>3</a:t>
            </a:r>
            <a:endParaRPr sz="3600">
              <a:solidFill>
                <a:schemeClr val="accent6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rhythm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22 MINUTES, ONE PROMPT, ONE TOOL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0:05  decide and write the prompt (specific, all five things)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0:20  run, fix, use it. Targeted follow-ups, two-fix limit.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0:30  save it, ready to show. No plan mode. No task breakdown.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prompt → run → at most two fixes → use it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and tell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30 seconds each — what you built, did one prompt do it, what surprised you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· 10 minutes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Coffee. Stretch. Back at &lt;time&gt;.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Harnesses &amp; tool use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the body works — and where the levers are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boxes every harness has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ANATOMY OF ANY HARNESS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System prompt — behavior, safety, persona.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loop — read user → call model → parse tool calls → execute → repeat.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Tools — Bash, file ops, grep, web fetch, LSP, MCP, planning.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Context mgmt — caching, compaction, deferred tool loading.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Permissions — modes, risk classifier, protected paths, hooks.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State / memory — session, transcript, AGENTS.md, persistent memory.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System prompt + Loop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Tools + Context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Permissions + State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3" name="Google Shape;953;p77"/>
          <p:cNvSpPr/>
          <p:nvPr/>
        </p:nvSpPr>
        <p:spPr>
          <a:xfrm rot="8993546">
            <a:off x="4604992" y="3639601"/>
            <a:ext cx="7544804" cy="2750779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7"/>
          <p:cNvSpPr txBox="1"/>
          <p:nvPr>
            <p:ph type="title"/>
          </p:nvPr>
        </p:nvSpPr>
        <p:spPr>
          <a:xfrm>
            <a:off x="365750" y="54865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 vs IDE — same anatomy, different ergonomics</a:t>
            </a:r>
            <a:endParaRPr/>
          </a:p>
        </p:txBody>
      </p:sp>
      <p:sp>
        <p:nvSpPr>
          <p:cNvPr id="955" name="Google Shape;955;p77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TWO FAMILIES</a:t>
            </a:r>
            <a:endParaRPr/>
          </a:p>
        </p:txBody>
      </p:sp>
      <p:sp>
        <p:nvSpPr>
          <p:cNvPr id="956" name="Google Shape;956;p7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77"/>
          <p:cNvSpPr txBox="1"/>
          <p:nvPr>
            <p:ph idx="2" type="body"/>
          </p:nvPr>
        </p:nvSpPr>
        <p:spPr>
          <a:xfrm>
            <a:off x="36575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Claude Code, Codex CLI, Aider, opencode, Goose, Crush, Pi, Gemini CLI.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Long autonomous runs. Hooks. Sub-agents. Scripting. CI integration.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Parallel worktrees.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8" name="Google Shape;958;p77"/>
          <p:cNvSpPr txBox="1"/>
          <p:nvPr>
            <p:ph idx="3" type="body"/>
          </p:nvPr>
        </p:nvSpPr>
        <p:spPr>
          <a:xfrm>
            <a:off x="502920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Cursor, Cline, Windsurf, Copilot agent, Junie, Antigravity.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Live diff review. Inline edits. Parallel agent tabs (Cursor 3, Windsurf).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Onboarding for non-CLI engineers.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9" name="Google Shape;959;p77"/>
          <p:cNvSpPr/>
          <p:nvPr/>
        </p:nvSpPr>
        <p:spPr>
          <a:xfrm>
            <a:off x="8437075" y="4920500"/>
            <a:ext cx="726900" cy="22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0" name="Google Shape;960;p77"/>
          <p:cNvSpPr txBox="1"/>
          <p:nvPr>
            <p:ph idx="4" type="body"/>
          </p:nvPr>
        </p:nvSpPr>
        <p:spPr>
          <a:xfrm>
            <a:off x="36575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CLI-first</a:t>
            </a:r>
            <a:endParaRPr/>
          </a:p>
        </p:txBody>
      </p:sp>
      <p:sp>
        <p:nvSpPr>
          <p:cNvPr id="961" name="Google Shape;961;p77"/>
          <p:cNvSpPr txBox="1"/>
          <p:nvPr>
            <p:ph idx="5" type="body"/>
          </p:nvPr>
        </p:nvSpPr>
        <p:spPr>
          <a:xfrm>
            <a:off x="502920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IDE-first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context strategies in the wild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ARCHITECTURAL BETS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Aider's signature.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PageRank-over-symbols, AST-derived.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Token-efficient on million-line repos.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Cursor's approach.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Chunked embedding lookups.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Flexible, opaque about what got retrieved.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Gemini CLI's bet.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1M-token window often replaces RAG entirely.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Simple, expensive at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Repo-map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Vector RAG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Whole-context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7" name="Google Shape;1117;p89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tool-use ladder — six rungs</a:t>
            </a:r>
            <a:endParaRPr/>
          </a:p>
        </p:txBody>
      </p:sp>
      <p:sp>
        <p:nvSpPr>
          <p:cNvPr id="1118" name="Google Shape;1118;p89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9" name="Google Shape;1119;p89"/>
          <p:cNvSpPr/>
          <p:nvPr/>
        </p:nvSpPr>
        <p:spPr>
          <a:xfrm>
            <a:off x="2160042" y="1450466"/>
            <a:ext cx="515771" cy="515770"/>
          </a:xfrm>
          <a:custGeom>
            <a:rect b="b" l="l" r="r" t="t"/>
            <a:pathLst>
              <a:path extrusionOk="0" h="3572" w="3573">
                <a:moveTo>
                  <a:pt x="1786" y="0"/>
                </a:moveTo>
                <a:cubicBezTo>
                  <a:pt x="1477" y="0"/>
                  <a:pt x="1179" y="72"/>
                  <a:pt x="893" y="238"/>
                </a:cubicBezTo>
                <a:cubicBezTo>
                  <a:pt x="631" y="381"/>
                  <a:pt x="405" y="607"/>
                  <a:pt x="239" y="893"/>
                </a:cubicBezTo>
                <a:cubicBezTo>
                  <a:pt x="96" y="1155"/>
                  <a:pt x="0" y="1453"/>
                  <a:pt x="0" y="1786"/>
                </a:cubicBezTo>
                <a:cubicBezTo>
                  <a:pt x="0" y="2096"/>
                  <a:pt x="72" y="2393"/>
                  <a:pt x="239" y="2679"/>
                </a:cubicBezTo>
                <a:cubicBezTo>
                  <a:pt x="393" y="2941"/>
                  <a:pt x="608" y="3167"/>
                  <a:pt x="893" y="3334"/>
                </a:cubicBezTo>
                <a:cubicBezTo>
                  <a:pt x="1143" y="3477"/>
                  <a:pt x="1465" y="3572"/>
                  <a:pt x="1786" y="3572"/>
                </a:cubicBezTo>
                <a:cubicBezTo>
                  <a:pt x="2096" y="3572"/>
                  <a:pt x="2394" y="3489"/>
                  <a:pt x="2679" y="3334"/>
                </a:cubicBezTo>
                <a:cubicBezTo>
                  <a:pt x="2953" y="3179"/>
                  <a:pt x="3168" y="2953"/>
                  <a:pt x="3334" y="2679"/>
                </a:cubicBezTo>
                <a:cubicBezTo>
                  <a:pt x="3477" y="2405"/>
                  <a:pt x="3572" y="2107"/>
                  <a:pt x="3572" y="1786"/>
                </a:cubicBezTo>
                <a:cubicBezTo>
                  <a:pt x="3572" y="1465"/>
                  <a:pt x="3501" y="1167"/>
                  <a:pt x="3334" y="893"/>
                </a:cubicBezTo>
                <a:cubicBezTo>
                  <a:pt x="3179" y="619"/>
                  <a:pt x="2965" y="393"/>
                  <a:pt x="2679" y="238"/>
                </a:cubicBezTo>
                <a:cubicBezTo>
                  <a:pt x="2417" y="83"/>
                  <a:pt x="2120" y="0"/>
                  <a:pt x="17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89"/>
          <p:cNvSpPr/>
          <p:nvPr/>
        </p:nvSpPr>
        <p:spPr>
          <a:xfrm>
            <a:off x="1261139" y="2491246"/>
            <a:ext cx="1414654" cy="515771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89"/>
          <p:cNvSpPr/>
          <p:nvPr/>
        </p:nvSpPr>
        <p:spPr>
          <a:xfrm>
            <a:off x="365741" y="3532080"/>
            <a:ext cx="2310073" cy="515771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89"/>
          <p:cNvSpPr txBox="1"/>
          <p:nvPr/>
        </p:nvSpPr>
        <p:spPr>
          <a:xfrm>
            <a:off x="2831625" y="1496152"/>
            <a:ext cx="366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1 · Built-in</a:t>
            </a:r>
            <a:endParaRPr b="1" sz="1600"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Read · Edit · Bash · Grep · WebFetch — zero effort, lowest cost</a:t>
            </a:r>
            <a:endParaRPr b="1" sz="1600"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3" name="Google Shape;1123;p89"/>
          <p:cNvSpPr txBox="1"/>
          <p:nvPr/>
        </p:nvSpPr>
        <p:spPr>
          <a:xfrm>
            <a:off x="2831625" y="2536927"/>
            <a:ext cx="43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2 · Linux CLI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jq · sed · awk · ripgrep · git — free leverage, model is fluent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4" name="Google Shape;1124;p89"/>
          <p:cNvSpPr txBox="1"/>
          <p:nvPr/>
        </p:nvSpPr>
        <p:spPr>
          <a:xfrm>
            <a:off x="2831625" y="3582125"/>
            <a:ext cx="479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3 · Code snippets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python -c · node -e · awk one-liners — throwaway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productivity actually comes from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FIVE CRAFT LEVERS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Start fresh per task. One topic per session.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Plan mode for ~80% of tasks (CC creator's number).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Plan-mode is a gate, not magic.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Cache boundary. /clear, /compact at 70%.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Deferred tool loading.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Haiku for glue, Sonnet for bulk, Opus for hard.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~10 core tools in the prompt; rest deferred.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Hooks = deterministic shell at lifecycle events.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Skills bundle expertise. MCP for external platforms.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Sessions + Plan mode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Context + Models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Tools, hooks, skills, MCP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&amp; token economics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New top skill in 2026 — same model, same task, 10× cost difference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session is a long invoice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MENTAL MODEL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CLAUDE.md, hooks, skills, MCP schemas, conversation history, cache miss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pre-charged before your prompt.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90-day audit (430 hours, $1,340): only 27% of tokens were productive.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73% was overhead. The bloat is in context, not model choice.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Productive tokens are the residual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9" name="Google Shape;1219;p97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 invisible patterns of waste</a:t>
            </a:r>
            <a:endParaRPr/>
          </a:p>
        </p:txBody>
      </p:sp>
      <p:sp>
        <p:nvSpPr>
          <p:cNvPr id="1220" name="Google Shape;1220;p9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1" name="Google Shape;1221;p97"/>
          <p:cNvSpPr txBox="1"/>
          <p:nvPr/>
        </p:nvSpPr>
        <p:spPr>
          <a:xfrm>
            <a:off x="1774391" y="1139202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14%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CLAUDE.md bloat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2" name="Google Shape;1222;p97"/>
          <p:cNvSpPr txBox="1"/>
          <p:nvPr/>
        </p:nvSpPr>
        <p:spPr>
          <a:xfrm>
            <a:off x="4778641" y="1139202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13%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History re-reads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3" name="Google Shape;1223;p97"/>
          <p:cNvSpPr txBox="1"/>
          <p:nvPr/>
        </p:nvSpPr>
        <p:spPr>
          <a:xfrm>
            <a:off x="2307563" y="2296115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11%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Hook injection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4" name="Google Shape;1224;p97"/>
          <p:cNvSpPr txBox="1"/>
          <p:nvPr/>
        </p:nvSpPr>
        <p:spPr>
          <a:xfrm>
            <a:off x="4596063" y="2296115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10%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Cache miss on resume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5" name="Google Shape;1225;p97"/>
          <p:cNvSpPr txBox="1"/>
          <p:nvPr/>
        </p:nvSpPr>
        <p:spPr>
          <a:xfrm>
            <a:off x="2307563" y="3453040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7%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Skill auto-loading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6" name="Google Shape;1226;p97"/>
          <p:cNvSpPr txBox="1"/>
          <p:nvPr/>
        </p:nvSpPr>
        <p:spPr>
          <a:xfrm>
            <a:off x="4596063" y="3453040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6%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MCP tool schemas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7" name="Google Shape;1227;p97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Offload · Consolidate · Retrieve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THREE MOVES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Get info OUT of the prompt.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/clear (free). Filesystem notes.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Vector DB. Graph for structural.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Reduce what's already in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/compact at ~70%.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Sub-agent fork → digest.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Bring exactly what's needed.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Prompt caching (10× discount).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Deferred tool loading. RAG.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Offload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Consolidate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Retrieve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measurement and reduction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FIVE TOOLS WORTH KNOWING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ccusage — reads ~/.claude JSONL.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Tokens by model, type, 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 facto standard. Install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RTK — proxy. 60-90% on git/grep/test.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headroom — context interceptor.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SmartCrusher, reversible. ~50%.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caveman — output rewriter, 65-75%.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Built-in: caching, /clear, /compact,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token-efficient tools (Claude 4.x).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Measure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Reduce input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Reduce output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9" name="Google Shape;1219;p97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model pricing (per Mtok)</a:t>
            </a:r>
            <a:endParaRPr/>
          </a:p>
        </p:txBody>
      </p:sp>
      <p:sp>
        <p:nvSpPr>
          <p:cNvPr id="1220" name="Google Shape;1220;p9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1" name="Google Shape;1221;p97"/>
          <p:cNvSpPr txBox="1"/>
          <p:nvPr/>
        </p:nvSpPr>
        <p:spPr>
          <a:xfrm>
            <a:off x="1774391" y="1139202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$1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Haiku 4.5 in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2" name="Google Shape;1222;p97"/>
          <p:cNvSpPr txBox="1"/>
          <p:nvPr/>
        </p:nvSpPr>
        <p:spPr>
          <a:xfrm>
            <a:off x="4778641" y="1139202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$3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Sonnet 4.x in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3" name="Google Shape;1223;p97"/>
          <p:cNvSpPr txBox="1"/>
          <p:nvPr/>
        </p:nvSpPr>
        <p:spPr>
          <a:xfrm>
            <a:off x="2307563" y="2296115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$5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Opus 4.5 in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4" name="Google Shape;1224;p97"/>
          <p:cNvSpPr txBox="1"/>
          <p:nvPr/>
        </p:nvSpPr>
        <p:spPr>
          <a:xfrm>
            <a:off x="4596063" y="2296115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$5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GPT-5.5 in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5" name="Google Shape;1225;p97"/>
          <p:cNvSpPr txBox="1"/>
          <p:nvPr/>
        </p:nvSpPr>
        <p:spPr>
          <a:xfrm>
            <a:off x="2307563" y="3453040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$1.25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GPT-5 in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6" name="Google Shape;1226;p97"/>
          <p:cNvSpPr txBox="1"/>
          <p:nvPr/>
        </p:nvSpPr>
        <p:spPr>
          <a:xfrm>
            <a:off x="4596063" y="3453040"/>
            <a:ext cx="22437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AFF00"/>
                </a:solidFill>
                <a:latin typeface="Public Sans"/>
                <a:ea typeface="Public Sans"/>
                <a:cs typeface="Public Sans"/>
                <a:sym typeface="Public Sans"/>
              </a:rPr>
              <a:t>$2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" sz="1600">
                <a:solidFill>
                  <a:srgbClr val="8FE3E8"/>
                </a:solidFill>
                <a:latin typeface="Public Sans"/>
                <a:ea typeface="Public Sans"/>
                <a:cs typeface="Public Sans"/>
                <a:sym typeface="Public Sans"/>
              </a:rPr>
              <a:t>Gemini 3 Pro in</a:t>
            </a:r>
            <a:endParaRPr sz="1600">
              <a:solidFill>
                <a:srgbClr val="8FE3E8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7" name="Google Shape;1227;p97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Direction yes. Absolute no. Run your own.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benchmark landscape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5 FAMILIES — LEAST → MOST REALISTIC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HumanEval, MBPP, MultiPL-E.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Saturated &gt;95% — historical only.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BigCodeBench is less saturated.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SWE-bench Verified — top ~88%.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Terminal-Bench 2.0 — CC 92%, Codex 77%.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Single-repo, contamination-sensitive.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METR — +19% SLOWDOWN in 2025 RCT.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SWE-Lancer — $1M real Upwork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Your own 3-task eval beats them 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Function-level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Repo-issue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Real-work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your own three-task eval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HONEST TAKE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3 tasks from your last sprint (easy, medium, nasty).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each tool on them — once a quarter.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 yourself on review burden, not just task completion.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the only number that matters for procurement.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Internal eval beats public leaderboards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AGENTS.md · plan mode · ralphing · spec-driven · the per-task loop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3" name="Google Shape;953;p77"/>
          <p:cNvSpPr/>
          <p:nvPr/>
        </p:nvSpPr>
        <p:spPr>
          <a:xfrm rot="8993546">
            <a:off x="4604992" y="3639601"/>
            <a:ext cx="7544804" cy="2750779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7"/>
          <p:cNvSpPr txBox="1"/>
          <p:nvPr>
            <p:ph type="title"/>
          </p:nvPr>
        </p:nvSpPr>
        <p:spPr>
          <a:xfrm>
            <a:off x="365750" y="54865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gaps of your new teammate</a:t>
            </a:r>
            <a:endParaRPr/>
          </a:p>
        </p:txBody>
      </p:sp>
      <p:sp>
        <p:nvSpPr>
          <p:cNvPr id="955" name="Google Shape;955;p77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MENTORING FRAME</a:t>
            </a:r>
            <a:endParaRPr/>
          </a:p>
        </p:txBody>
      </p:sp>
      <p:sp>
        <p:nvSpPr>
          <p:cNvPr id="956" name="Google Shape;956;p7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77"/>
          <p:cNvSpPr txBox="1"/>
          <p:nvPr>
            <p:ph idx="2" type="body"/>
          </p:nvPr>
        </p:nvSpPr>
        <p:spPr>
          <a:xfrm>
            <a:off x="36575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Infinite patience. No ego, accepts correction.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Endurance — hour 8 same as hour 1, 3am same as 9am.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Deep dives — reads the whole RFC, every linked spec.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Consistent rule-following.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Massive surface area — every framework, every API.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8" name="Google Shape;958;p77"/>
          <p:cNvSpPr txBox="1"/>
          <p:nvPr>
            <p:ph idx="3" type="body"/>
          </p:nvPr>
        </p:nvSpPr>
        <p:spPr>
          <a:xfrm>
            <a:off x="502920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project memory — yesterday's PR is news every morning.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production scars in YOUR codebase.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taste calibrated to your team's trade-offs.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Can't read between the lines of a Slack thread.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causal reasoning about WHY past decisions were made.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9" name="Google Shape;959;p77"/>
          <p:cNvSpPr/>
          <p:nvPr/>
        </p:nvSpPr>
        <p:spPr>
          <a:xfrm>
            <a:off x="8437075" y="4920500"/>
            <a:ext cx="726900" cy="22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0" name="Google Shape;960;p77"/>
          <p:cNvSpPr txBox="1"/>
          <p:nvPr>
            <p:ph idx="4" type="body"/>
          </p:nvPr>
        </p:nvSpPr>
        <p:spPr>
          <a:xfrm>
            <a:off x="36575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it has (better than humans)</a:t>
            </a:r>
            <a:endParaRPr/>
          </a:p>
        </p:txBody>
      </p:sp>
      <p:sp>
        <p:nvSpPr>
          <p:cNvPr id="961" name="Google Shape;961;p77"/>
          <p:cNvSpPr txBox="1"/>
          <p:nvPr>
            <p:ph idx="5" type="body"/>
          </p:nvPr>
        </p:nvSpPr>
        <p:spPr>
          <a:xfrm>
            <a:off x="502920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it lacks (yours to bring)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7" name="Google Shape;1177;p9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8" name="Google Shape;1178;p94"/>
          <p:cNvSpPr/>
          <p:nvPr/>
        </p:nvSpPr>
        <p:spPr>
          <a:xfrm flipH="1" rot="5400000">
            <a:off x="271016" y="412195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4"/>
          <p:cNvSpPr/>
          <p:nvPr/>
        </p:nvSpPr>
        <p:spPr>
          <a:xfrm flipH="1" rot="5400000">
            <a:off x="8132266" y="4174070"/>
            <a:ext cx="769472" cy="534240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4"/>
          <p:cNvSpPr txBox="1"/>
          <p:nvPr/>
        </p:nvSpPr>
        <p:spPr>
          <a:xfrm>
            <a:off x="1554475" y="1188726"/>
            <a:ext cx="61266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“Most of the time when an agent is not performing reliably,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underlying cause is not that the model is not intelligent enough,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but rather that context and instructions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have not been communicated properly to the model.”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— LangChain, “Communication is all you need”</a:t>
            </a: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context fails (Drew Breunig, June 2025)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5 NAMED FAILURE MODES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ROT — long sessions accumulate stale assumptions, lose focus.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Silent degradation before visible failure.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POISONING — hallucinated content gets re-used.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Gemini playing Pokémon hallucinated an item, tried to use it later.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CONFUSION — more tools = worse, not better.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Especially when tools overlap or have similar names.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DISTRACTION — at &gt;100k tokens, Gemini favoured repeating prior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actions over new plans. The agent stops thinking; it pattern-matches.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CLASH — back-to-back tool calls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that contradict tank performance.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Model can't reconcile the conflict.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Plus: PLAUSIBLY WRONG. COGNITIVE LOAD.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Rot · Poisoning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Confusion · Distraction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Clash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constraint collapses the latent space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CONCEPTUAL HEART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AGENTS.md → spec → plan → tests → existing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constraint narrows the model's distribution toward what you want.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TDD: tests are verifiable rewards — exactly what RL trained 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Spec: collapses the latent space BEFORE the agent hallucinates.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TDD and spec-driven dev are sudden killers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3" name="Google Shape;953;p77"/>
          <p:cNvSpPr/>
          <p:nvPr/>
        </p:nvSpPr>
        <p:spPr>
          <a:xfrm rot="8993546">
            <a:off x="4604992" y="3639601"/>
            <a:ext cx="7544804" cy="2750779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7"/>
          <p:cNvSpPr txBox="1"/>
          <p:nvPr>
            <p:ph type="title"/>
          </p:nvPr>
        </p:nvSpPr>
        <p:spPr>
          <a:xfrm>
            <a:off x="365750" y="54865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 handbook for your AI teammate</a:t>
            </a:r>
            <a:endParaRPr/>
          </a:p>
        </p:txBody>
      </p:sp>
      <p:sp>
        <p:nvSpPr>
          <p:cNvPr id="955" name="Google Shape;955;p77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AGENTS.MD = MINIMUM VIABLE CONTEXT</a:t>
            </a:r>
            <a:endParaRPr/>
          </a:p>
        </p:txBody>
      </p:sp>
      <p:sp>
        <p:nvSpPr>
          <p:cNvPr id="956" name="Google Shape;956;p77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7" name="Google Shape;957;p77"/>
          <p:cNvSpPr txBox="1"/>
          <p:nvPr>
            <p:ph idx="2" type="body"/>
          </p:nvPr>
        </p:nvSpPr>
        <p:spPr>
          <a:xfrm>
            <a:off x="36575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3-line orientation — system, stack, entry points.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Exact commands — pnpm test, lint, typecheck.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Conventions not obvious from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Guardrails — never edit .env, migrations.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Pointers (links) to ADRs, API spec.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Reiterate the essence at the 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8" name="Google Shape;958;p77"/>
          <p:cNvSpPr txBox="1"/>
          <p:nvPr>
            <p:ph idx="3" type="body"/>
          </p:nvPr>
        </p:nvSpPr>
        <p:spPr>
          <a:xfrm>
            <a:off x="5029200" y="1737360"/>
            <a:ext cx="34746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Patterns derivable from the code itself.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Long history (rots, bloats every prompt).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Things better expressed as a hook.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Anything that belongs in a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Generic AI advice the model knows.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59" name="Google Shape;959;p77"/>
          <p:cNvSpPr/>
          <p:nvPr/>
        </p:nvSpPr>
        <p:spPr>
          <a:xfrm>
            <a:off x="8437075" y="4920500"/>
            <a:ext cx="726900" cy="22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0" name="Google Shape;960;p77"/>
          <p:cNvSpPr txBox="1"/>
          <p:nvPr>
            <p:ph idx="4" type="body"/>
          </p:nvPr>
        </p:nvSpPr>
        <p:spPr>
          <a:xfrm>
            <a:off x="36575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goes in (50–100 lines)</a:t>
            </a:r>
            <a:endParaRPr/>
          </a:p>
        </p:txBody>
      </p:sp>
      <p:sp>
        <p:nvSpPr>
          <p:cNvPr id="961" name="Google Shape;961;p77"/>
          <p:cNvSpPr txBox="1"/>
          <p:nvPr>
            <p:ph idx="5" type="body"/>
          </p:nvPr>
        </p:nvSpPr>
        <p:spPr>
          <a:xfrm>
            <a:off x="5029200" y="1280150"/>
            <a:ext cx="3474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does NOT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Ralphing — context reset, re-seeded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STUCK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Capture goal · /clear · re-seed with goal + spec + key files · restart in plan mode.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KEEP: goal, spec, failing test, 1-2 key file refs.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DROP: diagnostic detours, wrong-path commits, "let me try once more" energy.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you've corrected twice, the third try isn't the charm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task sizes, three patterns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SPEC-DRIVEN DEVELOPMENT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≤30 min, single file, clear.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One-shot prompt with strong AGENTS.md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Skip the ceremony. Like Exercise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Multi-file, well-understood.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Plan mode → review → execute.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CC's creator: ~80% of tasks fit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Multi-day, ambiguous, cross-cutting.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Full spec flow: spec doc → task breakdown → per-task loop.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Like Exercise 2 in 60 minutes.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Small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Medium (the 80% case)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Large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loop, every task, every time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PER-TASK LOOP — 11 STEPS, 3 PHASES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1. Determine scope — what's "done"?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2. Verify prerequisites — env, deps.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3. Gather local context — neighbouring code only.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4. Resolve questions — most undervalued step.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5. Plan execution — 5-10 steps, real symbols.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6. Establish safety net — TDD where possible.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7. Implement — smallest change that works.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drive-by refactors.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scope expansion.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8. Run tests — relevant test, not whole suite.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9. Run quality gates — as hooks not prompts.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10. Show diff + commit message.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11. Feedback — refine or commit.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Reason / Plan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Act / Execute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Verify / Observe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 use this every day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Six modes. Live demos.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· 10 minutes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Coffee. Stretch. Back at &lt;time&gt;.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2 · 60 minutes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Real work. Real discipline.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9" name="Google Shape;1069;p86"/>
          <p:cNvSpPr txBox="1"/>
          <p:nvPr>
            <p:ph type="title"/>
          </p:nvPr>
        </p:nvSpPr>
        <p:spPr>
          <a:xfrm>
            <a:off x="365750" y="22860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a task archetype</a:t>
            </a:r>
            <a:endParaRPr/>
          </a:p>
        </p:txBody>
      </p:sp>
      <p:sp>
        <p:nvSpPr>
          <p:cNvPr id="1070" name="Google Shape;1070;p8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86"/>
          <p:cNvSpPr/>
          <p:nvPr/>
        </p:nvSpPr>
        <p:spPr>
          <a:xfrm>
            <a:off x="2691421" y="1397515"/>
            <a:ext cx="3709405" cy="2575394"/>
          </a:xfrm>
          <a:custGeom>
            <a:rect b="b" l="l" r="r" t="t"/>
            <a:pathLst>
              <a:path extrusionOk="0" h="8954" w="12896">
                <a:moveTo>
                  <a:pt x="8002" y="1"/>
                </a:moveTo>
                <a:cubicBezTo>
                  <a:pt x="7680" y="1"/>
                  <a:pt x="7383" y="72"/>
                  <a:pt x="7109" y="239"/>
                </a:cubicBezTo>
                <a:cubicBezTo>
                  <a:pt x="6942" y="322"/>
                  <a:pt x="6776" y="465"/>
                  <a:pt x="6656" y="608"/>
                </a:cubicBezTo>
                <a:cubicBezTo>
                  <a:pt x="6113" y="1228"/>
                  <a:pt x="5505" y="1538"/>
                  <a:pt x="4896" y="1538"/>
                </a:cubicBezTo>
                <a:cubicBezTo>
                  <a:pt x="4290" y="1538"/>
                  <a:pt x="3685" y="1231"/>
                  <a:pt x="3144" y="620"/>
                </a:cubicBezTo>
                <a:cubicBezTo>
                  <a:pt x="3013" y="477"/>
                  <a:pt x="2858" y="346"/>
                  <a:pt x="2680" y="251"/>
                </a:cubicBezTo>
                <a:cubicBezTo>
                  <a:pt x="2418" y="108"/>
                  <a:pt x="2120" y="12"/>
                  <a:pt x="1787" y="12"/>
                </a:cubicBezTo>
                <a:cubicBezTo>
                  <a:pt x="1477" y="12"/>
                  <a:pt x="1180" y="84"/>
                  <a:pt x="894" y="251"/>
                </a:cubicBezTo>
                <a:cubicBezTo>
                  <a:pt x="632" y="405"/>
                  <a:pt x="406" y="620"/>
                  <a:pt x="239" y="905"/>
                </a:cubicBezTo>
                <a:cubicBezTo>
                  <a:pt x="96" y="1167"/>
                  <a:pt x="1" y="1465"/>
                  <a:pt x="1" y="1798"/>
                </a:cubicBezTo>
                <a:cubicBezTo>
                  <a:pt x="1" y="2108"/>
                  <a:pt x="84" y="2406"/>
                  <a:pt x="239" y="2691"/>
                </a:cubicBezTo>
                <a:cubicBezTo>
                  <a:pt x="394" y="2953"/>
                  <a:pt x="620" y="3179"/>
                  <a:pt x="894" y="3346"/>
                </a:cubicBezTo>
                <a:cubicBezTo>
                  <a:pt x="1168" y="3489"/>
                  <a:pt x="1465" y="3584"/>
                  <a:pt x="1787" y="3584"/>
                </a:cubicBezTo>
                <a:cubicBezTo>
                  <a:pt x="2108" y="3584"/>
                  <a:pt x="2406" y="3513"/>
                  <a:pt x="2680" y="3346"/>
                </a:cubicBezTo>
                <a:cubicBezTo>
                  <a:pt x="2846" y="3239"/>
                  <a:pt x="3013" y="3120"/>
                  <a:pt x="3144" y="2977"/>
                </a:cubicBezTo>
                <a:cubicBezTo>
                  <a:pt x="3687" y="2363"/>
                  <a:pt x="4304" y="2048"/>
                  <a:pt x="4914" y="2048"/>
                </a:cubicBezTo>
                <a:cubicBezTo>
                  <a:pt x="5120" y="2048"/>
                  <a:pt x="5324" y="2084"/>
                  <a:pt x="5525" y="2156"/>
                </a:cubicBezTo>
                <a:cubicBezTo>
                  <a:pt x="6192" y="2394"/>
                  <a:pt x="6597" y="3060"/>
                  <a:pt x="6466" y="3763"/>
                </a:cubicBezTo>
                <a:cubicBezTo>
                  <a:pt x="6299" y="4596"/>
                  <a:pt x="5644" y="5192"/>
                  <a:pt x="4561" y="5418"/>
                </a:cubicBezTo>
                <a:cubicBezTo>
                  <a:pt x="4370" y="5454"/>
                  <a:pt x="4192" y="5525"/>
                  <a:pt x="4001" y="5620"/>
                </a:cubicBezTo>
                <a:cubicBezTo>
                  <a:pt x="3739" y="5775"/>
                  <a:pt x="3513" y="5989"/>
                  <a:pt x="3358" y="6275"/>
                </a:cubicBezTo>
                <a:cubicBezTo>
                  <a:pt x="3204" y="6549"/>
                  <a:pt x="3108" y="6847"/>
                  <a:pt x="3108" y="7168"/>
                </a:cubicBezTo>
                <a:cubicBezTo>
                  <a:pt x="3108" y="7478"/>
                  <a:pt x="3192" y="7775"/>
                  <a:pt x="3358" y="8061"/>
                </a:cubicBezTo>
                <a:cubicBezTo>
                  <a:pt x="3501" y="8335"/>
                  <a:pt x="3728" y="8549"/>
                  <a:pt x="4001" y="8716"/>
                </a:cubicBezTo>
                <a:cubicBezTo>
                  <a:pt x="4275" y="8871"/>
                  <a:pt x="4573" y="8954"/>
                  <a:pt x="4894" y="8954"/>
                </a:cubicBezTo>
                <a:cubicBezTo>
                  <a:pt x="5216" y="8954"/>
                  <a:pt x="5513" y="8883"/>
                  <a:pt x="5787" y="8716"/>
                </a:cubicBezTo>
                <a:cubicBezTo>
                  <a:pt x="5954" y="8633"/>
                  <a:pt x="6121" y="8490"/>
                  <a:pt x="6240" y="8347"/>
                </a:cubicBezTo>
                <a:cubicBezTo>
                  <a:pt x="6783" y="7726"/>
                  <a:pt x="7392" y="7417"/>
                  <a:pt x="8000" y="7417"/>
                </a:cubicBezTo>
                <a:cubicBezTo>
                  <a:pt x="8606" y="7417"/>
                  <a:pt x="9212" y="7723"/>
                  <a:pt x="9752" y="8335"/>
                </a:cubicBezTo>
                <a:cubicBezTo>
                  <a:pt x="9883" y="8478"/>
                  <a:pt x="10038" y="8609"/>
                  <a:pt x="10216" y="8704"/>
                </a:cubicBezTo>
                <a:cubicBezTo>
                  <a:pt x="10478" y="8847"/>
                  <a:pt x="10776" y="8942"/>
                  <a:pt x="11109" y="8942"/>
                </a:cubicBezTo>
                <a:cubicBezTo>
                  <a:pt x="11419" y="8942"/>
                  <a:pt x="11717" y="8871"/>
                  <a:pt x="12002" y="8704"/>
                </a:cubicBezTo>
                <a:cubicBezTo>
                  <a:pt x="12264" y="8549"/>
                  <a:pt x="12491" y="8335"/>
                  <a:pt x="12657" y="8049"/>
                </a:cubicBezTo>
                <a:cubicBezTo>
                  <a:pt x="12800" y="7775"/>
                  <a:pt x="12895" y="7478"/>
                  <a:pt x="12895" y="7156"/>
                </a:cubicBezTo>
                <a:cubicBezTo>
                  <a:pt x="12895" y="6847"/>
                  <a:pt x="12824" y="6549"/>
                  <a:pt x="12657" y="6263"/>
                </a:cubicBezTo>
                <a:cubicBezTo>
                  <a:pt x="12502" y="5989"/>
                  <a:pt x="12288" y="5775"/>
                  <a:pt x="12002" y="5608"/>
                </a:cubicBezTo>
                <a:cubicBezTo>
                  <a:pt x="11729" y="5454"/>
                  <a:pt x="11431" y="5370"/>
                  <a:pt x="11109" y="5370"/>
                </a:cubicBezTo>
                <a:cubicBezTo>
                  <a:pt x="10800" y="5370"/>
                  <a:pt x="10502" y="5442"/>
                  <a:pt x="10216" y="5608"/>
                </a:cubicBezTo>
                <a:cubicBezTo>
                  <a:pt x="10050" y="5715"/>
                  <a:pt x="9883" y="5835"/>
                  <a:pt x="9752" y="5977"/>
                </a:cubicBezTo>
                <a:cubicBezTo>
                  <a:pt x="9209" y="6592"/>
                  <a:pt x="8592" y="6907"/>
                  <a:pt x="7982" y="6907"/>
                </a:cubicBezTo>
                <a:cubicBezTo>
                  <a:pt x="7777" y="6907"/>
                  <a:pt x="7572" y="6871"/>
                  <a:pt x="7371" y="6799"/>
                </a:cubicBezTo>
                <a:cubicBezTo>
                  <a:pt x="6704" y="6561"/>
                  <a:pt x="6299" y="5894"/>
                  <a:pt x="6430" y="5180"/>
                </a:cubicBezTo>
                <a:cubicBezTo>
                  <a:pt x="6597" y="4346"/>
                  <a:pt x="7240" y="3751"/>
                  <a:pt x="8323" y="3525"/>
                </a:cubicBezTo>
                <a:lnTo>
                  <a:pt x="8335" y="3525"/>
                </a:lnTo>
                <a:cubicBezTo>
                  <a:pt x="8538" y="3477"/>
                  <a:pt x="8716" y="3418"/>
                  <a:pt x="8895" y="3310"/>
                </a:cubicBezTo>
                <a:cubicBezTo>
                  <a:pt x="9157" y="3168"/>
                  <a:pt x="9383" y="2941"/>
                  <a:pt x="9550" y="2656"/>
                </a:cubicBezTo>
                <a:cubicBezTo>
                  <a:pt x="9693" y="2394"/>
                  <a:pt x="9788" y="2096"/>
                  <a:pt x="9788" y="1763"/>
                </a:cubicBezTo>
                <a:cubicBezTo>
                  <a:pt x="9788" y="1453"/>
                  <a:pt x="9704" y="1155"/>
                  <a:pt x="9550" y="870"/>
                </a:cubicBezTo>
                <a:cubicBezTo>
                  <a:pt x="9395" y="608"/>
                  <a:pt x="9169" y="382"/>
                  <a:pt x="8895" y="215"/>
                </a:cubicBezTo>
                <a:cubicBezTo>
                  <a:pt x="8633" y="84"/>
                  <a:pt x="8323" y="1"/>
                  <a:pt x="80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86"/>
          <p:cNvSpPr txBox="1"/>
          <p:nvPr/>
        </p:nvSpPr>
        <p:spPr>
          <a:xfrm>
            <a:off x="2691450" y="1684200"/>
            <a:ext cx="10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3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4800">
              <a:solidFill>
                <a:schemeClr val="accent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73" name="Google Shape;1073;p86"/>
          <p:cNvSpPr txBox="1"/>
          <p:nvPr/>
        </p:nvSpPr>
        <p:spPr>
          <a:xfrm>
            <a:off x="3572850" y="3221216"/>
            <a:ext cx="10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3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4800">
              <a:solidFill>
                <a:schemeClr val="accent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74" name="Google Shape;1074;p86"/>
          <p:cNvSpPr txBox="1"/>
          <p:nvPr/>
        </p:nvSpPr>
        <p:spPr>
          <a:xfrm>
            <a:off x="4478400" y="1678150"/>
            <a:ext cx="10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3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4800">
              <a:solidFill>
                <a:schemeClr val="accent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75" name="Google Shape;1075;p86"/>
          <p:cNvSpPr txBox="1"/>
          <p:nvPr/>
        </p:nvSpPr>
        <p:spPr>
          <a:xfrm>
            <a:off x="5365850" y="3221216"/>
            <a:ext cx="10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3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4800">
              <a:solidFill>
                <a:schemeClr val="accent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76" name="Google Shape;1076;p86"/>
          <p:cNvSpPr txBox="1"/>
          <p:nvPr>
            <p:ph idx="4294967295" type="body"/>
          </p:nvPr>
        </p:nvSpPr>
        <p:spPr>
          <a:xfrm>
            <a:off x="365750" y="1384436"/>
            <a:ext cx="2120700" cy="10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Nasty bug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Multi-file. Possibly intermittent. Root cause + fix + regression test.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77" name="Google Shape;1077;p86"/>
          <p:cNvSpPr txBox="1"/>
          <p:nvPr>
            <p:ph idx="4294967295" type="body"/>
          </p:nvPr>
        </p:nvSpPr>
        <p:spPr>
          <a:xfrm>
            <a:off x="5729650" y="1384436"/>
            <a:ext cx="2196900" cy="10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New feature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Small but real. Multi-file. Has a test. Doesn't break what was there.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78" name="Google Shape;1078;p86"/>
          <p:cNvSpPr txBox="1"/>
          <p:nvPr>
            <p:ph idx="4294967295" type="body"/>
          </p:nvPr>
        </p:nvSpPr>
        <p:spPr>
          <a:xfrm>
            <a:off x="1273300" y="3018572"/>
            <a:ext cx="2120700" cy="95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MCP server / extension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 surface you own. Expose 2-3 useful tools.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79" name="Google Shape;1079;p86"/>
          <p:cNvSpPr txBox="1"/>
          <p:nvPr>
            <p:ph idx="4294967295" type="body"/>
          </p:nvPr>
        </p:nvSpPr>
        <p:spPr>
          <a:xfrm>
            <a:off x="6644150" y="3018567"/>
            <a:ext cx="2120700" cy="95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Cross-language port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Existing functionality, language you don't normally use.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3" name="Google Shape;943;p76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Discipline · Execution · Review</a:t>
            </a:r>
            <a:endParaRPr/>
          </a:p>
        </p:txBody>
      </p:sp>
      <p:sp>
        <p:nvSpPr>
          <p:cNvPr id="944" name="Google Shape;944;p76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60-MINUTE BREAKDOWN</a:t>
            </a:r>
            <a:endParaRPr/>
          </a:p>
        </p:txBody>
      </p:sp>
      <p:sp>
        <p:nvSpPr>
          <p:cNvPr id="945" name="Google Shape;945;p76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76"/>
          <p:cNvSpPr txBox="1"/>
          <p:nvPr>
            <p:ph idx="2" type="body"/>
          </p:nvPr>
        </p:nvSpPr>
        <p:spPr>
          <a:xfrm>
            <a:off x="365750" y="1737360"/>
            <a:ext cx="81381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0:05 pick · 0:15 AGENTS.md &amp; env · 0:25 plan mode · 0:35 task breakdown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0:55 execution loop (≤5 subtasks · ≤5 min each) · 1:00 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Skip setup → 1-2 messy commits. Disciplined → 5 clean 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76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76"/>
          <p:cNvSpPr txBox="1"/>
          <p:nvPr>
            <p:ph idx="3" type="body"/>
          </p:nvPr>
        </p:nvSpPr>
        <p:spPr>
          <a:xfrm>
            <a:off x="365750" y="1280159"/>
            <a:ext cx="813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Setup feels long. That's the lesson.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9" name="Google Shape;1129;p90"/>
          <p:cNvSpPr txBox="1"/>
          <p:nvPr>
            <p:ph type="title"/>
          </p:nvPr>
        </p:nvSpPr>
        <p:spPr>
          <a:xfrm>
            <a:off x="365750" y="227418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Five execution rules</a:t>
            </a:r>
            <a:endParaRPr/>
          </a:p>
        </p:txBody>
      </p:sp>
      <p:sp>
        <p:nvSpPr>
          <p:cNvPr id="1130" name="Google Shape;1130;p90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1" name="Google Shape;1131;p90"/>
          <p:cNvSpPr/>
          <p:nvPr/>
        </p:nvSpPr>
        <p:spPr>
          <a:xfrm>
            <a:off x="1039241" y="1450466"/>
            <a:ext cx="515771" cy="515770"/>
          </a:xfrm>
          <a:custGeom>
            <a:rect b="b" l="l" r="r" t="t"/>
            <a:pathLst>
              <a:path extrusionOk="0" h="3572" w="3573">
                <a:moveTo>
                  <a:pt x="1786" y="0"/>
                </a:moveTo>
                <a:cubicBezTo>
                  <a:pt x="1477" y="0"/>
                  <a:pt x="1179" y="72"/>
                  <a:pt x="893" y="238"/>
                </a:cubicBezTo>
                <a:cubicBezTo>
                  <a:pt x="631" y="381"/>
                  <a:pt x="405" y="607"/>
                  <a:pt x="239" y="893"/>
                </a:cubicBezTo>
                <a:cubicBezTo>
                  <a:pt x="96" y="1155"/>
                  <a:pt x="0" y="1453"/>
                  <a:pt x="0" y="1786"/>
                </a:cubicBezTo>
                <a:cubicBezTo>
                  <a:pt x="0" y="2096"/>
                  <a:pt x="72" y="2393"/>
                  <a:pt x="239" y="2679"/>
                </a:cubicBezTo>
                <a:cubicBezTo>
                  <a:pt x="393" y="2941"/>
                  <a:pt x="608" y="3167"/>
                  <a:pt x="893" y="3334"/>
                </a:cubicBezTo>
                <a:cubicBezTo>
                  <a:pt x="1143" y="3477"/>
                  <a:pt x="1465" y="3572"/>
                  <a:pt x="1786" y="3572"/>
                </a:cubicBezTo>
                <a:cubicBezTo>
                  <a:pt x="2096" y="3572"/>
                  <a:pt x="2394" y="3489"/>
                  <a:pt x="2679" y="3334"/>
                </a:cubicBezTo>
                <a:cubicBezTo>
                  <a:pt x="2953" y="3179"/>
                  <a:pt x="3168" y="2953"/>
                  <a:pt x="3334" y="2679"/>
                </a:cubicBezTo>
                <a:cubicBezTo>
                  <a:pt x="3477" y="2405"/>
                  <a:pt x="3572" y="2107"/>
                  <a:pt x="3572" y="1786"/>
                </a:cubicBezTo>
                <a:cubicBezTo>
                  <a:pt x="3572" y="1465"/>
                  <a:pt x="3501" y="1167"/>
                  <a:pt x="3334" y="893"/>
                </a:cubicBezTo>
                <a:cubicBezTo>
                  <a:pt x="3179" y="619"/>
                  <a:pt x="2965" y="393"/>
                  <a:pt x="2679" y="238"/>
                </a:cubicBezTo>
                <a:cubicBezTo>
                  <a:pt x="2417" y="83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90"/>
          <p:cNvSpPr/>
          <p:nvPr/>
        </p:nvSpPr>
        <p:spPr>
          <a:xfrm>
            <a:off x="1039241" y="2491246"/>
            <a:ext cx="1414654" cy="515771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90"/>
          <p:cNvSpPr/>
          <p:nvPr/>
        </p:nvSpPr>
        <p:spPr>
          <a:xfrm>
            <a:off x="1039241" y="3532080"/>
            <a:ext cx="2310073" cy="515771"/>
          </a:xfrm>
          <a:custGeom>
            <a:rect b="b" l="l" r="r" t="t"/>
            <a:pathLst>
              <a:path extrusionOk="0" h="3573" w="16003">
                <a:moveTo>
                  <a:pt x="1786" y="1"/>
                </a:moveTo>
                <a:cubicBezTo>
                  <a:pt x="1477" y="1"/>
                  <a:pt x="1179" y="72"/>
                  <a:pt x="893" y="239"/>
                </a:cubicBezTo>
                <a:cubicBezTo>
                  <a:pt x="619" y="393"/>
                  <a:pt x="405" y="620"/>
                  <a:pt x="238" y="893"/>
                </a:cubicBezTo>
                <a:cubicBezTo>
                  <a:pt x="84" y="1167"/>
                  <a:pt x="0" y="1465"/>
                  <a:pt x="0" y="1786"/>
                </a:cubicBezTo>
                <a:cubicBezTo>
                  <a:pt x="0" y="2108"/>
                  <a:pt x="72" y="2406"/>
                  <a:pt x="238" y="2679"/>
                </a:cubicBezTo>
                <a:cubicBezTo>
                  <a:pt x="381" y="2953"/>
                  <a:pt x="607" y="3179"/>
                  <a:pt x="893" y="3334"/>
                </a:cubicBezTo>
                <a:cubicBezTo>
                  <a:pt x="1155" y="3489"/>
                  <a:pt x="1453" y="3572"/>
                  <a:pt x="1786" y="3572"/>
                </a:cubicBezTo>
                <a:cubicBezTo>
                  <a:pt x="2096" y="3572"/>
                  <a:pt x="2393" y="3501"/>
                  <a:pt x="2679" y="3334"/>
                </a:cubicBezTo>
                <a:cubicBezTo>
                  <a:pt x="2846" y="3251"/>
                  <a:pt x="3001" y="3108"/>
                  <a:pt x="3120" y="2965"/>
                </a:cubicBezTo>
                <a:cubicBezTo>
                  <a:pt x="3667" y="2346"/>
                  <a:pt x="4275" y="2036"/>
                  <a:pt x="4880" y="2036"/>
                </a:cubicBezTo>
                <a:cubicBezTo>
                  <a:pt x="5486" y="2036"/>
                  <a:pt x="6090" y="2346"/>
                  <a:pt x="6632" y="2965"/>
                </a:cubicBezTo>
                <a:cubicBezTo>
                  <a:pt x="6775" y="3108"/>
                  <a:pt x="6918" y="3251"/>
                  <a:pt x="7096" y="3334"/>
                </a:cubicBezTo>
                <a:cubicBezTo>
                  <a:pt x="7370" y="3489"/>
                  <a:pt x="7668" y="3572"/>
                  <a:pt x="7989" y="3572"/>
                </a:cubicBezTo>
                <a:cubicBezTo>
                  <a:pt x="8311" y="3572"/>
                  <a:pt x="8608" y="3501"/>
                  <a:pt x="8882" y="3334"/>
                </a:cubicBezTo>
                <a:cubicBezTo>
                  <a:pt x="9049" y="3251"/>
                  <a:pt x="9204" y="3108"/>
                  <a:pt x="9335" y="2965"/>
                </a:cubicBezTo>
                <a:cubicBezTo>
                  <a:pt x="9878" y="2345"/>
                  <a:pt x="10487" y="2035"/>
                  <a:pt x="11097" y="2035"/>
                </a:cubicBezTo>
                <a:cubicBezTo>
                  <a:pt x="11704" y="2035"/>
                  <a:pt x="12313" y="2342"/>
                  <a:pt x="12859" y="2953"/>
                </a:cubicBezTo>
                <a:cubicBezTo>
                  <a:pt x="12990" y="3096"/>
                  <a:pt x="13145" y="3227"/>
                  <a:pt x="13323" y="3322"/>
                </a:cubicBezTo>
                <a:cubicBezTo>
                  <a:pt x="13585" y="3465"/>
                  <a:pt x="13883" y="3560"/>
                  <a:pt x="14216" y="3560"/>
                </a:cubicBezTo>
                <a:cubicBezTo>
                  <a:pt x="14526" y="3560"/>
                  <a:pt x="14823" y="3489"/>
                  <a:pt x="15109" y="3322"/>
                </a:cubicBezTo>
                <a:cubicBezTo>
                  <a:pt x="15371" y="3168"/>
                  <a:pt x="15597" y="2953"/>
                  <a:pt x="15764" y="2668"/>
                </a:cubicBezTo>
                <a:cubicBezTo>
                  <a:pt x="15907" y="2394"/>
                  <a:pt x="16002" y="2096"/>
                  <a:pt x="16002" y="1775"/>
                </a:cubicBezTo>
                <a:cubicBezTo>
                  <a:pt x="16002" y="1513"/>
                  <a:pt x="15931" y="1191"/>
                  <a:pt x="15764" y="917"/>
                </a:cubicBezTo>
                <a:cubicBezTo>
                  <a:pt x="15609" y="643"/>
                  <a:pt x="15395" y="417"/>
                  <a:pt x="15109" y="262"/>
                </a:cubicBezTo>
                <a:cubicBezTo>
                  <a:pt x="14835" y="108"/>
                  <a:pt x="14538" y="24"/>
                  <a:pt x="14216" y="24"/>
                </a:cubicBezTo>
                <a:cubicBezTo>
                  <a:pt x="13907" y="24"/>
                  <a:pt x="13609" y="96"/>
                  <a:pt x="13323" y="262"/>
                </a:cubicBezTo>
                <a:cubicBezTo>
                  <a:pt x="13157" y="358"/>
                  <a:pt x="12990" y="477"/>
                  <a:pt x="12859" y="632"/>
                </a:cubicBezTo>
                <a:cubicBezTo>
                  <a:pt x="12317" y="1251"/>
                  <a:pt x="11710" y="1560"/>
                  <a:pt x="11103" y="1560"/>
                </a:cubicBezTo>
                <a:cubicBezTo>
                  <a:pt x="10496" y="1560"/>
                  <a:pt x="9888" y="1251"/>
                  <a:pt x="9347" y="632"/>
                </a:cubicBezTo>
                <a:cubicBezTo>
                  <a:pt x="9228" y="477"/>
                  <a:pt x="9061" y="358"/>
                  <a:pt x="8906" y="262"/>
                </a:cubicBezTo>
                <a:cubicBezTo>
                  <a:pt x="8632" y="108"/>
                  <a:pt x="8335" y="24"/>
                  <a:pt x="8013" y="24"/>
                </a:cubicBezTo>
                <a:cubicBezTo>
                  <a:pt x="7692" y="24"/>
                  <a:pt x="7394" y="96"/>
                  <a:pt x="7120" y="262"/>
                </a:cubicBezTo>
                <a:cubicBezTo>
                  <a:pt x="6953" y="358"/>
                  <a:pt x="6787" y="477"/>
                  <a:pt x="6656" y="632"/>
                </a:cubicBezTo>
                <a:cubicBezTo>
                  <a:pt x="6108" y="1251"/>
                  <a:pt x="5501" y="1560"/>
                  <a:pt x="4895" y="1560"/>
                </a:cubicBezTo>
                <a:cubicBezTo>
                  <a:pt x="4289" y="1560"/>
                  <a:pt x="3685" y="1251"/>
                  <a:pt x="3143" y="632"/>
                </a:cubicBezTo>
                <a:cubicBezTo>
                  <a:pt x="3001" y="477"/>
                  <a:pt x="2858" y="346"/>
                  <a:pt x="2679" y="239"/>
                </a:cubicBezTo>
                <a:cubicBezTo>
                  <a:pt x="2405" y="96"/>
                  <a:pt x="2108" y="1"/>
                  <a:pt x="17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90"/>
          <p:cNvSpPr txBox="1"/>
          <p:nvPr/>
        </p:nvSpPr>
        <p:spPr>
          <a:xfrm>
            <a:off x="1707425" y="1496150"/>
            <a:ext cx="67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Plan mode for every subtask</a:t>
            </a:r>
            <a:endParaRPr b="1" sz="1600"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Even small ones. The 30s you save costs 5 min of cleanup.</a:t>
            </a:r>
            <a:endParaRPr b="1" sz="1600"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5" name="Google Shape;1135;p90"/>
          <p:cNvSpPr txBox="1"/>
          <p:nvPr/>
        </p:nvSpPr>
        <p:spPr>
          <a:xfrm>
            <a:off x="2606300" y="2536925"/>
            <a:ext cx="58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One subtask = one commit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Tempted to bundle? Your subtasks were too small. Commit anyway.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6" name="Google Shape;1136;p90"/>
          <p:cNvSpPr txBox="1"/>
          <p:nvPr/>
        </p:nvSpPr>
        <p:spPr>
          <a:xfrm>
            <a:off x="3501725" y="3582125"/>
            <a:ext cx="50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Agent suggests, you decide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81414"/>
                </a:solidFill>
                <a:latin typeface="Public Sans"/>
                <a:ea typeface="Public Sans"/>
                <a:cs typeface="Public Sans"/>
                <a:sym typeface="Public Sans"/>
              </a:rPr>
              <a:t>Especially on architecture and dependencies. Push back on libraries.</a:t>
            </a:r>
            <a:endParaRPr>
              <a:solidFill>
                <a:srgbClr val="18141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7" name="Google Shape;1137;p90"/>
          <p:cNvSpPr txBox="1"/>
          <p:nvPr/>
        </p:nvSpPr>
        <p:spPr>
          <a:xfrm>
            <a:off x="1039250" y="1348975"/>
            <a:ext cx="515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rPr>
              <a:t>1</a:t>
            </a:r>
            <a:endParaRPr sz="3600">
              <a:solidFill>
                <a:schemeClr val="accent6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1138" name="Google Shape;1138;p90"/>
          <p:cNvSpPr txBox="1"/>
          <p:nvPr/>
        </p:nvSpPr>
        <p:spPr>
          <a:xfrm>
            <a:off x="1936438" y="2381525"/>
            <a:ext cx="515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rPr>
              <a:t>2</a:t>
            </a:r>
            <a:endParaRPr sz="3600">
              <a:solidFill>
                <a:schemeClr val="accent6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1139" name="Google Shape;1139;p90"/>
          <p:cNvSpPr txBox="1"/>
          <p:nvPr/>
        </p:nvSpPr>
        <p:spPr>
          <a:xfrm>
            <a:off x="2833613" y="3390917"/>
            <a:ext cx="515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Syne Medium"/>
                <a:ea typeface="Syne Medium"/>
                <a:cs typeface="Syne Medium"/>
                <a:sym typeface="Syne Medium"/>
              </a:rPr>
              <a:t>3</a:t>
            </a:r>
            <a:endParaRPr sz="3600">
              <a:solidFill>
                <a:schemeClr val="accent6"/>
              </a:solidFill>
              <a:latin typeface="Syne Medium"/>
              <a:ea typeface="Syne Medium"/>
              <a:cs typeface="Syne Medium"/>
              <a:sym typeface="Syne Medium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and tell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many subtasks landed? Where did the discipline break — or save you?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Mental load · roles · career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harder conversation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mental load nobody volunteers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COST IS REAL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Reviewing 500 lines of plausible code is harder than writing 200.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Tools got 10× faster; demand for human judgment grew to absorb the gain.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Agent does the typing. You carry taste, trust calibration, architecture.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Trust calibration is exhausting — every output needs an "is this real?" pass.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Agent at 3am, hour 8, last task of the day — same quality.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You aren't. Asymmetry is dangerous if you let it set the 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Review fatigue (Jevons)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Cognitive load shift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Always-on collaborator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Senior · mid-career · junior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ROLE QUESTION (SIMON ON LENNY, APR 2026)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Judgment is the bottleneck — and the moat.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Reviewer-first now. Get good at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set the practices: AGENTS.md, hooks, spec discipline.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Fastest-evolving role.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Enough context to direct, enough humility to verify.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Highest-leverage place in the industry right 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hardest path. "Agent can do what I can do."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Trap: accepting output you can't yet evaluate.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Mentorship matters MORE, not less.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Senior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Mid-career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Junior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things you can do this week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STAY SHARP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Half a day, a side project, a Friday afternoon — no 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 a moral position. Muscle memory.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Don't let your taste atrophy.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Pair with a junior on something THEY drive.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Don't bring the agent. Watch how they actually solve.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Mentorship matters more, not less.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30 min minimum on a 200-line agent diff.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Find one thing you'd do differently.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Tell the team. Calibration happens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AI sabbath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Pair with juniors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Slow down on review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Google Shape;920;p74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74"/>
          <p:cNvSpPr txBox="1"/>
          <p:nvPr>
            <p:ph type="title"/>
          </p:nvPr>
        </p:nvSpPr>
        <p:spPr>
          <a:xfrm>
            <a:off x="914400" y="1723925"/>
            <a:ext cx="54630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922" name="Google Shape;922;p74"/>
          <p:cNvSpPr txBox="1"/>
          <p:nvPr>
            <p:ph idx="1" type="subTitle"/>
          </p:nvPr>
        </p:nvSpPr>
        <p:spPr>
          <a:xfrm>
            <a:off x="914400" y="3380225"/>
            <a:ext cx="36576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did you see today that you want to try Monday morning?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6" name="Google Shape;966;p78"/>
          <p:cNvSpPr txBox="1"/>
          <p:nvPr>
            <p:ph type="title"/>
          </p:nvPr>
        </p:nvSpPr>
        <p:spPr>
          <a:xfrm>
            <a:off x="365750" y="548640"/>
            <a:ext cx="78639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</a:t>
            </a:r>
            <a:endParaRPr/>
          </a:p>
        </p:txBody>
      </p:sp>
      <p:sp>
        <p:nvSpPr>
          <p:cNvPr id="967" name="Google Shape;967;p78"/>
          <p:cNvSpPr txBox="1"/>
          <p:nvPr>
            <p:ph idx="1" type="subTitle"/>
          </p:nvPr>
        </p:nvSpPr>
        <p:spPr>
          <a:xfrm>
            <a:off x="365760" y="274450"/>
            <a:ext cx="7863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THREE THINGS TO TAKE WITH YOU</a:t>
            </a:r>
            <a:endParaRPr/>
          </a:p>
        </p:txBody>
      </p:sp>
      <p:sp>
        <p:nvSpPr>
          <p:cNvPr id="968" name="Google Shape;968;p78"/>
          <p:cNvSpPr txBox="1"/>
          <p:nvPr>
            <p:ph idx="12" type="sldNum"/>
          </p:nvPr>
        </p:nvSpPr>
        <p:spPr>
          <a:xfrm>
            <a:off x="0" y="4880150"/>
            <a:ext cx="265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78"/>
          <p:cNvSpPr txBox="1"/>
          <p:nvPr>
            <p:ph idx="2" type="body"/>
          </p:nvPr>
        </p:nvSpPr>
        <p:spPr>
          <a:xfrm>
            <a:off x="365750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practices that work with agents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are the practices that always worked with humans.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Spec, test, review, commit small.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just couldn't afford the ceremony before.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0" name="Google Shape;970;p78"/>
          <p:cNvSpPr/>
          <p:nvPr/>
        </p:nvSpPr>
        <p:spPr>
          <a:xfrm flipH="1" rot="-1799980">
            <a:off x="6830109" y="3850918"/>
            <a:ext cx="3717570" cy="1355400"/>
          </a:xfrm>
          <a:custGeom>
            <a:rect b="b" l="l" r="r" t="t"/>
            <a:pathLst>
              <a:path extrusionOk="0" h="3573" w="9800">
                <a:moveTo>
                  <a:pt x="1786" y="0"/>
                </a:moveTo>
                <a:cubicBezTo>
                  <a:pt x="1477" y="0"/>
                  <a:pt x="1179" y="84"/>
                  <a:pt x="893" y="239"/>
                </a:cubicBezTo>
                <a:cubicBezTo>
                  <a:pt x="632" y="393"/>
                  <a:pt x="405" y="620"/>
                  <a:pt x="239" y="893"/>
                </a:cubicBezTo>
                <a:cubicBezTo>
                  <a:pt x="96" y="1167"/>
                  <a:pt x="0" y="1465"/>
                  <a:pt x="0" y="1786"/>
                </a:cubicBezTo>
                <a:cubicBezTo>
                  <a:pt x="0" y="2108"/>
                  <a:pt x="84" y="2405"/>
                  <a:pt x="239" y="2679"/>
                </a:cubicBezTo>
                <a:cubicBezTo>
                  <a:pt x="393" y="2953"/>
                  <a:pt x="620" y="3179"/>
                  <a:pt x="893" y="3334"/>
                </a:cubicBezTo>
                <a:cubicBezTo>
                  <a:pt x="1167" y="3489"/>
                  <a:pt x="1465" y="3572"/>
                  <a:pt x="1786" y="3572"/>
                </a:cubicBezTo>
                <a:cubicBezTo>
                  <a:pt x="2108" y="3572"/>
                  <a:pt x="2406" y="3501"/>
                  <a:pt x="2679" y="3334"/>
                </a:cubicBezTo>
                <a:cubicBezTo>
                  <a:pt x="2846" y="3251"/>
                  <a:pt x="3013" y="3108"/>
                  <a:pt x="3132" y="2965"/>
                </a:cubicBezTo>
                <a:cubicBezTo>
                  <a:pt x="3674" y="2346"/>
                  <a:pt x="4281" y="2036"/>
                  <a:pt x="4888" y="2036"/>
                </a:cubicBezTo>
                <a:cubicBezTo>
                  <a:pt x="5495" y="2036"/>
                  <a:pt x="6102" y="2346"/>
                  <a:pt x="6644" y="2965"/>
                </a:cubicBezTo>
                <a:cubicBezTo>
                  <a:pt x="6775" y="3108"/>
                  <a:pt x="6930" y="3251"/>
                  <a:pt x="7109" y="3334"/>
                </a:cubicBezTo>
                <a:cubicBezTo>
                  <a:pt x="7370" y="3489"/>
                  <a:pt x="7668" y="3572"/>
                  <a:pt x="8001" y="3572"/>
                </a:cubicBezTo>
                <a:cubicBezTo>
                  <a:pt x="8311" y="3572"/>
                  <a:pt x="8609" y="3501"/>
                  <a:pt x="8894" y="3334"/>
                </a:cubicBezTo>
                <a:cubicBezTo>
                  <a:pt x="9156" y="3191"/>
                  <a:pt x="9383" y="2965"/>
                  <a:pt x="9549" y="2679"/>
                </a:cubicBezTo>
                <a:cubicBezTo>
                  <a:pt x="9692" y="2417"/>
                  <a:pt x="9787" y="2120"/>
                  <a:pt x="9787" y="1786"/>
                </a:cubicBezTo>
                <a:cubicBezTo>
                  <a:pt x="9799" y="1489"/>
                  <a:pt x="9728" y="1191"/>
                  <a:pt x="9561" y="917"/>
                </a:cubicBezTo>
                <a:cubicBezTo>
                  <a:pt x="9406" y="643"/>
                  <a:pt x="9192" y="417"/>
                  <a:pt x="8906" y="262"/>
                </a:cubicBezTo>
                <a:cubicBezTo>
                  <a:pt x="8644" y="108"/>
                  <a:pt x="8347" y="24"/>
                  <a:pt x="8013" y="24"/>
                </a:cubicBezTo>
                <a:cubicBezTo>
                  <a:pt x="7704" y="24"/>
                  <a:pt x="7406" y="96"/>
                  <a:pt x="7120" y="262"/>
                </a:cubicBezTo>
                <a:cubicBezTo>
                  <a:pt x="6954" y="358"/>
                  <a:pt x="6799" y="477"/>
                  <a:pt x="6656" y="631"/>
                </a:cubicBezTo>
                <a:cubicBezTo>
                  <a:pt x="6114" y="1251"/>
                  <a:pt x="5507" y="1560"/>
                  <a:pt x="4900" y="1560"/>
                </a:cubicBezTo>
                <a:cubicBezTo>
                  <a:pt x="4293" y="1560"/>
                  <a:pt x="3685" y="1251"/>
                  <a:pt x="3144" y="631"/>
                </a:cubicBezTo>
                <a:cubicBezTo>
                  <a:pt x="3013" y="477"/>
                  <a:pt x="2858" y="346"/>
                  <a:pt x="2679" y="239"/>
                </a:cubicBezTo>
                <a:cubicBezTo>
                  <a:pt x="2417" y="96"/>
                  <a:pt x="2120" y="0"/>
                  <a:pt x="17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78"/>
          <p:cNvSpPr txBox="1"/>
          <p:nvPr>
            <p:ph idx="3" type="body"/>
          </p:nvPr>
        </p:nvSpPr>
        <p:spPr>
          <a:xfrm>
            <a:off x="33375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model gets better every six months.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system you build around it is yours.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AGENTS.md, hooks, the per-task loop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that's where your leverage lives.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72" name="Google Shape;972;p78"/>
          <p:cNvSpPr txBox="1"/>
          <p:nvPr>
            <p:ph idx="4" type="body"/>
          </p:nvPr>
        </p:nvSpPr>
        <p:spPr>
          <a:xfrm>
            <a:off x="6309325" y="1737360"/>
            <a:ext cx="2194500" cy="29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failure modes are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discipline is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leverage is real.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Don't dismiss any of the three.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3" name="Google Shape;973;p78"/>
          <p:cNvSpPr txBox="1"/>
          <p:nvPr>
            <p:ph idx="5" type="body"/>
          </p:nvPr>
        </p:nvSpPr>
        <p:spPr>
          <a:xfrm>
            <a:off x="365750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Practices that work</a:t>
            </a:r>
            <a:endParaRPr/>
          </a:p>
        </p:txBody>
      </p:sp>
      <p:sp>
        <p:nvSpPr>
          <p:cNvPr id="974" name="Google Shape;974;p78"/>
          <p:cNvSpPr txBox="1"/>
          <p:nvPr>
            <p:ph idx="6" type="body"/>
          </p:nvPr>
        </p:nvSpPr>
        <p:spPr>
          <a:xfrm>
            <a:off x="33375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system is the moat</a:t>
            </a:r>
            <a:endParaRPr/>
          </a:p>
        </p:txBody>
      </p:sp>
      <p:sp>
        <p:nvSpPr>
          <p:cNvPr id="975" name="Google Shape;975;p78"/>
          <p:cNvSpPr txBox="1"/>
          <p:nvPr>
            <p:ph idx="7" type="body"/>
          </p:nvPr>
        </p:nvSpPr>
        <p:spPr>
          <a:xfrm>
            <a:off x="6309338" y="1280150"/>
            <a:ext cx="21945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All three are real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2" name="Google Shape;1232;p98"/>
          <p:cNvSpPr txBox="1"/>
          <p:nvPr>
            <p:ph type="title"/>
          </p:nvPr>
        </p:nvSpPr>
        <p:spPr>
          <a:xfrm>
            <a:off x="914400" y="1723924"/>
            <a:ext cx="6172200" cy="15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 xmlns:ahyp="http://schemas.microsoft.com/office/drawing/2018/hyperlinkcolor">
        <p:nvSpPr>
          <p:cNvPr id="1233" name="Google Shape;1233;p98"/>
          <p:cNvSpPr txBox="1"/>
          <p:nvPr>
            <p:ph idx="1" type="subTitle"/>
          </p:nvPr>
        </p:nvSpPr>
        <p:spPr>
          <a:xfrm>
            <a:off x="914400" y="3380225"/>
            <a:ext cx="3657600" cy="5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github.com/jexp/agentic-engineering</a:t>
            </a:r>
            <a:endParaRPr/>
          </a:p>
        </p:txBody>
      </p:sp>
      <p:sp>
        <p:nvSpPr>
          <p:cNvPr id="1234" name="Google Shape;1234;p98"/>
          <p:cNvSpPr/>
          <p:nvPr/>
        </p:nvSpPr>
        <p:spPr>
          <a:xfrm>
            <a:off x="5348249" y="-895025"/>
            <a:ext cx="5574221" cy="5100682"/>
          </a:xfrm>
          <a:custGeom>
            <a:rect b="b" l="l" r="r" t="t"/>
            <a:pathLst>
              <a:path extrusionOk="0" h="10696" w="11689">
                <a:moveTo>
                  <a:pt x="9550" y="0"/>
                </a:moveTo>
                <a:cubicBezTo>
                  <a:pt x="9191" y="0"/>
                  <a:pt x="8821" y="97"/>
                  <a:pt x="8484" y="285"/>
                </a:cubicBezTo>
                <a:cubicBezTo>
                  <a:pt x="8285" y="399"/>
                  <a:pt x="8108" y="553"/>
                  <a:pt x="7948" y="730"/>
                </a:cubicBezTo>
                <a:cubicBezTo>
                  <a:pt x="7301" y="1466"/>
                  <a:pt x="6579" y="1834"/>
                  <a:pt x="5856" y="1834"/>
                </a:cubicBezTo>
                <a:cubicBezTo>
                  <a:pt x="5135" y="1834"/>
                  <a:pt x="4413" y="1468"/>
                  <a:pt x="3764" y="736"/>
                </a:cubicBezTo>
                <a:cubicBezTo>
                  <a:pt x="3615" y="559"/>
                  <a:pt x="3433" y="411"/>
                  <a:pt x="3216" y="291"/>
                </a:cubicBezTo>
                <a:cubicBezTo>
                  <a:pt x="2903" y="103"/>
                  <a:pt x="2538" y="6"/>
                  <a:pt x="2150" y="6"/>
                </a:cubicBezTo>
                <a:cubicBezTo>
                  <a:pt x="1785" y="6"/>
                  <a:pt x="1415" y="97"/>
                  <a:pt x="1078" y="291"/>
                </a:cubicBezTo>
                <a:cubicBezTo>
                  <a:pt x="765" y="468"/>
                  <a:pt x="497" y="730"/>
                  <a:pt x="297" y="1072"/>
                </a:cubicBezTo>
                <a:cubicBezTo>
                  <a:pt x="109" y="1386"/>
                  <a:pt x="12" y="1750"/>
                  <a:pt x="12" y="2144"/>
                </a:cubicBezTo>
                <a:cubicBezTo>
                  <a:pt x="1" y="2497"/>
                  <a:pt x="92" y="2868"/>
                  <a:pt x="297" y="3204"/>
                </a:cubicBezTo>
                <a:cubicBezTo>
                  <a:pt x="474" y="3518"/>
                  <a:pt x="736" y="3786"/>
                  <a:pt x="1078" y="3985"/>
                </a:cubicBezTo>
                <a:cubicBezTo>
                  <a:pt x="1392" y="4173"/>
                  <a:pt x="1757" y="4270"/>
                  <a:pt x="2150" y="4270"/>
                </a:cubicBezTo>
                <a:cubicBezTo>
                  <a:pt x="2509" y="4270"/>
                  <a:pt x="2880" y="4179"/>
                  <a:pt x="3216" y="3985"/>
                </a:cubicBezTo>
                <a:cubicBezTo>
                  <a:pt x="3416" y="3871"/>
                  <a:pt x="3604" y="3723"/>
                  <a:pt x="3758" y="3546"/>
                </a:cubicBezTo>
                <a:cubicBezTo>
                  <a:pt x="4407" y="2812"/>
                  <a:pt x="5125" y="2448"/>
                  <a:pt x="5843" y="2448"/>
                </a:cubicBezTo>
                <a:cubicBezTo>
                  <a:pt x="6090" y="2448"/>
                  <a:pt x="6336" y="2491"/>
                  <a:pt x="6580" y="2577"/>
                </a:cubicBezTo>
                <a:cubicBezTo>
                  <a:pt x="7378" y="2851"/>
                  <a:pt x="7851" y="3666"/>
                  <a:pt x="7692" y="4493"/>
                </a:cubicBezTo>
                <a:cubicBezTo>
                  <a:pt x="7509" y="5485"/>
                  <a:pt x="6728" y="6186"/>
                  <a:pt x="5445" y="6454"/>
                </a:cubicBezTo>
                <a:cubicBezTo>
                  <a:pt x="5217" y="6494"/>
                  <a:pt x="4989" y="6579"/>
                  <a:pt x="4778" y="6705"/>
                </a:cubicBezTo>
                <a:cubicBezTo>
                  <a:pt x="4465" y="6882"/>
                  <a:pt x="4191" y="7144"/>
                  <a:pt x="3992" y="7486"/>
                </a:cubicBezTo>
                <a:cubicBezTo>
                  <a:pt x="3809" y="7800"/>
                  <a:pt x="3707" y="8164"/>
                  <a:pt x="3707" y="8558"/>
                </a:cubicBezTo>
                <a:cubicBezTo>
                  <a:pt x="3707" y="8917"/>
                  <a:pt x="3804" y="9288"/>
                  <a:pt x="3992" y="9624"/>
                </a:cubicBezTo>
                <a:cubicBezTo>
                  <a:pt x="4174" y="9937"/>
                  <a:pt x="4436" y="10211"/>
                  <a:pt x="4778" y="10411"/>
                </a:cubicBezTo>
                <a:cubicBezTo>
                  <a:pt x="5092" y="10593"/>
                  <a:pt x="5457" y="10696"/>
                  <a:pt x="5845" y="10696"/>
                </a:cubicBezTo>
                <a:cubicBezTo>
                  <a:pt x="6209" y="10696"/>
                  <a:pt x="6580" y="10599"/>
                  <a:pt x="6916" y="10411"/>
                </a:cubicBezTo>
                <a:cubicBezTo>
                  <a:pt x="7230" y="10228"/>
                  <a:pt x="7498" y="9966"/>
                  <a:pt x="7697" y="9624"/>
                </a:cubicBezTo>
                <a:cubicBezTo>
                  <a:pt x="7886" y="9310"/>
                  <a:pt x="7983" y="8945"/>
                  <a:pt x="7983" y="8558"/>
                </a:cubicBezTo>
                <a:cubicBezTo>
                  <a:pt x="7983" y="8318"/>
                  <a:pt x="7948" y="8090"/>
                  <a:pt x="7868" y="7862"/>
                </a:cubicBezTo>
                <a:cubicBezTo>
                  <a:pt x="7253" y="6004"/>
                  <a:pt x="8051" y="4618"/>
                  <a:pt x="9972" y="4236"/>
                </a:cubicBezTo>
                <a:cubicBezTo>
                  <a:pt x="10195" y="4191"/>
                  <a:pt x="10417" y="4105"/>
                  <a:pt x="10622" y="3991"/>
                </a:cubicBezTo>
                <a:cubicBezTo>
                  <a:pt x="10936" y="3814"/>
                  <a:pt x="11204" y="3552"/>
                  <a:pt x="11403" y="3210"/>
                </a:cubicBezTo>
                <a:cubicBezTo>
                  <a:pt x="11591" y="2896"/>
                  <a:pt x="11688" y="2532"/>
                  <a:pt x="11688" y="2138"/>
                </a:cubicBezTo>
                <a:cubicBezTo>
                  <a:pt x="11688" y="1779"/>
                  <a:pt x="11597" y="1408"/>
                  <a:pt x="11403" y="1072"/>
                </a:cubicBezTo>
                <a:cubicBezTo>
                  <a:pt x="11227" y="758"/>
                  <a:pt x="10964" y="485"/>
                  <a:pt x="10622" y="285"/>
                </a:cubicBezTo>
                <a:cubicBezTo>
                  <a:pt x="10309" y="103"/>
                  <a:pt x="9944" y="0"/>
                  <a:pt x="9550" y="0"/>
                </a:cubicBezTo>
                <a:close/>
              </a:path>
            </a:pathLst>
          </a:cu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98"/>
          <p:cNvSpPr/>
          <p:nvPr/>
        </p:nvSpPr>
        <p:spPr>
          <a:xfrm>
            <a:off x="-78325" y="4087368"/>
            <a:ext cx="5732812" cy="2103476"/>
          </a:xfrm>
          <a:custGeom>
            <a:rect b="b" l="l" r="r" t="t"/>
            <a:pathLst>
              <a:path extrusionOk="0" h="4289" w="11689">
                <a:moveTo>
                  <a:pt x="9550" y="1"/>
                </a:moveTo>
                <a:cubicBezTo>
                  <a:pt x="9186" y="1"/>
                  <a:pt x="8815" y="98"/>
                  <a:pt x="8484" y="286"/>
                </a:cubicBezTo>
                <a:cubicBezTo>
                  <a:pt x="8285" y="400"/>
                  <a:pt x="8097" y="554"/>
                  <a:pt x="7943" y="736"/>
                </a:cubicBezTo>
                <a:cubicBezTo>
                  <a:pt x="7291" y="1468"/>
                  <a:pt x="6566" y="1836"/>
                  <a:pt x="5842" y="1836"/>
                </a:cubicBezTo>
                <a:cubicBezTo>
                  <a:pt x="5122" y="1836"/>
                  <a:pt x="4403" y="1472"/>
                  <a:pt x="3758" y="742"/>
                </a:cubicBezTo>
                <a:cubicBezTo>
                  <a:pt x="3610" y="565"/>
                  <a:pt x="3422" y="417"/>
                  <a:pt x="3211" y="297"/>
                </a:cubicBezTo>
                <a:cubicBezTo>
                  <a:pt x="2897" y="109"/>
                  <a:pt x="2532" y="12"/>
                  <a:pt x="2139" y="12"/>
                </a:cubicBezTo>
                <a:cubicBezTo>
                  <a:pt x="1774" y="12"/>
                  <a:pt x="1403" y="103"/>
                  <a:pt x="1073" y="297"/>
                </a:cubicBezTo>
                <a:cubicBezTo>
                  <a:pt x="759" y="474"/>
                  <a:pt x="485" y="736"/>
                  <a:pt x="286" y="1078"/>
                </a:cubicBezTo>
                <a:cubicBezTo>
                  <a:pt x="104" y="1392"/>
                  <a:pt x="1" y="1757"/>
                  <a:pt x="1" y="2150"/>
                </a:cubicBezTo>
                <a:cubicBezTo>
                  <a:pt x="1" y="2509"/>
                  <a:pt x="92" y="2880"/>
                  <a:pt x="286" y="3216"/>
                </a:cubicBezTo>
                <a:cubicBezTo>
                  <a:pt x="463" y="3530"/>
                  <a:pt x="731" y="3803"/>
                  <a:pt x="1073" y="4003"/>
                </a:cubicBezTo>
                <a:cubicBezTo>
                  <a:pt x="1386" y="4185"/>
                  <a:pt x="1745" y="4288"/>
                  <a:pt x="2139" y="4288"/>
                </a:cubicBezTo>
                <a:cubicBezTo>
                  <a:pt x="2504" y="4288"/>
                  <a:pt x="2874" y="4191"/>
                  <a:pt x="3211" y="4003"/>
                </a:cubicBezTo>
                <a:cubicBezTo>
                  <a:pt x="3410" y="3889"/>
                  <a:pt x="3593" y="3735"/>
                  <a:pt x="3741" y="3558"/>
                </a:cubicBezTo>
                <a:cubicBezTo>
                  <a:pt x="4391" y="2825"/>
                  <a:pt x="5115" y="2459"/>
                  <a:pt x="5838" y="2459"/>
                </a:cubicBezTo>
                <a:cubicBezTo>
                  <a:pt x="6559" y="2459"/>
                  <a:pt x="7279" y="2824"/>
                  <a:pt x="7926" y="3553"/>
                </a:cubicBezTo>
                <a:cubicBezTo>
                  <a:pt x="8074" y="3729"/>
                  <a:pt x="8262" y="3878"/>
                  <a:pt x="8473" y="4003"/>
                </a:cubicBezTo>
                <a:cubicBezTo>
                  <a:pt x="8787" y="4185"/>
                  <a:pt x="9151" y="4288"/>
                  <a:pt x="9545" y="4288"/>
                </a:cubicBezTo>
                <a:cubicBezTo>
                  <a:pt x="9910" y="4288"/>
                  <a:pt x="10275" y="4191"/>
                  <a:pt x="10611" y="4003"/>
                </a:cubicBezTo>
                <a:cubicBezTo>
                  <a:pt x="10924" y="3821"/>
                  <a:pt x="11198" y="3558"/>
                  <a:pt x="11398" y="3216"/>
                </a:cubicBezTo>
                <a:cubicBezTo>
                  <a:pt x="11580" y="2903"/>
                  <a:pt x="11683" y="2538"/>
                  <a:pt x="11683" y="2150"/>
                </a:cubicBezTo>
                <a:cubicBezTo>
                  <a:pt x="11688" y="1779"/>
                  <a:pt x="11597" y="1415"/>
                  <a:pt x="11403" y="1073"/>
                </a:cubicBezTo>
                <a:cubicBezTo>
                  <a:pt x="11227" y="759"/>
                  <a:pt x="10959" y="485"/>
                  <a:pt x="10622" y="286"/>
                </a:cubicBezTo>
                <a:cubicBezTo>
                  <a:pt x="10309" y="103"/>
                  <a:pt x="9944" y="1"/>
                  <a:pt x="9550" y="1"/>
                </a:cubicBezTo>
                <a:close/>
              </a:path>
            </a:pathLst>
          </a:custGeom>
          <a:solidFill>
            <a:srgbClr val="FF8E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98"/>
          <p:cNvSpPr/>
          <p:nvPr/>
        </p:nvSpPr>
        <p:spPr>
          <a:xfrm>
            <a:off x="8967625" y="1680075"/>
            <a:ext cx="542700" cy="1428900"/>
          </a:xfrm>
          <a:prstGeom prst="rect">
            <a:avLst/>
          </a:prstGeom>
          <a:solidFill>
            <a:srgbClr val="8FC2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4j-Standard-Template - Editable">
  <a:themeElements>
    <a:clrScheme name="Simple Light">
      <a:dk1>
        <a:srgbClr val="181414"/>
      </a:dk1>
      <a:lt1>
        <a:srgbClr val="4F4D4E"/>
      </a:lt1>
      <a:dk2>
        <a:srgbClr val="F2EAD4"/>
      </a:dk2>
      <a:lt2>
        <a:srgbClr val="FCF9F6"/>
      </a:lt2>
      <a:accent1>
        <a:srgbClr val="014063"/>
      </a:accent1>
      <a:accent2>
        <a:srgbClr val="0A6190"/>
      </a:accent2>
      <a:accent3>
        <a:srgbClr val="4C99A4"/>
      </a:accent3>
      <a:accent4>
        <a:srgbClr val="8FE3E8"/>
      </a:accent4>
      <a:accent5>
        <a:srgbClr val="6A82FF"/>
      </a:accent5>
      <a:accent6>
        <a:srgbClr val="FAFF00"/>
      </a:accent6>
      <a:hlink>
        <a:srgbClr val="0A619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